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1｜音樂與企業：企業與藝術共同締造的四百年傳奇</a:t>
            </a:r>
          </a:p>
          <a:p/>
          <a:p>
            <a:r>
              <a:t>【講稿】（停留約 85 秒）各位午安，也謝謝各位願意把這段時光交付給我。容我先說一句坦白話：今天，我無意教各位聽懂任何一個音符。我想與各位共聊的，其實是一件離各位並不遙遠的事——四百年來，企業與藝術如何彼此成就、共同締造了輝煌的傳奇。各位方才步入場中，螢幕上這支廣告、耳畔這首曲子，便是這段情誼最凝練的縮影。這是香奈兒 Chanel No.5「史上最貴的香水廣告」（2004 年、Nicole Kidman 主演），而它的配樂，正是德布西（Claude Debussy）的《月光》（Clair de Lune）。同一段旋律，一百多年前為法國寫下了「浪漫」，今日又為一瓶香水道盡了「高雅」。請各位就此放鬆下來，帶著一個問題慢慢聆聽：一首傳世之作，究竟能成就多少？</a:t>
            </a:r>
          </a:p>
          <a:p>
            <a:r>
              <a:t>【講義補充】</a:t>
            </a:r>
          </a:p>
          <a:p>
            <a:r>
              <a:t>- 開場定調：本場約 90 分鐘主體（含影片觀賞），壓軸再帶全場一起唱《Funiculì, Funiculà》約 20 分鐘；全程與四百年來那些真心喜歡藝術的企業與贊助者同行、講給企業家聽——不教各位聽懂音符，只看企業與藝術如何彼此成就、共同締造傳奇。</a:t>
            </a:r>
          </a:p>
          <a:p>
            <a:r>
              <a:t>- 主打聆聽：巴赫（Johann Sebastian Bach）《郭德堡變奏曲》（Goldberg Variations）與貝多芬（Ludwig van Beethoven）第九號交響曲末樂章〈歡樂頌〉（Ode to Joy），兩首都在後段各安排專段完整聆聽（確切投影片編號待查證）。</a:t>
            </a:r>
          </a:p>
          <a:p>
            <a:r>
              <a:t>- 核心金句：你成就音樂，音樂也成就你——這句話正是全片主軸：企業與藝術彼此成全，四百年來共同締造了七種樣態的輝煌傳奇。</a:t>
            </a:r>
          </a:p>
          <a:p>
            <a:r>
              <a:t>- 「七種樣態」是本片替四百年的共融共榮整理出的地圖；開場先點出其中最直觀的幾樣：地位的傳奇、不朽之名、正向的形象，乃至共同締造的財富（其餘各樣態，後段將一站一站展開）。</a:t>
            </a:r>
          </a:p>
          <a:p>
            <a:r>
              <a:t>- 一句話總綱：這正是核心命題「你成就音樂，音樂也成就你」——企業成全了音樂，音樂也讓企業的名字與榮光被歷史記住；本場的鏡頭，始終對準與藝術同行的企業這一端。</a:t>
            </a:r>
          </a:p>
          <a:p>
            <a:r>
              <a:t>- 📖 贊助／庇護（patronage）：出資者長期供養藝術家的古老制度；這個字在多數歐洲語言裡直接源自古羅馬富豪梅塞納斯之名（見下條），足見「贊助者與藝術家彼此成就」自古就是一場長情同行——同行者的名字，也隨之不朽。</a:t>
            </a:r>
          </a:p>
          <a:p>
            <a:r>
              <a:t>- 📖 梅塞納斯（Gaius Cilnius Maecenas，約公元前 68–前 8 年）：古羅馬鉅富、奧古斯都（Augustus）的親信與政治顧問；他慷慨供養詩人維吉爾與賀拉斯，據 Wikipedia／Britannica，他甚至送給賀拉斯一座薩賓（Sabine）山區的莊園。正因為他，法文的 mécène、義大利文的 mecenate、德文的 Mäzen、西班牙文的 mecenas 這些「藝文贊助者」一詞全以他為名——他就是「名字因成全藝術而不朽」的原型，也是本片全部故事的老祖宗。</a:t>
            </a:r>
          </a:p>
          <a:p>
            <a:r>
              <a:t>- 📖 維吉爾（Virgil／Publius Vergilius Maro，公元前 70–前 19 年）：古羅馬最負盛名的詩人、史詩《埃涅阿斯紀》（Aeneid）的作者；正因梅塞納斯出資供養，他才有餘裕專心寫作，其名也隨藝術贊助者一起流傳兩千年。</a:t>
            </a:r>
          </a:p>
          <a:p>
            <a:r>
              <a:t>- 📖 賀拉斯（Horace／Quintus Horatius Flaccus，公元前 65–前 8 年）：古羅馬抒情詩人，《頌歌》（Odes）前三卷即題獻給藝術贊助者梅塞納斯——作品題獻給知音，名字便隨詩句流傳了兩千年。</a:t>
            </a:r>
          </a:p>
          <a:p>
            <a:r>
              <a:t>- 📖 奧古斯都（Augustus，公元前 63–公元 14 年）：羅馬帝國第一位皇帝，本名屋大維（Octavian）；梅塞納斯是他的心腹，替帝國以文藝蔚成風氣、締造正向的形象，等於最早的「文化總管」，也是掌權者與藝術同行的最早示範。</a:t>
            </a:r>
          </a:p>
          <a:p>
            <a:r>
              <a:t>- 📖 德布西（Claude Debussy，1862–1918）：法國作曲家，常被歸為「印象派」（Impressionism）音樂的開創者（他本人其實反對這個標籤）；本場開場與散場都用他的鋼琴曲當背景墊樂。</a:t>
            </a:r>
          </a:p>
          <a:p>
            <a:r>
              <a:t>- 📖 《月光》（Clair de Lune，法文「月光」之意）：德布西《貝加馬斯克組曲》（Suite bergamasque）的第三樂章，約作於 1890 年、直到 1905 年才在出版商說服下付印；靈感來自詩人魏爾倫（Paul Verlaine）1869 年的同名詩。它是鋼琴獨奏、無法合唱，因此只當本場的暖場／散場背景樂，不列入壓軸帶動唱。</a:t>
            </a:r>
          </a:p>
          <a:p>
            <a:r>
              <a:t>- 📖 《貝加馬斯克組曲》（Suite bergamasque）：德布西一套四樂章的鋼琴組曲，《月光》是其中第三樂章；組曲之名取自義大利貝加莫（Bergamo）一帶的意象。</a:t>
            </a:r>
          </a:p>
          <a:p>
            <a:r>
              <a:t>- 📖 魏爾倫（Paul Verlaine，1844–1896）：法國象徵派（Symbolism）詩人，其 1869 年詩作〈月光〉先於音樂存在，德布西再據以譜成鋼琴曲——文字先行、音樂輝映的典型組合。</a:t>
            </a:r>
          </a:p>
          <a:p>
            <a:r>
              <a:t>- 📖 《郭德堡變奏曲》（Goldberg Variations）：巴赫 1741 年出版的鍵盤變奏曲；相傳受俄國駐薩克森選帝侯宮廷大使凱瑟林克伯爵（Count Keyserlingk）委託、供其失眠夜聆聽而作（此委託故事屬傳說、細節待查證），無論真假，都是「權貴委託、作品因此傳世」的經典想像，恰好替本片「你成就音樂，音樂也成就你」的主軸開場。</a:t>
            </a:r>
          </a:p>
          <a:p>
            <a:r>
              <a:t>- 📖 〈歡樂頌〉（Ode to Joy）：貝多芬第九號交響曲（1824 年首演）末樂章的合唱主題，歌詞取自詩人席勒（Friedrich Schiller）的詩；後來被採為歐盟（European Union）盟歌——一段音樂如何成為一個組織的旗幟，本身就是本片最好的活教材。</a:t>
            </a:r>
          </a:p>
          <a:p>
            <a:r>
              <a:t>- 📖 《Funiculì, Funiculà》：1880 年的那不勒斯（Naples）歌曲，鄧札（Luigi Denza）作曲、圖爾科（Peppino Turco）作詞，為維蘇威火山（Vesuvius）登山纜車的開通而作——纜車公司委託而生的歌，一炮而紅、傳唱全球，公司與纜車的名字隨歌聲流傳了一個多世紀，也呼應後段「企業與藝術共同締造財富」一站的纜車故事。</a:t>
            </a:r>
          </a:p>
          <a:p>
            <a:r>
              <a:t>【影片操作】 入場時播放 Chanel No.5《The Film》廣告（配樂即德布西《月光》），音量壓低當墊樂。可於開場時指著畫面說：「各位聽到的《月光》，就是這支史上最貴香水廣告用的曲子——先讓耳朵安靜下來。」</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2｜開場提問：一首曲子，能成就多少？</a:t>
            </a:r>
          </a:p>
          <a:p/>
          <a:p>
            <a:r>
              <a:t>【講稿】（停留約 40 秒）容我把封面上那個問題，說得更透一些。今天，我們暫且擱下旋律是否悅耳，只一同思量：一首曲子，究竟能成就多少？一個家族、一座殿堂，乃至一段四百年的傳奇。而這一切，有一句話可以說盡——你成就音樂，音樂也成就你。倘若各位是懷抱品牌一路走來的經營者，那麼容我向各位致意：各位正走著的，與三百年前佛羅倫斯那位與歌劇同行的銀行家、維也納那位與樂團相伴的親王，原是同一條路。他們與管風琴、歌劇同行；各位，與音樂廳、與藝術家同行。</a:t>
            </a:r>
          </a:p>
          <a:p>
            <a:r>
              <a:t>【講義補充】</a:t>
            </a:r>
          </a:p>
          <a:p>
            <a:r>
              <a:t>- 本場視角：全程與那些真心喜歡藝術的企業與贊助者同行，看他們與藝術共同締造了什麼。不談音樂家如何經營自己、也不談音樂產業怎麼獲利。</a:t>
            </a:r>
          </a:p>
          <a:p>
            <a:r>
              <a:t>- 這張是全場的開場提問：不評旋律好不好聽，只問一句——「一首曲子，能成就多少？」一個家族、一座殿堂、一段傳奇，後面的七種樣態，都在替這一題作答。</a:t>
            </a:r>
          </a:p>
          <a:p>
            <a:r>
              <a:t>- 講稿點名的兩位古代知音，都是後面投影片會細講的真實人物：「佛羅倫斯與歌劇同行的銀行家」＝梅迪奇家族（Medici），「維也納與樂團相伴的親王」＝埃斯特哈齊家族（Esterházy）。開場先用他們，把「企業與藝術彼此成就」的框架立起來。</a:t>
            </a:r>
          </a:p>
          <a:p>
            <a:r>
              <a:t>- 核心命題「你成就音樂，音樂也成就你」：企業成全了音樂，音樂也讓家族與品牌的名字，隨作品一同被後世記住。這張只負責丟問題，答案留到後面各站。</a:t>
            </a:r>
          </a:p>
          <a:p>
            <a:r>
              <a:t>- 一句話對照：三百年前的親王與管風琴、歌劇同行，今天的企業家與音樂廳、與藝術家同行——時代不同，走的原是同一條與藝術並肩的路。</a:t>
            </a:r>
          </a:p>
          <a:p>
            <a:r>
              <a:t>- 📖 贊助制（Patronage）：近代以前，音樂家的天地在宮廷、貴族與教會的知遇之中——府邸給他一席之地與長年的託付，專屬的創作與演出便在府中誕生。這場知遇與託付，就是本場整條橋的起點。</a:t>
            </a:r>
          </a:p>
          <a:p>
            <a:r>
              <a:t>- 📖 梅迪奇家族（Medici）：發跡於佛羅倫斯（Florence）的銀行世家，十五至十八世紀靠金融致富，進而掌控佛羅倫斯、受封托斯卡尼大公（Grand Duke of Tuscany），並出過兩位教宗、兩位法國王后。當時＝歐洲最有名的、以財富成全藝術的家族，資助對象橫跨達文西、米開朗基羅到後來的歌劇。</a:t>
            </a:r>
          </a:p>
          <a:p>
            <a:r>
              <a:t>- 案例一，梅迪奇圈中誕生了「歌劇」這門全新的藝術：據載歌劇於一五九八至一六〇〇年間在佛羅倫斯的梅迪奇宮廷圈誕生，作曲家佩里（Jacopo Peri）寫的《尤麗狄斯》（Euridice, 1600）是現存最早的完整歌劇，正是為瑪麗亞·德·梅迪奇（Maria de' Medici）嫁給法王亨利四世（Henri IV）的婚禮而委託創作。一場全歐矚目的婚禮，就這樣把一門全新的藝術，端上了歷史的舞台。</a:t>
            </a:r>
          </a:p>
          <a:p>
            <a:r>
              <a:t>- 📖 佛羅倫斯卡梅拉塔（Florentine Camerata）：十六世紀末一群聚在佛羅倫斯的人文學者與音樂家，由巴爾迪伯爵（Count Giovanni de' Bardi）出資召集，想復興古希臘戲劇的唱誦方式；他們的實驗直接催生了歌劇。當時＝一個由貴族慷慨供養的「文化智庫兼實驗室」。</a:t>
            </a:r>
          </a:p>
          <a:p>
            <a:r>
              <a:t>- 📖 歌劇（Opera）：義大利文原意「作品」，指以歌唱貫穿全劇、結合音樂、戲劇與舞台美術的大型表演形式。最早的《達芙妮》（Dafne, 約1597，樂譜多已佚失）與《尤麗狄斯》皆出自梅迪奇的贊助圈——它從第一天起，就誕生在贊助者的懷抱裡。</a:t>
            </a:r>
          </a:p>
          <a:p>
            <a:r>
              <a:t>- 軼事，一場傳誦全歐的婚禮盛典：一五八九年梅迪奇的斐迪南一世（Ferdinando I de' Medici）迎娶洛林的克莉絲汀（Christine of Lorraine），婚禮插演的「幕間劇」極盡奢華，據 Flame Tree Pro 記載約相當於今日一千四百萬英鎊，並印製十八本「節慶書」送往各國。留下的是——全歐洲宮廷爭相仿效的一段風華，梅迪奇之名自此傳為美談。</a:t>
            </a:r>
          </a:p>
          <a:p>
            <a:r>
              <a:t>- 📖 幕間劇（Intermedio，複數 intermedi）：文藝復興時期在戲劇幕與幕之間插演的音樂舞蹈場面，配上華麗布景與空中飛人般的機關特效，常比正戲還盛大。當時＝貴族盛典最華麗的頭號舞台，也是歌劇的前身。</a:t>
            </a:r>
          </a:p>
          <a:p>
            <a:r>
              <a:t>- 📖 埃斯特哈齊家族（Esterházy）：活躍於維也納宮廷圈的匈牙利豪門貴族，家大業大、以贊助音樂聞名。當時＝以私人樂團聞名的代表；今天世人還記得這個家族，很大一部分正是因為海頓在他們府中寫下了大半生的音樂。</a:t>
            </a:r>
          </a:p>
          <a:p>
            <a:r>
              <a:t>- 案例二，埃斯特哈齊與整支專屬樂團：據 Wikipedia，作曲家海頓（Joseph Haydn）一七六一年受聘為副樂長，一七六六年升任正樂長，長年替家族量身寫交響曲與歌劇。留下的是——一支專屬創作、與府邸朝夕相伴的「自家樂團」，與隨海頓樂聲一同流傳後世的家族之名。</a:t>
            </a:r>
          </a:p>
          <a:p>
            <a:r>
              <a:t>- 📖 樂長（Kapellmeister）：德文「樂隊／樂團的主管」，宮廷或教會裡統籌全部音樂事務的最高職位——作曲、指揮、管樂手、排練、採買樂器都歸他管。海頓在埃斯特哈齊擔任的就是這個職。當時＝貴族府裡的「音樂總監」。</a:t>
            </a:r>
          </a:p>
          <a:p>
            <a:r>
              <a:t>- 📖 弗羅林（florin，又稱 gulden）：當時中歐通行的金／銀幣。據 Wikipedia，海頓的年薪從一七六六年約五百八十三弗羅林，一路調到一七七九年約一千弗羅林，親王另留給他一千弗羅林的退休金——可見親王對一位頂級樂長的相待，是數十年如一日的長情。</a:t>
            </a:r>
          </a:p>
          <a:p>
            <a:r>
              <a:t>- 📖 埃斯特哈薩宮（Esterháza）：埃斯特哈齊家族在匈牙利興建的豪華宮殿，內有歌劇院與木偶劇場，被稱作「匈牙利的凡爾賽宮」（Hungarian Versailles）。當時＝把對藝術的深情蓋成建築的極致之作。</a:t>
            </a:r>
          </a:p>
          <a:p>
            <a:r>
              <a:t>- 📖 管風琴（Organ）：教堂與宮廷裡最昂貴、最龐大的樂器，一架造價與工期都驚人，往往由地方富商或貴族出資捐建。當時＝出資者把名字與虔敬一同刻進教堂的「大型贊助」，名字從此與聖殿同在。</a:t>
            </a:r>
          </a:p>
          <a:p>
            <a:r>
              <a:t>- 📖 冠名（naming rights）：現代企業把品牌冠在球場、賽事、廳堂上，讓企業的名字與盛事同在。當時＝與梅迪奇印節慶書、埃斯特哈齊宮殿與宮廷樂團一脈相承的當代版本。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3｜為什麼最頂尖的企業，都與藝術同行？</a:t>
            </a:r>
          </a:p>
          <a:p/>
          <a:p>
            <a:r>
              <a:t>【講稿】（停留約 70 秒）在往下走之前，容我先把題目上這一問，放在最前頭：為什麼最頂尖的企業，都與藝術同行？四百年的歷史給的答案，不是一套道理，而是一幅幅留下來的身影。最頂端的文化圈裡，始終有他們的身影；與他們並肩而坐的，是當世最風雅的人物。歲月為他們留下的，是品味、是高度，與眾人恆久的敬重。他們的名字，被寫進文化史，被人傳誦數百年。他們的品牌，帶著一份別人學不來的氣質。他們的廳堂，成了風雅與盛事交會的所在。請各位記住這句話：歸根究柢，與藝術同行，本身就是一種高貴。接下來的每一個故事，都會讓各位再一次看見這件事。</a:t>
            </a:r>
          </a:p>
          <a:p>
            <a:r>
              <a:t>【講義補充】</a:t>
            </a:r>
          </a:p>
          <a:p>
            <a:r>
              <a:t>- 本張是全場的定調頁：後面每一個故事（文藝復興的梅迪奇家族（Medici）、海頓（Haydn）的僱主埃斯特哈齊家族（Esterházy）、威爾第（Verdi）的出版商里柯第（Ricordi）……）都是同一句話的史實註腳——與藝術同行，本身就是一種高貴。</a:t>
            </a:r>
          </a:p>
          <a:p>
            <a:r>
              <a:t>- 六重榮光：聲望、學養、不朽之名、獨有的氣質、群賢畢至的廳堂、上下同心；這六者，都是歲月與藝術同行慢慢留下的榮光。</a:t>
            </a:r>
          </a:p>
          <a:p>
            <a:r>
              <a:t>- 品味與高度，是與藝術長情同行、歲月慢慢養成的東西——急不來，也仿不來。</a:t>
            </a:r>
          </a:p>
          <a:p>
            <a:r>
              <a:t>- 「贊助者」這個身分自古有名有姓：整套概念源自古羅馬的梅塞納斯（見名詞解釋），他傾心扶植詩人，自己的名字兩千年後仍是「藝文贊助者」的同義詞——這正是「不朽之名」最古老的實例。</a:t>
            </a:r>
          </a:p>
          <a:p>
            <a:r>
              <a:t>- 不朽之名的由來：贊助者成全了作品，名字便隨作品一同傳世。海頓的僱主埃斯特哈齊家族、文藝復興的梅迪奇家族，都因扶植藝術而把家族姓氏寫進了文化史，這是後面幾站會反覆出現的模式。</a:t>
            </a:r>
          </a:p>
          <a:p>
            <a:r>
              <a:t>- 群賢畢至的廳堂：藝術的廳堂——沙龍、首演、包廂——自古便是風雅相會之所，群賢畢至、相識相知；而這些場合的主人之位，始終屬於與藝術同行的人。</a:t>
            </a:r>
          </a:p>
          <a:p>
            <a:r>
              <a:t>- 認同與凝聚：對品牌或家族而言，一場眾人同聲的音樂時光，會成為彼此共同的記憶（壓軸的《Funiculì, Funiculà》，正是想與各位共享這樣一段記憶）。</a:t>
            </a:r>
          </a:p>
          <a:p>
            <a:r>
              <a:t>- 現代版仍在延續：今天企業以「藝術贊助（mécénat）」冠名美術館、音樂廳與樂季，與四百年前的傳統一脈相承——同一場盛大的儀式，至今未散。</a:t>
            </a:r>
          </a:p>
          <a:p>
            <a:r>
              <a:t>- 定調：與藝術同行，本身就是一種高貴。</a:t>
            </a:r>
          </a:p>
          <a:p>
            <a:r>
              <a:t>- 📖 文化資本（cultural capital）：法國社會學家布迪厄（Pierre Bourdieu，1930–2002）提出，指品味、學養、對高雅文化的熟悉度等「軟實力」，布迪厄認為它可如資本般累積、繼承，並影響一個人的社會位置；他把它分三種形態——具體化（內化成談吐氣質）、客體化（收藏名畫名琴等文化物件）、制度化（如名校學位、頭銜認證）。錄以備考；而歲月與藝術長情同行養成的品味，正是它最自然、也最溫柔的模樣。</a:t>
            </a:r>
          </a:p>
          <a:p>
            <a:r>
              <a:t>- 📖 布迪厄（Pierre Bourdieu，1930–2002）：二十世紀最具影響力的法國社會學家，1970–80 年代提出文化資本、象徵資本、慣習（habitus）等概念，用以分析品味、學養與社會生活的關係。</a:t>
            </a:r>
          </a:p>
          <a:p>
            <a:r>
              <a:t>- 📖 象徵資本（symbolic capital）：布迪厄用語，指聲望、名譽、被眾人「認可」本身所形成的力量；藝術同行之處，敬重自然生長。</a:t>
            </a:r>
          </a:p>
          <a:p>
            <a:r>
              <a:t>- 📖 社會資本（social capital）：社會學用語，指人際網絡與圈子關係中蘊藏的資源，錄以備考；藝術的廳堂，自古就是高雅圈子相識相知、化陌生為同好的所在。</a:t>
            </a:r>
          </a:p>
          <a:p>
            <a:r>
              <a:t>- 📖 炫耀性消費（conspicuous consumption）：美國經濟學家范伯倫（Thorstein Veblen，1857–1929）於 1899 年《有閒階級論》（The Theory of the Leisure Class）提出，指富人花費的目的不在實用，而在「被看見自己有能力這樣花」，藉以展示財富與地位。錄以備考；本片四百年的同行故事，講的恰是另一回事——相知與成全，而非展示。</a:t>
            </a:r>
          </a:p>
          <a:p>
            <a:r>
              <a:t>- 📖 范伯倫（Thorstein Veblen，1857–1929）：美國經濟學家與社會學家，制度經濟學開創者，以《有閒階級論》聞名，創造「炫耀性消費」「炫耀性有閒」等分析上流社會的名詞。</a:t>
            </a:r>
          </a:p>
          <a:p>
            <a:r>
              <a:t>- 📖 梅塞納斯／藝文贊助（Maecenas／mécénat）：蓋烏斯·梅塞納斯（Gaius Cilnius Maecenas，約公元前 70–前 8 年）是羅馬皇帝奧古斯都（Augustus）的謀臣與親信，出資供養詩人維吉爾（Virgil）與賀拉斯（Horace）並贈以莊園；他的名字後來直接變成歐洲多國語言中「藝文贊助者」一詞（法 mécène、義 mecenate、德 Mäzen），今日企業講的「藝術贊助（mécénat）」正由此而來。</a:t>
            </a:r>
          </a:p>
          <a:p>
            <a:r>
              <a:t>- 📖 金字塔頂端（top of the pyramid）：比喻社會財富與權力結構最上層的極少數人；四百年來與藝術同行的身影，多半出自這一層——而他們的名字，也因藝術而被記得最久。</a:t>
            </a:r>
          </a:p>
          <a:p>
            <a:r>
              <a:t>- 📖 品牌差異化（brand differentiation）：行銷概念，指讓自家品牌在同類競爭者中被辨識出獨特價值。錄以備考；而與藝術同行的那份氣質，向來不是策略給得了的，是歲月所贈。</a:t>
            </a:r>
          </a:p>
          <a:p>
            <a:r>
              <a:t>- 📖 共融共榮（本片定調用語）：指企業與藝術彼此成全、共同締造榮光——企業的慷慨孕育了作品，作品的輝煌也讓企業的名字傳世；扣住全片「你成就音樂，音樂也成就你」主軸。</a:t>
            </a:r>
          </a:p>
          <a:p>
            <a:r>
              <a:t>- 📖 贊助與同行（sponsorship／philanthropy）：慈善（philanthropy）是靜水深流的給予；贊助（sponsorship）則是一場同行——企業與藝術並肩而行、彼此成全，作品因此誕生，名字因此同傳。本片看整部音樂史，看的正是這一場四百年的同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4｜企業如何與藝術共融與共榮</a:t>
            </a:r>
          </a:p>
          <a:p/>
          <a:p>
            <a:r>
              <a:t>【講稿】（停留約 60 秒）為便各位記憶，我把四百年來企業與藝術彼此成就的故事，歸整成「七種樣態」，這便是我們今天要一同走過的地圖。第一樣態，企業與藝術締造的地位傳奇——梅迪奇。第二樣態，藝術與企業締造的永恆影像——林布蘭（Rembrandt）的《夜巡》，說的其實正是各位與各位的公會。第三樣態，藝術與企業締造的不朽之名——名字，輕輕鐫入歷史。第四樣態，企業締造的聖地與冠名——一座以企業為名的殿堂。第五樣態，企業以藝術締造人才與向心力。第六樣態，企業與國家以藝術締造正向的形象。第七樣態，企業與藝術共同締造財富——一首歌，與一家纜車公司相互輝映的百年。接下來，我們便一樣一樣，從容看去。</a:t>
            </a:r>
          </a:p>
          <a:p>
            <a:r>
              <a:t>【講義補充】</a:t>
            </a:r>
          </a:p>
          <a:p>
            <a:r>
              <a:t>- 這張是「七種樣態」的地圖，不是音樂史地圖：同一個視角貫穿全場——四百年來，企業與藝術如何彼此成就、共同締造傳奇。把形形色色的同行故事，收斂成七種樣態，供各位細細品味。</a:t>
            </a:r>
          </a:p>
          <a:p>
            <a:r>
              <a:t>- 全片七種樣態：①地位傳奇 ②永恆影像 ③不朽之名 ④聖地與冠名 ⑤人才與向心力 ⑥正向的形象 ⑦共同締造財富。</a:t>
            </a:r>
          </a:p>
          <a:p>
            <a:r>
              <a:t>- 每一段開頭都會回扣這張地圖，方便記憶。</a:t>
            </a:r>
          </a:p>
          <a:p>
            <a:r>
              <a:t>- 七種樣態各有代表人物與故事，後面一站一站看：①梅迪奇家族（地位傳奇）②林布蘭《夜巡》與同業公會（永恆影像）③貝多芬的知音、郭德堡、佛瑞、梵谷（不朽之名）④拜羅伊特、卡內基、三得利、迪士尼（聖地與冠名）⑤埃斯特哈齊與海頓（人才與向心力）⑥拿破崙、威爾第、Chanel、英航、奇美（正向的形象）⑦《Funiculì, Funiculà》與纜車公司（共同締造財富）。</a:t>
            </a:r>
          </a:p>
          <a:p>
            <a:r>
              <a:t>- 這七種樣態，四百年來一再重演，今日仍在各位身邊發生——全場主軸，始終是「企業與藝術彼此成就」。</a:t>
            </a:r>
          </a:p>
          <a:p>
            <a:r>
              <a:t>- 📖 梅迪奇家族（Medici）：十五世紀翡冷翠（Florence，今譯佛羅倫斯）的銀行世家，1397 年成立梅迪奇銀行，以雄厚財力與眾望，成為翡冷翠實際的主政者，前後約三百年。科西莫（Cosimo de' Medici）到羅倫佐（Lorenzo de' Medici，1449–1492，人稱「偉大的羅倫佐」）皆以盛大的藝術贊助聞名於世，家族的政治聲望與光環與藝術同輝，後世稱他們為「文藝復興的教父」，是本地圖第①樣「企業與藝術締造的地位傳奇」的原型，第 5 張起會細看。</a:t>
            </a:r>
          </a:p>
          <a:p>
            <a:r>
              <a:t>- 📖 公會、同業公會（Guild；義大利文 Arte）：中世紀到文藝復興城市裡，同一行業的商人與工匠組成的行會，約等於今天的「公會、商業同業公會」，也就是講稿說的「各位和你們的公會」。翡冷翠的富有大公會（Arti Maggiori，意為「主要公會」）以同業共同出資的方式贊助藝術，整個行業的身影從此長留在城市最尊榮的所在，正是第②樣「藝術與企業締造的永恆影像」的史實原型。</a:t>
            </a:r>
          </a:p>
          <a:p>
            <a:r>
              <a:t>- 📖 奧爾聖彌額爾教堂與洗禮堂銅門（Orsanmichele；Baptistery doors）：翡冷翠公會集體贊助的兩個經典例子。1339 年起各大公會須在奧爾聖彌額爾外牆各出資供奉一尊守護聖人像；1401 年布商公會（Arte di Calimala，卡利馬拉公會）舉辦洗禮堂銅門競賽，最終由雕塑家吉貝爾提（Lorenzo Ghiberti）得標。各公會競相禮聘名家、供奉最氣派的聖人像，整個行業的名字便隨傑作一同留在翡冷翠街頭，是「永恆影像」最生動的史實範本。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5｜第一樣態：企業與藝術締造的地位傳奇</a:t>
            </a:r>
          </a:p>
          <a:p/>
          <a:p>
            <a:r>
              <a:t>【講稿】（停留約 25 秒）我們先看第一種樣態，也是最古老、最溫柔的一種——地位與威儀。當財富遇見藝術，歷史記住的，便不再只是財富，而是地位與分量。而這段傳奇，放眼古今，沒有誰比梅迪奇家族寫得更為透徹。</a:t>
            </a:r>
          </a:p>
          <a:p>
            <a:r>
              <a:t>【講義補充】</a:t>
            </a:r>
          </a:p>
          <a:p>
            <a:r>
              <a:t>- 第一種樣態：企業與藝術締造的地位傳奇——當財富遇見藝術，歷史記住的，不再只是財富，而是地位與分量；這是四百年來最古老、也最動人的一章。</a:t>
            </a:r>
          </a:p>
          <a:p>
            <a:r>
              <a:t>- 代表案例：梅迪奇家族（Medici；義大利文 Casa de' Medici），一個沒有貴族血統的佛羅倫斯銀行家族，與藝術文化長情相伴，歷史留給他們的，是實質統治權、教宗寶座、法國王后與世襲大公之位。</a:t>
            </a:r>
          </a:p>
          <a:p>
            <a:r>
              <a:t>- 家業的根基：梅迪奇銀行（Medici Bank）由喬凡尼·迪·比奇·德·梅迪奇（Giovanni di Bicci de' Medici，約 1360–1429）於 1397 年在佛羅倫斯創立，起始資本約一萬枚金弗羅林；承接「替教宗管理財富」的教廷帳房業務，成為全歐最大銀行；教宗的財務，長年託付其手。據載喬凡尼過世時家產約十八萬金弗羅林（數字出自後人羅倫佐的家族帳記，僅供參考）。</a:t>
            </a:r>
          </a:p>
          <a:p>
            <a:r>
              <a:t>- 喬凡尼立下的家風：終生不擔任公職、行事低調、崇尚「公民美德」，並公開支持累進式財產稅（catasto，1427 年開徵），與平民站在同一陣線；他留給後代的身影是——以人望立身，而不倚仗頭銜。</a:t>
            </a:r>
          </a:p>
          <a:p>
            <a:r>
              <a:t>- 柯西莫·德·梅迪奇（Cosimo de' Medici，1389–1464，人稱「老柯西莫」il Vecchio）把這份家風承繼得最為透徹：1433 年遭政敵放逐，隔年 1434 年凱旋回城，此後三十年「在幕後」掌控佛羅倫斯，從不公開稱王。教宗庇護二世（Pius II）評他「除了名分，樣樣是國王」。</a:t>
            </a:r>
          </a:p>
          <a:p>
            <a:r>
              <a:t>- 歷史記住他的方式：柯西莫死後，佛羅倫斯執政團（Signoria）追贈他 Pater Patriae（祖國之父）稱號——這是古羅馬留給西塞羅那種「救國者」的榮銜，並刻上他在聖羅倫佐教堂的墓。一位銀行家的名字，從此與救國英雄並列。</a:t>
            </a:r>
          </a:p>
          <a:p>
            <a:r>
              <a:t>- 家名與城市同在：資助布魯內雷斯基（Filippo Brunelleschi）完成主教座堂圓頂（1436）、翻建聖羅倫佐（San Lorenzo）教堂；委託米開羅佐（Michelozzo）重建聖馬可修道院（1437 起）並附設佛羅倫斯第一座公共圖書館（1444）、興建梅迪奇宮（Palazzo Medici，1444）；委製多納太羅（Donatello）的青銅《大衛》。這些建築外牆處處可見梅迪奇家徽（那串圓球 palle）——慷慨的印記，從此與城市的風景同在。</a:t>
            </a:r>
          </a:p>
          <a:p>
            <a:r>
              <a:t>- 文化的舞台：柯西莫出資促成 1439 年「佛羅倫斯大公會議」移師本城，讓教宗、拜占庭皇帝約翰八世（John VIII Palaiologos）與東方教會齊聚一堂——一個銀行家的城市，一躍成為整個基督教世界外交的舞台；他還資助「柏拉圖學院」與費奇諾（Marsilio Ficino）翻譯柏拉圖全集，讓「梅迪奇」三個字等同於古典學問的復興。</a:t>
            </a:r>
          </a:p>
          <a:p>
            <a:r>
              <a:t>- 柯西莫之孫羅倫佐·德·梅迪奇（Lorenzo de' Medici，1449–1492，人稱「偉大的羅倫佐」il Magnifico）把家族聲望推上頂峰：他贊助波提且利（Sandro Botticelli）、資助達文西（Leonardo da Vinci）多年，並把少年米開朗基羅（Michelangelo Buonarroti）收進家中栽培；他本人也寫詩作歌。</a:t>
            </a:r>
          </a:p>
          <a:p>
            <a:r>
              <a:t>- 帕齊陰謀（Pazzi Conspiracy，1478）：敵對的帕齊家族聯手教宗西斯圖斯四世（Sixtus IV）在主教座堂行刺，羅倫佐重傷逃生、其弟朱利亞諾（Giuliano）當場被殺——這個家族，已然站在時代風暴的中心。</a:t>
            </a:r>
          </a:p>
          <a:p>
            <a:r>
              <a:t>- 傳奇的圓滿：從銀行世家到統治王朝。梅迪奇家族先後產出教宗（利奧十世 Leo X——羅倫佐次子喬凡尼，在位 1513–1521；克萊孟七世 Clement VII，在位 1523–1534；家族聲稱共四位教宗）、兩位法國王后（凱薩琳·德·梅迪奇 Catherine de' Medici、瑪麗·德·梅迪奇 Marie de' Medici），並在 1569 年獲封世襲的「托斯卡尼大公」，統治托斯卡尼直到 1737 年家族絕嗣。財富、藝術、地位、王朝——這段傳奇，梅迪奇寫得最完整。</a:t>
            </a:r>
          </a:p>
          <a:p>
            <a:r>
              <a:t>- 對企業家的一句話：這段「企業與藝術共同締造地位傳奇」的佳話，為後世的藝術贊助者立下了風範——後面第五樣態的埃斯特哈齊親王，正是循著這條路而來；這也正是本場「你成就音樂，音樂也成就你」命題最古老、最動人的一章。</a:t>
            </a:r>
          </a:p>
          <a:p>
            <a:r>
              <a:t>- 📖 金弗羅林（florin，義大利文 fiorino d'oro）：佛羅倫斯自 1252 年起發行的純金貨幣，每枚含金約 3.5 克；因幣值長期穩定，成為當時歐洲跨國貿易與教廷收支的「硬通貨」，文中家產、花費都以它計價。</a:t>
            </a:r>
          </a:p>
          <a:p>
            <a:r>
              <a:t>- 📖 教廷帳房／使徒財庫（Papal Curia／Apostolic Camera）：教宗政府的行政與財政中樞，負責向全歐教會收取稅收與獻金；梅迪奇銀行正是靠當上它的主要往來銀行（等於「教宗的銀行」）而致富。</a:t>
            </a:r>
          </a:p>
          <a:p>
            <a:r>
              <a:t>- 📖 執政團（Signoria）：佛羅倫斯共和國的最高行政會議，由數名任期短暫的行政官組成；梅迪奇從不親自占據它，而是在幕後左右人選——所謂「他挑的人，才當得上官」。</a:t>
            </a:r>
          </a:p>
          <a:p>
            <a:r>
              <a:t>- 📖 祖國之父（拉丁文 Pater Patriae）：古羅馬元老院授予救國功臣的最高榮銜（西塞羅、奧古斯都曾獲），中世紀幾近絕跡；佛羅倫斯破例追贈柯西莫，等於用官方名義把一個銀行家抬進「國父」之列。</a:t>
            </a:r>
          </a:p>
          <a:p>
            <a:r>
              <a:t>- 📖 大師傅／老大（義大利文 gran maestro）：時人對柯西莫實質地位的稱呼，指他雖無官職，卻是城邦真正的掌舵者。</a:t>
            </a:r>
          </a:p>
          <a:p>
            <a:r>
              <a:t>- 📖 卡塔斯托（catasto）：佛羅倫斯 1427 年推行的財產申報與累進課稅制度，按資產多寡課稅；梅迪奇公開支持它，與平民站在同一陣線。</a:t>
            </a:r>
          </a:p>
          <a:p>
            <a:r>
              <a:t>- 📖 佛羅倫斯大公會議（Council of Florence，1439）：天主教會為謀求東、西方教會合一而召開的大公會議，中途由費拉拉移到佛羅倫斯（柯西莫出資促成）；拜占庭皇帝與東方主教皆到場，使佛羅倫斯一時成為國際外交焦點。</a:t>
            </a:r>
          </a:p>
          <a:p>
            <a:r>
              <a:t>- 📖 帕齊陰謀（Pazzi Conspiracy，1478）：由佛羅倫斯另一銀行家族帕齊（Pazzi）主導、獲教宗西斯圖斯四世默許的政變刺殺，目標是推翻梅迪奇；行動失敗後，梅迪奇的權力反而更加鞏固。</a:t>
            </a:r>
          </a:p>
          <a:p>
            <a:r>
              <a:t>- 📖 托斯卡尼大公國（Grand Duchy of Tuscany）：1569 年由教宗頒賜梅迪奇家族的世襲君主之位（首任大公為柯西莫一世 Cosimo I），梅迪奇家族自此躋身受國際承認的統治王朝，直到 1737 年。</a:t>
            </a:r>
          </a:p>
          <a:p>
            <a:r>
              <a:t>- 📖 柏拉圖學院（Platonic Academy）：柯西莫在佛羅倫斯出資扶植的人文學圈，以復興柏拉圖哲學為宗旨；核心人物費奇諾（Marsilio Ficino）在其資助下完成柏拉圖著作的拉丁文全譯——「梅迪奇」之名，從此與智識的守護同在。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6｜梅迪奇與藝術共同締造的傳奇～銀行世家的嚮往</a:t>
            </a:r>
          </a:p>
          <a:p/>
          <a:p>
            <a:r>
              <a:t>【講稿】（停留約 75 秒）故事，從一個姓氏說起——梅迪奇（Medici）。那是十五世紀的佛羅倫斯——銀行、羊毛與全歐最繁盛的商路，都在這座城裡交會。梅迪奇便是這座城裡的銀行王朝，往來遍及全歐，連教宗、國王，都是他們的座上客。而這一族心裡，始終另有一份嚮往：嚮往美，嚮往格調。財富，於他們是既有的日常；而藝術裡那個更高、更遠的世界，才是他們真心喜歡、心之所向的地方。接下來的故事，便是這個家族以一生的慷慨，與藝術相知相伴，共同寫下的一段傳奇。</a:t>
            </a:r>
          </a:p>
          <a:p>
            <a:r>
              <a:t>【講義補充】</a:t>
            </a:r>
          </a:p>
          <a:p>
            <a:r>
              <a:t>- 梅迪奇銀行（Medici Bank）由喬凡尼·迪·比奇·德·梅迪奇（Giovanni di Bicci de' Medici）於 1397 年在佛羅倫斯創立，他把原本設在羅馬的分行獨立出來、遷回家鄉佛羅倫斯，開啟這個金融王朝；據 Wikipedia，它在十五世紀是全歐洲規模最大、名聲最好的銀行之一。</a:t>
            </a:r>
          </a:p>
          <a:p>
            <a:r>
              <a:t>- 這個家族最重要的根基是「替教廷理財」：喬凡尼拿下羅馬教廷（Roman Curia，教宗的行政與財務中樞）的帳戶，據載約 1402 年成為教宗博義九世（Boniface IX）的主要銀行家，這是當時歐洲最豐厚的一項金融業務，撐起家族近一個世紀的富貴。</a:t>
            </a:r>
          </a:p>
          <a:p>
            <a:r>
              <a:t>- 據估計，梅迪奇一度是全歐洲最富有的家族（據 Wikipedia）；1434 年起，科西莫·德·梅迪奇（Cosimo de' Medici）以無冕之姿為全城所倚重，同時是全城最慷慨的藝術贊助者。</a:t>
            </a:r>
          </a:p>
          <a:p>
            <a:r>
              <a:t>- 時代背景：中世紀教會對金融業另有嚴苛的教義眼光（詳見下方 📖「高利貸之罪」「匯票」詞條）；而梅迪奇在這座城裡，以人望與慷慨立身。</a:t>
            </a:r>
          </a:p>
          <a:p>
            <a:r>
              <a:t>- 當時銀行家通行的作法是「匯票」（bill of exchange）：一種跨城市、跨貨幣的付款憑證，匯兌之間自然帶有匯差，是當時銀行業通行的作法（詳見下方 📖「匯票」詞條）。</a:t>
            </a:r>
          </a:p>
          <a:p>
            <a:r>
              <a:t>- 一段流傳的佳話：1437 年起，科西莫累計投入約三萬六千弗洛林重建聖馬可修道院（San Marco）（據傳記家韋斯帕夏諾·達·比斯提奇（Vespasiano da Bisticci）記載，帶有相傳性質），是他捐建善舉中最為後世稱道的一筆；教宗尤金四世（Pope Eugenius IV）亦親臨其事，留下贊助者與教會之間一段長情的佳話。</a:t>
            </a:r>
          </a:p>
          <a:p>
            <a:r>
              <a:t>- 一句話總結這一站的開端：梅迪奇心之所向，是美、是格調；接下來幾張的故事，便是這個家族把財富慷慨投入藝術、建築與音樂，以「贊助者」的身分，與藝術共同孕育出傳世的榮光與家族不朽。</a:t>
            </a:r>
          </a:p>
          <a:p>
            <a:r>
              <a:t>- 📖 梅迪奇家族（House of Medici）：1397 年喬凡尼·迪·比奇創辦梅迪奇銀行，成為 15 世紀歐洲最大金融機構之一；1434 年起實質統治佛羅倫斯，後代還出過教宗與法國王后，是「財富與藝術共同締造地位」最成功的家族範本。</a:t>
            </a:r>
          </a:p>
          <a:p>
            <a:r>
              <a:t>- 📖 喬凡尼·迪·比奇（Giovanni di Bicci de' Medici，約 1360–1429）：家族的開基祖，梅迪奇銀行創辦人，靠替教廷理財奠定財富根基；當時人眼中仍是新興之家，家族的聲望，日後由子孫與藝術共同寫成。</a:t>
            </a:r>
          </a:p>
          <a:p>
            <a:r>
              <a:t>- 📖 科西莫·德·梅迪奇（Cosimo de' Medici，1389–1464）：喬凡尼之子、家族最會經營的掌門人，1434 年起以財富與人脈幕後掌控佛羅倫斯，死後獲贈「國父」（Pater Patriae）尊號，也是家族第一代的大贊助者，把對藝術的慷慨帶到極致。</a:t>
            </a:r>
          </a:p>
          <a:p>
            <a:r>
              <a:t>- 📖 佛羅倫斯（Florence，義大利文 Firenze）：義大利中部托斯卡尼地區的城市共和國，十五世紀歐洲毛紡與銀行業重鎮、文藝復興發源地，也是梅迪奇家族的大本營。</a:t>
            </a:r>
          </a:p>
          <a:p>
            <a:r>
              <a:t>- 📖 弗洛林（florin，義大利文 fiorino）：佛羅倫斯自 1252 年起鑄造的金幣，含金量穩定，是中世紀晚期歐洲跨國貿易通用的「硬通貨」；一萬弗洛林在當時足以重建一座修道院，可見科西莫贊助手筆之大。</a:t>
            </a:r>
          </a:p>
          <a:p>
            <a:r>
              <a:t>- 📖 高利貸之罪（usury，拉丁文 usura）：中世紀教會將「借貸收息」視為罪；神學家的說法是「財富本身不會生育」——這是那個時代教會看待金融的眼光。</a:t>
            </a:r>
          </a:p>
          <a:p>
            <a:r>
              <a:t>- 📖 匯票（bill of exchange，拉丁文 cambium）：一種跨城、跨幣的付款憑證，商人可先在甲地出資、日後在乙地以另一種貨幣領款，匯兌之間自然帶有匯差；是中世紀跨國商貿通行的支付工具。</a:t>
            </a:r>
          </a:p>
          <a:p>
            <a:r>
              <a:t>- 📖 羅馬教廷（Roman Curia）：教宗治理天主教會的中央行政與財務機構；替它管理財富是當時歐洲最穩健豐厚的金融業務，也是梅迪奇銀行的命脈。</a:t>
            </a:r>
          </a:p>
          <a:p>
            <a:r>
              <a:t>- 📖 尤金四世（Pope Eugenius IV，在位 1431–1447）：與梅迪奇銀行往來深厚的教宗，據載他建議科西莫捐出財富修聖馬可修道院，留下贊助者與教會之間一段著名的佳話。</a:t>
            </a:r>
          </a:p>
          <a:p>
            <a:r>
              <a:t>- 📖 聖馬可修道院（Convent of San Marco）：佛羅倫斯的道明會修道院，1437 年起由科西莫出資重建，院內有名畫家安傑利科修士（Fra Angelico）的濕壁畫，是科西莫捐建善舉中最為後世稱道的代表作。</a:t>
            </a:r>
          </a:p>
          <a:p>
            <a:r>
              <a:t>- 📖 第二次拉特朗會議（Second Lateran Council，1139）：教宗在羅馬拉特朗召開的大公會議，明文把高利貸定為「神法與人法所不容」之罪，是教會反高利貸立場的重要里程碑。</a:t>
            </a:r>
          </a:p>
          <a:p>
            <a:r>
              <a:t>- 📖 但丁《神曲》（Dante Alighieri，Divina Commedia，約 1308–1320）：義大利文學經典長詩，把放高利貸者列於地獄第七層，是中世紀文學看待金融的一面鏡子。</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7｜梅迪奇與藝術共同締造的傳奇～與大師彼此成就</a:t>
            </a:r>
          </a:p>
          <a:p/>
          <a:p>
            <a:r>
              <a:t>【講稿】（停留約 85 秒）那麼，這個心懷嚮往的家族，是怎麼與藝術結緣的呢？他們以最慷慨的手筆，把財富投入藝術。他們將十來歲的米開朗基羅（Michelangelo）接進自家花園悉心栽培，也出資託付波提切利（Botticelli）畫下傳世名作。而歷史為這個家族寫下的一頁，輝煌得超乎想像——這個銀行世家，後來竟出了兩位羅馬教宗、兩位法國王后，實質統治佛羅倫斯，成為左右整個歐洲的核心。至於他們的女兒如何登上法蘭西王后之位、又如何在一場婚禮上催生了「歌劇」，接下來兩張投影片，我會分開細細道來。所以各位請看，梅迪奇與藝術，正是彼此成就——你成就音樂，音樂也成就你。請各位先將「梅迪奇」這三個字放在心上——今天走到最後，我會誠心邀請在座的每一位，一同思量，如何成為下一個梅迪奇。</a:t>
            </a:r>
          </a:p>
          <a:p>
            <a:r>
              <a:t>【講義補充】</a:t>
            </a:r>
          </a:p>
          <a:p>
            <a:r>
              <a:t>- 一句話先記住：梅迪奇（Medici）示範了一件事——與藝術相知相伴的家族，歷史記住的不只是財富，更是榮光與風範；這也是今天請每位企業家思考「怎麼成為下一個梅迪奇」的原型。</a:t>
            </a:r>
          </a:p>
          <a:p>
            <a:r>
              <a:t>- 財富從哪來（贊助者的本業）：這是一個「放款的家族」，靠銀行起家。1397 年喬凡尼·迪·比奇（Giovanni di Bicci de' Medici）在佛羅倫斯創辦梅迪奇銀行，最重要的業務是替羅馬教廷管理財富；據載光是羅馬分行的教廷業務，就佔了全行約一半的收益——先有這份厚實的家業，才有日後投入藝術的慷慨手筆。</a:t>
            </a:r>
          </a:p>
          <a:p>
            <a:r>
              <a:t>- 從銀行世家到一城之主：1434 年老柯西莫（Cosimo de' Medici）掌家後，國庫倚重其信用、世家倚重其情誼；一個沒有王位的家族，就這樣被全城默默託付了治理。</a:t>
            </a:r>
          </a:p>
          <a:p>
            <a:r>
              <a:t>- 佳話之一：把十來歲的米開朗基羅（Michelangelo）接進自家花園栽培。約 1489 年、他十四五歲時，被「偉大的羅倫佐」（Lorenzo il Magnifico）納入梅迪奇宅邸，在家族的雕塑花園臨摹家藏古代雕像，還坐上家族餐桌、與當時第一流的學者同席——家族的知遇，孕育出一位日後的曠世巨匠。</a:t>
            </a:r>
          </a:p>
          <a:p>
            <a:r>
              <a:t>- 佳話之二：出資託付波提切利（Sandro Botticelli）。梅迪奇家與其圈子委製了《春》（Primavera）與《維納斯的誕生》（The Birth of Venus）等傳世名作（學界多繫於家族堂支羅倫佐·迪·皮耶爾弗蘭切斯科名下，年代約 1480 年代）——這些畫作至今仍是文藝復興的門面。</a:t>
            </a:r>
          </a:p>
          <a:p>
            <a:r>
              <a:t>- 歷史為這個家族寫下的一頁，輝煌得超乎想像：這個家族後來出了兩位羅馬教宗、兩位法國王后，從一方藝術贊助者，成為左右整個歐洲的權力核心。</a:t>
            </a:r>
          </a:p>
          <a:p>
            <a:r>
              <a:t>- 兩位教宗：利奧十世（Leo X，本名 Giovanni de' Medici，偉大的羅倫佐之子，在位 1513–1521）與克萊門七世（Clement VII，本名 Giulio de' Medici，在位 1523–1534）——家族先後兩度榮登天主教世界的頂點。</a:t>
            </a:r>
          </a:p>
          <a:p>
            <a:r>
              <a:t>- 兩位法國王后：凱瑟琳·德·梅迪奇（Catherine de' Medici，1533 年嫁給後來的法王亨利二世（Henry II），1547 年起為王后）與瑪麗·德·梅迪奇（Marie de' Medici，1600 年嫁給法王亨利四世（Henry IV），王后任內 1600–1610，之後為其子路易十三攝政）——家族的女兒，先後登上了法蘭西王后之位。</a:t>
            </a:r>
          </a:p>
          <a:p>
            <a:r>
              <a:t>- 「最時髦的新藝術」＝歌劇：1600 年瑪麗與亨利四世的聯姻大典上，梅迪奇端出的盛禮，正是後世稱為「歌劇」的全新藝術——一場婚禮，把一門全新的藝術端上了歷史舞台。</a:t>
            </a:r>
          </a:p>
          <a:p>
            <a:r>
              <a:t>- 這場婚禮的作品就是《尤麗狄切》（Euridice）：1600 年 10 月 6 日於佛羅倫斯皮蒂宮（Palazzo Pitti）首演，作曲家佩里（Jacopo Peri）親自登台。它被視為現存最早的一部歌劇（更早的《達芙妮》（Dafne，1597）已佚失）——今天全片的聆聽脈絡，正是從梅迪奇這場婚禮開始的。</a:t>
            </a:r>
          </a:p>
          <a:p>
            <a:r>
              <a:t>- 與其他投影片的呼應：本張是「梅迪奇②」，承接前一張的「嚮往」，把故事收在「企業與藝術彼此成就」；也預告全片收尾——請在座每位認真想「成為下一個梅迪奇」。</a:t>
            </a:r>
          </a:p>
          <a:p>
            <a:r>
              <a:t>- 📖 梅迪奇家族（House of Medici / de' Medici）：發跡於佛羅倫斯的銀行世家，15–18 世紀是義大利乃至歐洲最有影響力的贊助者家族；當時＝靠替教廷管理財富致富、又以藝術贊助之名傳世的「藝術贊助者的原型」。</a:t>
            </a:r>
          </a:p>
          <a:p>
            <a:r>
              <a:t>- 📖 佛羅倫斯（Florence／義大利文 Firenze）：義大利中部托斯卡尼地區的城市共和國；當時＝文藝復興的發源地與歐洲金融、藝術中心，梅迪奇的大本營。</a:t>
            </a:r>
          </a:p>
          <a:p>
            <a:r>
              <a:t>- 📖 文藝復興（Renaissance／義大利文 Rinascimento，意為「重生」）：約 14–16 世紀起於義大利、重新發揚古希臘羅馬文化的藝術與思想運動；當時＝梅迪奇等富商以財富催化、家族之名亦隨之升華的一波文化浪潮。</a:t>
            </a:r>
          </a:p>
          <a:p>
            <a:r>
              <a:t>- 📖 梅迪奇銀行（Medici Bank）：1397 年創立、1494 年沒落的家族銀行；當時＝歐洲最富盛名的金融機構之一，最大客戶是羅馬教廷，是家族一切財富與權力的源頭。</a:t>
            </a:r>
          </a:p>
          <a:p>
            <a:r>
              <a:t>- 📖 弗羅林（florin，佛羅倫斯金幣）：佛羅倫斯自 13 世紀起鑄造的金幣，通行全歐；當時＝跨國貿易與教廷往來的「硬通貨」，衡量梅迪奇財力的單位。</a:t>
            </a:r>
          </a:p>
          <a:p>
            <a:r>
              <a:t>- 📖 教廷（Papal Curia）：羅馬天主教教宗的行政與財務中樞；當時＝梅迪奇銀行最獲利的客戶，掌握全歐教會的金流。</a:t>
            </a:r>
          </a:p>
          <a:p>
            <a:r>
              <a:t>- 📖 偉大的羅倫佐（Lorenzo de' Medici, il Magnifico，1449–1492）：梅迪奇家族最著名的贊助者兼實質統治者；當時＝栽培米開朗基羅、資助多位巨匠的「藝術贊助者」代名詞。</a:t>
            </a:r>
          </a:p>
          <a:p>
            <a:r>
              <a:t>- 📖 老柯西莫（Cosimo de' Medici, the Elder，1389–1464）：喬凡尼之子，1434 年起成為佛羅倫斯無冕的實質統治者；當時＝以銀行財力奠定政治聲望的關鍵人物。</a:t>
            </a:r>
          </a:p>
          <a:p>
            <a:r>
              <a:t>- 📖 米開朗基羅（Michelangelo Buonarroti，1475–1564）：文藝復興雕塑、繪畫、建築巨匠；當時＝少年時即被梅迪奇收進家門栽培的「知遇佳話」代表。</a:t>
            </a:r>
          </a:p>
          <a:p>
            <a:r>
              <a:t>- 📖 波提切利（Sandro Botticelli，約 1445–1510）：佛羅倫斯畫家，《春》《維納斯的誕生》作者；當時＝梅迪奇圈子出資委製傳世名作的畫師。</a:t>
            </a:r>
          </a:p>
          <a:p>
            <a:r>
              <a:t>- 📖 教宗（Pope，羅馬教宗）：天主教會最高領袖；當時＝歐洲政教兩界的頂點，梅迪奇家族先後兩度有子弟榮登此位。</a:t>
            </a:r>
          </a:p>
          <a:p>
            <a:r>
              <a:t>- 📖 王后／攝政（Queen consort／Regent）：王后即國王配偶，攝政指君主年幼或缺位時代行王權者；當時＝梅迪奇兩位女兒經由聯姻登上的法國王室身分（瑪麗後來還替幼子路易十三攝政）。</a:t>
            </a:r>
          </a:p>
          <a:p>
            <a:r>
              <a:t>- 📖 《尤麗狄切》（Euridice）：佩里作曲、里努契尼（Ottavio Rinuccini）作詞的音樂戲劇，取材希臘神話奧菲斯與尤麗狄切；當時＝為梅迪奇聯姻大典而作、現存最早的一部歌劇。</a:t>
            </a:r>
          </a:p>
          <a:p>
            <a:r>
              <a:t>- 📖 歌劇（Opera，義大利文原意「作品」）：以歌唱貫穿全劇、結合音樂與戲劇的舞台形式；當時＝1600 年前後剛在佛羅倫斯誕生的「最時髦新藝術」，在梅迪奇的婚禮上首度綻放光采。</a:t>
            </a:r>
          </a:p>
          <a:p>
            <a:r>
              <a:t>- 📖 皮蒂宮（Palazzo Pitti）：佛羅倫斯的大型宮殿，後為梅迪奇家族宅邸；當時＝1600 年《尤麗狄切》首演的場地。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8｜梅迪奇與藝術共同締造的傳奇～兩位法國王后</a:t>
            </a:r>
          </a:p>
          <a:p/>
          <a:p>
            <a:r>
              <a:t>【講稿】（停留約 55 秒）梅迪奇的傳奇裡，有格外動人的一章——家族的女兒，先後登上了法國王后之位。凱瑟琳·德·梅迪奇，1533 年下嫁後來的法王亨利二世，成為法國王后；六十餘年後，瑪麗·德·梅迪奇，1600 年再嫁法王亨利四世，又是一位法國王后，日後更為幼子攝政。且與各位一同品味這件事：在那個講究血統的年代，一個家族的風雅與格調，自有其應得的敬重——藝術陪著他們走了一路，也把他們的名字，寫進了歐洲最高的殿堂。</a:t>
            </a:r>
          </a:p>
          <a:p>
            <a:r>
              <a:t>【講義補充】</a:t>
            </a:r>
          </a:p>
          <a:p>
            <a:r>
              <a:t>- 兩位法國王后：凱瑟琳·德·梅迪奇（Catherine de' Medici，1533 年嫁給後來的法王亨利二世（Henry II），1547 年起為王后）與瑪麗·德·梅迪奇（Marie de' Medici，1600 年嫁給法王亨利四世（Henry IV），王后任內 1600–1610，之後為其子路易十三攝政）。</a:t>
            </a:r>
          </a:p>
          <a:p>
            <a:r>
              <a:t>- 聯姻的一章：家族的女兒步入法蘭西王室殿堂時，梅迪奇的風雅與格調，早已為全歐所公認——這是「企業與藝術締造地位傳奇」裡最動人的一步。</a:t>
            </a:r>
          </a:p>
          <a:p>
            <a:r>
              <a:t>- 家族總共出了四位羅馬教宗、兩位法國王后（據 Wikipedia／Britannica）：與藝術一路同行的這個家族，最終走進了歐洲最高的殿堂。</a:t>
            </a:r>
          </a:p>
          <a:p>
            <a:r>
              <a:t>- 與藝術長情同行的人，最高雅的廳堂裡自有其席位——同道相認，從不必言明。</a:t>
            </a:r>
          </a:p>
          <a:p>
            <a:r>
              <a:t>- 📖 凱瑟琳·德·梅迪奇（Catherine de' Medici，1519–1589）：梅迪奇家族之女，嫁法王亨利二世為后，三個兒子先後為法王，長期實質左右法國政局，是「家族的女兒登上王后之位」的代表。</a:t>
            </a:r>
          </a:p>
          <a:p>
            <a:r>
              <a:t>- 📖 瑪麗·德·梅迪奇（Marie de' Medici，1575–1642）：梅迪奇家族之女，1600 年嫁法王亨利四世，1610 年亨利四世遇刺後為幼子路易十三攝政；她的婚禮，也正是歌劇《尤麗狄切》首演的場合（見下一張）。</a:t>
            </a:r>
          </a:p>
          <a:p>
            <a:r>
              <a:t>- 📖 亨利四世（Henri IV，1553–1610）：波旁王朝首位法王；1600 年迎娶瑪麗·德·梅迪奇，這場世紀婚禮，成了全歐矚目的一座藝術舞台。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9｜梅迪奇與藝術共同締造的傳奇～歌劇《尤麗狄切》</a:t>
            </a:r>
          </a:p>
          <a:p/>
          <a:p>
            <a:r>
              <a:t>【講稿】（停留約 60 秒）而瑪麗·德·梅迪奇 1600 年的那場婚禮，還為後世留下了一份誰也未曾料到的禮物。那是一場全歐洲都轉頭注目的盛典，席上端出了當時最新穎的一種表演——以歌唱從頭貫穿到尾，也就是我們今日所說的「歌劇」。這部作品名為《尤麗狄切》，作曲家佩里親自登台，在佛羅倫斯的皮蒂宮首演。而其中有一件很美的事：它，被公認是現存最早的一部歌劇。也就是說，「歌劇」這一整門藝術，最早竟是在一場婚禮的盛情裡誕生的。一場全歐矚目的婚禮，就這樣把一門全新的藝術，端上了歷史的舞台——而這門藝術的迴響，一響，便是四百年。</a:t>
            </a:r>
          </a:p>
          <a:p>
            <a:r>
              <a:t>【講義補充】</a:t>
            </a:r>
          </a:p>
          <a:p>
            <a:r>
              <a:t>- 「最時髦的新藝術」＝歌劇：1600 年瑪麗與亨利四世的聯姻大典上，梅迪奇端出的盛禮，正是後世稱為「歌劇」的全新藝術——一場全歐矚目的婚禮，把一門全新的藝術端上歷史舞台。</a:t>
            </a:r>
          </a:p>
          <a:p>
            <a:r>
              <a:t>- 這場婚禮的作品就是《尤麗狄切》（Euridice）：1600 年 10 月 6 日於佛羅倫斯皮蒂宮（Palazzo Pitti）首演，作曲家佩里（Jacopo Peri）親自登台。它被視為現存最早的一部歌劇（更早的《達芙妮》（Dafne，1597）已佚失）。</a:t>
            </a:r>
          </a:p>
          <a:p>
            <a:r>
              <a:t>- 誕生的搖籃是「佛羅倫斯卡梅拉塔」：約 1573–1592 年間，一群音樂家與人文學者，在巴爾迪伯爵（Count Giovanni de' Bardi）出資召集的沙龍裡，為復興古希臘戲劇而實驗，直接催生了歌劇——又一座由藝術贊助者悉心澆灌的搖籃。</a:t>
            </a:r>
          </a:p>
          <a:p>
            <a:r>
              <a:t>- 對企業家的一句話：連「歌劇」這門延續四百年的藝術，源頭都是一場婚禮上的贊助心意。你今天的一次委創，也可能孕育出某門流傳後世的全新藝術。</a:t>
            </a:r>
          </a:p>
          <a:p>
            <a:r>
              <a:t>- 📖 《尤麗狄切》（Euridice）：佩里作曲、里努契尼（Ottavio Rinuccini）作詞，取材希臘神話奧菲斯與尤麗狄切；為梅迪奇聯姻大典而作，是現存最早、留有完整樂譜的一部歌劇。</a:t>
            </a:r>
          </a:p>
          <a:p>
            <a:r>
              <a:t>- 📖 佩里（Jacopo Peri，1561–1633）：佛羅倫斯作曲家、歌手，《尤麗狄切》作曲者並親自登台演出；投影片上的圖，是他 1589 年於梅迪奇宮廷幕間劇中飾演阿里翁（Arione）的造型。</a:t>
            </a:r>
          </a:p>
          <a:p>
            <a:r>
              <a:t>- 📖 皮蒂宮（Palazzo Pitti）：佛羅倫斯的大型宮殿，後為梅迪奇家族宅邸；1600 年《尤麗狄切》首演的場地。</a:t>
            </a:r>
          </a:p>
          <a:p>
            <a:r>
              <a:t>- 📖 歌劇（Opera，義大利文原意「作品」）：以歌唱貫穿全劇、結合音樂與戲劇的舞台形式；1600 年前後剛在佛羅倫斯誕生的「最時髦新藝術」，在梅迪奇的婚禮上首度綻放光采。</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10｜企業與藝術締造的地位傳奇～最風雅的相知之道</a:t>
            </a:r>
          </a:p>
          <a:p/>
          <a:p>
            <a:r>
              <a:t>【講稿】（停留約 55 秒）從梅迪奇身上，我們還看見了藝術很溫柔的一面——它是一種最風雅的語言，同好之間，不必言明，自然相知。一場音樂會、一次藝文盛會，城中愛樂的雅士，總在同一座廳堂裡自然相遇——藝術讓同好自然相聚。而在那樣的場合裡，彼此所談的，是品味、格調，是心中共同珍惜的東西。各位想必也有這樣的體會：許多最深厚的緣分，正是在一段共同聆賞的樂音裡結下的。羅倫佐當年的宅邸，正是這樣一座讓全歐洲雅士都心嚮往之的廳堂——藝術在哪裡，知音就在哪裡。</a:t>
            </a:r>
          </a:p>
          <a:p>
            <a:r>
              <a:t>【講義補充】</a:t>
            </a:r>
          </a:p>
          <a:p>
            <a:r>
              <a:t>- 藝術是最風雅的相知之道：同好在共同聆賞的樂音裡自然相聚，結下別處尋不著的緣分、知音與長情——這是梅迪奇家族留給後世贊助者最溫柔的風範。</a:t>
            </a:r>
          </a:p>
          <a:p>
            <a:r>
              <a:t>- 藝文場合自然凝聚出「品味共同體」式的情誼——席間所談，是價值與格調，是彼此共同珍惜的東西。</a:t>
            </a:r>
          </a:p>
          <a:p>
            <a:r>
              <a:t>- 梅迪奇家族與藝術長情相伴，「文藝守護者」之名從此與家族同在，家族亦與這座城市相守近三百年（據載家族聲勢綿延約三百年）。</a:t>
            </a:r>
          </a:p>
          <a:p>
            <a:r>
              <a:t>- 這段風範最動人處，是從容：科西莫從不自封官職，維持共和體制，以財富與人情靜靜成全全城的教堂、圖書館與雕塑，全城菁英都感念他的慷慨——風雅之道，正在不言之中。</a:t>
            </a:r>
          </a:p>
          <a:p>
            <a:r>
              <a:t>- 到孫子羅倫佐這一代，梅迪奇宅邸成了全歐洲最頂級的沙龍，十三歲的米開朗基羅（Michelangelo）就是在這裡被相中、被栽培，藝術家日後名滿天下，梅迪奇的知遇之名也隨之流傳。</a:t>
            </a:r>
          </a:p>
          <a:p>
            <a:r>
              <a:t>- 這門風雅的語言，最終與看得見的榮光同在：家族總共出了四位羅馬教宗、兩位法國王后（據 Wikipedia／Britannica），與藝術一路同行的這個家族，最終走進了歐洲最高的殿堂。</a:t>
            </a:r>
          </a:p>
          <a:p>
            <a:r>
              <a:t>- 呼應前兩張：1600 年瑪麗·德·梅迪奇（Marie de' Medici）下嫁法王亨利四世（Henry IV）的世紀婚禮，正是以一齣歌劇《尤麗狄切》（Euridice）當國禮，藝術在這裡既是盛典的光采、也是兩國之間最風雅的語言——你成就音樂，音樂也成就你。</a:t>
            </a:r>
          </a:p>
          <a:p>
            <a:r>
              <a:t>- 📖 風雅的相知之道：講者用來形容藝術聚會間自然流通的情誼與美談；當時＝梅迪奇贊助的藝術品與音樂會，令賓客回味再三、樂於親近，成為全城傳頌的美談。</a:t>
            </a:r>
          </a:p>
          <a:p>
            <a:r>
              <a:t>- 📖 文化資本（cultural capital）：法國社會學家布赫迪厄（Pierre Bourdieu，1930—2002）用以描述教育、品味與藝術知識所積累之涵養的學術用語；當時＝梅迪奇在藝術收藏與贊助中涵養出的品味，令家族氣度自成一格，為後世傳頌。</a:t>
            </a:r>
          </a:p>
          <a:p>
            <a:r>
              <a:t>- 📖 社會資本（social capital）：同為布赫迪厄的概念，指人與人之間長年往來所織成的情誼網絡，讓人在大事上總有同道彼此照應；當時＝梅迪奇與知音長情同行的家族情誼，為後世傳頌。</a:t>
            </a:r>
          </a:p>
          <a:p>
            <a:r>
              <a:t>- 📖 梅迪奇家族（House of Medici）：約十五至十八世紀主宰佛羅倫斯的銀行世家與統治家族，以藝術贊助聞名，被視為文藝復興「藝術贊助者」的代名詞。</a:t>
            </a:r>
          </a:p>
          <a:p>
            <a:r>
              <a:t>- 📖 梅迪奇銀行（Medici Bank）：1397 年由喬凡尼·迪·比奇·德·梅迪奇（Giovanni di Bicci de' Medici）創立，全盛期是全歐洲最大、最受信任的金融機構，並成為教廷的主要往來銀行，龐大財力正是家族得以大手筆贊助的底氣。</a:t>
            </a:r>
          </a:p>
          <a:p>
            <a:r>
              <a:t>- 📖 科西莫·德·梅迪奇（Cosimo de' Medici，1389—1464）：人稱「老科西莫」，死後獲佛羅倫斯追封「國父」（Pater Patriae，拉丁文，意為「祖國之父」），是家族政治霸業的奠基者，開創文化贊助與政治聲望相互輝映的風範。</a:t>
            </a:r>
          </a:p>
          <a:p>
            <a:r>
              <a:t>- 📖 羅倫佐·德·梅迪奇（Lorenzo de' Medici，1449—1492）：科西莫之孫，人稱「豪華者羅倫佐」（il Magnifico，義大利文，意為「偉大／華麗者」），是梅迪奇文化贊助的巔峰代表，米開朗基羅、波提切利（Sandro Botticelli）皆受其庇蔭。</a:t>
            </a:r>
          </a:p>
          <a:p>
            <a:r>
              <a:t>- 📖 柏拉圖學院（Accademia Platonica，Platonic Academy）：科西莫出資、由學者費奇諾（Marsilio Ficino）主持的人文主義學術圈，把古希臘哲學重新帶回佛羅倫斯；當時＝一個由藝術贊助者成全、讓菁英聚在一起「談思想、談品味」的風雅之會。</a:t>
            </a:r>
          </a:p>
          <a:p>
            <a:r>
              <a:t>- 📖 佛羅倫斯卡梅拉塔（Florentine Camerata，又稱 Camerata de' Bardi）：約 1573—1592 年間在貴族兼贊助人巴爾迪伯爵（Count Giovanni de' Bardi）家中聚會的音樂家與人文學者社群，為復興古希臘戲劇而催生了歌劇；當時＝一個由贊助者提供場地與經費的沙龍，同好相聚之處，孕育出了全新的藝術。</a:t>
            </a:r>
          </a:p>
          <a:p>
            <a:r>
              <a:t>- 📖 《尤麗狄切》（Euridice）：作曲家佩里（Jacopo Peri）所作、現存最早留有完整樂譜的歌劇，1600 年 10 月 6 日在佛羅倫斯皮蒂宮（Palazzo Pitti）為梅迪奇的世紀婚禮首演；由大公斐迪南一世（Ferdinando I）促成的這場聯姻，也是梅迪奇家族史上動人的外交一章。</a:t>
            </a:r>
          </a:p>
          <a:p>
            <a:r>
              <a:t>- 📖 品味共同體：講者用來形容一群人因為共享對藝術、美感與格調的認同而形成的同好之誼；當時＝梅迪奇的沙龍與音樂會，正是讓愛藝之人因「共同的品味」自然相聚的場域。</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11｜第二樣態：藝術與企業締造的永恆影像</a:t>
            </a:r>
          </a:p>
          <a:p/>
          <a:p>
            <a:r>
              <a:t>【講稿】（停留約 30 秒）剛才的梅迪奇，是名門的故事。而第二種樣態，我想與各位分享的正是——你不必是梅迪奇。一群志同道合的朋友、一個公會，同樣能與一位大師攜手，共同留下一幅永恆的影像。而有一幅畫，把這段佳話說得再動人不過了。</a:t>
            </a:r>
          </a:p>
          <a:p>
            <a:r>
              <a:t>【講義補充】</a:t>
            </a:r>
          </a:p>
          <a:p>
            <a:r>
              <a:t>- 第二種樣態：永恆影像——不必獨力擁有梅迪奇的財富，一群人同心合資，也能共同留下看得見、傳得久的影像。</a:t>
            </a:r>
          </a:p>
          <a:p>
            <a:r>
              <a:t>- 核心訊息：你不必是梅迪奇（Medici）那種富可敵國的豪門；一個公會、一群志同道合的企業家同好齊心，同樣能與一位大師共同成全一件傳世之作——正如那群民兵，四百年後仍被世人記得。</a:t>
            </a:r>
          </a:p>
          <a:p>
            <a:r>
              <a:t>- 時空背景：這樣的集體佳話，在十七世紀荷蘭黃金時代（Dutch Golden Age，荷蘭語 Gouden Eeuw）蔚為風尚——當時荷蘭沒有法國那種王室宮廷，出資的是靠貿易致富的市民與商人公會，於是合資委製群像，成了城中最風雅的盛事。</a:t>
            </a:r>
          </a:p>
          <a:p>
            <a:r>
              <a:t>- 那幅「把這件事講得清清楚楚」的畫，就是林布蘭（Rembrandt van Rijn，1606～1669）一六四二年完成的《夜巡》（De Nachtwacht／The Night Watch），全名直譯為「柯克隊長麾下第二區民兵連」。</a:t>
            </a:r>
          </a:p>
          <a:p>
            <a:r>
              <a:t>- 出資方不是國王，而是阿姆斯特丹一支市民民兵連：由柯克隊長（Frans Banninck Cocq）帶頭、連同十七名隊員合資委製，是一段同儕齊心共同成全的佳話。</a:t>
            </a:r>
          </a:p>
          <a:p>
            <a:r>
              <a:t>- 這份心意的份量：據 Wikipedia，全畫酬勞約一千六百荷蘭盾，平均每名隊員分攤約一百盾；據載這在當時是一筆可觀的數目，而留下的，是四百年不褪色的一幅傳世影像。</a:t>
            </a:r>
          </a:p>
          <a:p>
            <a:r>
              <a:t>- 光的次序：依民兵群像的慣例，職分最重的人立於畫面更前、光線更亮之處，其餘的在後排留下面容——職分最重的人，站在光的中央。</a:t>
            </a:r>
          </a:p>
          <a:p>
            <a:r>
              <a:t>- 畫裡實際畫了三十四個人，而出資的十八人，名字在約一七一五年被寫上畫中一面盾牌，從此與作品同在；至於那名臨時受僱的鼓手，林布蘭也讓他一同入了畫。</a:t>
            </a:r>
          </a:p>
          <a:p>
            <a:r>
              <a:t>- 這幅高約三點六三公尺、寬約四點三七公尺的巨畫，原本就懸在火槍手會所（Kloveniersdoelen）的宴會廳裡；如今收藏在阿姆斯特丹國家博物館（Rijksmuseum），每年被數以百萬計的觀眾仰望——當年那一百盾的心意，歲月只讓它更添光采。</a:t>
            </a:r>
          </a:p>
          <a:p>
            <a:r>
              <a:t>- 更貼近「企業家＋公會」的例子：林布蘭一六六二年的《布商公會理事》（De Staalmeesters，又稱 Syndics of the Drapers' Guild），畫的是阿姆斯特丹布商公會五位驗布官加一名僕役，全由該公會出資委製、掛進公會廳堂——一整個行業公會替自己立像。</a:t>
            </a:r>
          </a:p>
          <a:p>
            <a:r>
              <a:t>- 同一時代還有法蘭斯·哈爾斯（Frans Hals）等名家，專替各城民兵連畫宴會式群像，把這種同儕群像，畫成了荷蘭城市最風光的一道景致。</a:t>
            </a:r>
          </a:p>
          <a:p>
            <a:r>
              <a:t>- 呼應主軸：從《夜巡》到《布商公會理事》，畫的都不是神話或帝王，而是一群同心出資的市民——他們的面容，就這樣走進了藝術史，四百年來被世人記得。</a:t>
            </a:r>
          </a:p>
          <a:p>
            <a:r>
              <a:t>- 📖 梅迪奇（Medici）：十五至十七世紀主宰佛羅倫斯的銀行家兼統治家族，是本講前一段「豪門贊助」的代表；此處用來對比——你不必有他們的財力，也能與藝術共同留名。</a:t>
            </a:r>
          </a:p>
          <a:p>
            <a:r>
              <a:t>- 📖 荷蘭黃金時代（Dutch Golden Age，荷蘭語 Gouden Eeuw）：約十七世紀，荷蘭靠海外貿易、航運與金融成為歐洲最富庶地區的時期；當時＝一個由商人而非貴族掌握財富、藝術的知音也隨之從宮廷走向市民的時代。</a:t>
            </a:r>
          </a:p>
          <a:p>
            <a:r>
              <a:t>- 📖 市民民兵公會（Schutterij／Schuttersgilde）：荷蘭城市的志願市民衛隊及其公會，平時維安、救火、遊行，成員多為自備武器制服的富商與殷實市民；當時＝城中商賈的風雅結社。</a:t>
            </a:r>
          </a:p>
          <a:p>
            <a:r>
              <a:t>- 📖 民兵群像（schuttersstuk）：民兵連集體出資、把全體成員畫在一起的團體肖像，常畫成宴會或列隊場景，是荷蘭黃金時代最氣派的一類肖像畫；當時＝公會傳世的集體容顏。</a:t>
            </a:r>
          </a:p>
          <a:p>
            <a:r>
              <a:t>- 📖 《夜巡》（De Nachtwacht／The Night Watch）：林布蘭一六四二年的民兵群像代表作，因後世畫面積塵、罩光漆變暗而被誤稱「夜」巡，實為白天出巡；當時＝一支民兵連合資訂製的傳世巨畫。</a:t>
            </a:r>
          </a:p>
          <a:p>
            <a:r>
              <a:t>- 📖 林布蘭（Rembrandt van Rijn，1606～1669）：荷蘭黃金時代最著名的畫家，畢生為市民與公會作畫；此處＝把出資者臉孔化為不朽的那支畫筆。</a:t>
            </a:r>
          </a:p>
          <a:p>
            <a:r>
              <a:t>- 📖 荷蘭盾（guilder，荷蘭語 gulden）：荷蘭當時的通用貨幣；本張提到的「約一百盾／一千六百盾」即以此計價，據 Wikipedia 在當時屬可觀金額。</a:t>
            </a:r>
          </a:p>
          <a:p>
            <a:r>
              <a:t>- 📖 火槍手會所（Kloveniersdoelen，Doelen 意為靶場／會所）：阿姆斯特丹火槍手民兵連的訓練場兼宴會廳，《夜巡》原本就掛在這裡的宴會廳牆上；當時＝公會的總部與交際場，也是這幅傳世之作最初的展示廳。</a:t>
            </a:r>
          </a:p>
          <a:p>
            <a:r>
              <a:t>- 📖 《布商公會理事》（De Staalmeesters／Syndics of the Drapers' Guild）：林布蘭一六六二年替阿姆斯特丹布商公會五位驗布官（負責檢驗布料品質、任期一年）畫的群像；當時＝一個行業公會替自家管理層立的「官方肖像」。</a:t>
            </a:r>
          </a:p>
          <a:p>
            <a:r>
              <a:t>- 📖 理事群像（regentenstuk）：荷蘭黃金時代盛行的一種團體肖像，畫的是慈善機構或公會的董事會（理事／女理事），掛在理事會議室（regentenkamer）；當時＝這類榮譽公職代代相承的立像慣例，容顏與名字因而與機構同在。</a:t>
            </a:r>
          </a:p>
          <a:p>
            <a:r>
              <a:t>- 📖 阿姆斯特丹國家博物館（Rijksmuseum）：荷蘭的國家級美術館，《夜巡》與《布商公會理事》今日皆藏於此；此處＝讓當年那幅合資之作被世人瞻仰四百年的殿堂。</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12｜藝術與企業締造的永恆影像～林布蘭《夜巡》</a:t>
            </a:r>
          </a:p>
          <a:p/>
          <a:p>
            <a:r>
              <a:t>【講稿】（停留約 80 秒）林布蘭（Rembrandt）的《夜巡》，1642 年。出資的不是國王、也不是教會，而是阿姆斯特丹一個「火槍手民兵公會」——說起來，就是一群志同道合的朋友聚成的社團。這 16 位夥伴同心出資，請林布蘭替他們畫一幅團體像，平均每人出資約 100 盾（盾就是 guilder，當時荷蘭通行的貨幣）。而畫面上，有一個雅正的次序：統領其事的人，站在光的中央；其餘的夥伴，也各自在畫裡留下了自己的面容。且看，四百年過去，這 16 位夥伴，他們的臉，至今仍懸掛在阿姆斯特丹國家博物館的鎮館之寶上，每年幾百萬人專程遠道而來，仰望的正是他們。當年的一份心意，就這樣被歷史記了四百年。</a:t>
            </a:r>
          </a:p>
          <a:p>
            <a:r>
              <a:t>【講義補充】</a:t>
            </a:r>
          </a:p>
          <a:p>
            <a:r>
              <a:t>- 《夜巡》創作於 1642 年,是荷蘭黃金時代(Dutch Golden Age)最著名的一幅團體肖像:出資的不是國王、也不是教會,而是一群阿姆斯特丹的商賈同儕,由他們共同出資請林布蘭作畫。</a:t>
            </a:r>
          </a:p>
          <a:p>
            <a:r>
              <a:t>- 全體出資者合計付給林布蘭約 1,600 盾、平均一人約 100 盾;四百年後,世人仍記得他們的臉——一幅畫,把一群人的名字留給了四百年。</a:t>
            </a:r>
          </a:p>
          <a:p>
            <a:r>
              <a:t>- 委託方＝阿姆斯特丹火槍手民兵公會(Kloveniers),16 名民兵同心合資(依畫中人法蘭斯·班寧·科克家族相簿中的題記所載,全隊合資約 1,600 盾、平均每人約 100 盾)。</a:t>
            </a:r>
          </a:p>
          <a:p>
            <a:r>
              <a:t>- 這份心意的份量:據載一名熟練工匠年收入約 250–300 盾——每人約 100 盾,足見這份託付何等鄭重;整筆約 1,600 盾的委託,對這群市民同儕,是一次鄭重其事的合資。</a:t>
            </a:r>
          </a:p>
          <a:p>
            <a:r>
              <a:t>- 歷史記住了什麼:四百年後,這 16 位民兵,臉孔仍高掛在鎮館之寶上,每年吸引數百萬人專程朝聖——一份同心的委託,就這樣成了永恆。</a:t>
            </a:r>
          </a:p>
          <a:p>
            <a:r>
              <a:t>- 光的次序就畫在構圖裡:職分最重的隊長與副隊長立於最前排、光線最亮處,其餘成員依職分列於其後,各自留下面容——職分最重的人,站在光的中央。</a:t>
            </a:r>
          </a:p>
          <a:p>
            <a:r>
              <a:t>- 民兵公會本質是「會員自費」的社團:成員自備武器與制服,團體肖像也由成員各自出資分攤——是民間力量(而非宮廷)與藝術互相成全的典型,恰與梅迪奇、埃斯特哈齊的宮廷贊助形成「民間版」對照,呼應本場「你成就音樂，音樂也成就你」主軸。</a:t>
            </a:r>
          </a:p>
          <a:p>
            <a:r>
              <a:t>- 這些名字還有實體的鐫刻:約 1715 年,有人在畫面中央偏右加繪一面盾形飾牌(cartouche),列出 18 個相關姓名,連當年受僱助陣的鼓手都被一併追記——名字從此與作品同在。</a:t>
            </a:r>
          </a:p>
          <a:p>
            <a:r>
              <a:t>- 歲月的一段插曲:1715 年此畫移到阿姆斯特丹市政廳時,為了塞進兩扇門之間,四邊都被切掉,左側甚至少了兩個人物;今天要看完整原始構圖,只能靠同代畫家倫登斯(Gerrit Lundens)的小尺寸摹本(現藏倫敦國家美術館)。畫幅至今仍達 363×437 公分,是不折不扣的巨作。</a:t>
            </a:r>
          </a:p>
          <a:p>
            <a:r>
              <a:t>- 📖 荷蘭黃金時代(Dutch Golden Age／Gouden Eeuw):約 17 世紀,荷蘭共和國憑藉海上貿易、阿姆斯特丹的金融與市民財富躍為歐洲最富裕地區之一;富起來的市民與行會取代了傳統宮廷與教會,成為藝術新的贊助者,《夜巡》正是這股市民贊助浪潮的代表作。</a:t>
            </a:r>
          </a:p>
          <a:p>
            <a:r>
              <a:t>- 📖 林布蘭(Rembrandt van Rijn,1606–1669):荷蘭黃金時代最重要的畫家,以肖像與強烈明暗對照聞名;在這段佳話裡,他以一支畫筆,讓出資的那群民兵與作品一同不朽。</a:t>
            </a:r>
          </a:p>
          <a:p>
            <a:r>
              <a:t>- 📖 火槍手民兵公會(Kloveniers,火繩槍手／滑膛槍手隊):阿姆斯特丹市民民兵中以火槍為武器的一支,成員多為有產市民與商人;平時輪值守夜、看守城門,動亂或戰時才武裝上陣,是城中殷實之家的防務與交誼組織。</a:t>
            </a:r>
          </a:p>
          <a:p>
            <a:r>
              <a:t>- 📖 市民民兵／射手行會(schutterij／schuttersgilde):荷蘭城市由富裕市民自組的自衛武裝團體,負責守夜、防火、鎮亂;軍官由市政府從殷實市民中委任,既負防務,也是地方有力人士彼此交誼之所——這些人正是與大畫家相知相託的階層。</a:t>
            </a:r>
          </a:p>
          <a:p>
            <a:r>
              <a:t>- 📖 民兵團體肖像(schuttersstuk,射手群像):黃金時代特有的畫種,由一整隊民兵合資請畫家畫成群像掛在會所裡;成員各自出資合製,位置依職分與慣例而定,《夜巡》是此類作品的巔峰。</a:t>
            </a:r>
          </a:p>
          <a:p>
            <a:r>
              <a:t>- 📖 火槍手會所(Kloveniersdoelen):Kloveniers 民兵的總部兼宴會廳(doelen 原指靶場,後泛指民兵會所);《夜巡》原本就是為其大廳量身訂製,與其他幾幅民兵群像並列同一空間、交相輝映,滿廳都是傳世的容顏。</a:t>
            </a:r>
          </a:p>
          <a:p>
            <a:r>
              <a:t>- 📖 法蘭斯·班寧·科克(Frans Banninck Cocq,1605–1655):畫面正中身著黑衣、繫紅色綬帶的隊長,出身阿姆斯特丹富裕世家,後來當上阿姆斯特丹市長(burgomaster,市政首長);他立於畫面正中,還另外請人把此畫縮摹成水彩、收進家族相簿,讓這段佳話在家族中代代相傳。</a:t>
            </a:r>
          </a:p>
          <a:p>
            <a:r>
              <a:t>- 📖 威廉·范·雷登布赫(Willem van Ruytenburch,1600–1652):畫中身著金黃衣、繫白色綬帶的副隊長,同為富商世家;與隊長並列前排,同沐於畫面最亮的光裡。</a:t>
            </a:r>
          </a:p>
          <a:p>
            <a:r>
              <a:t>- 📖 官方全名與「夜巡」誤稱:此畫正式名稱為《科克隊長所率第二區民兵連》(Militia Company of District II under the Command of Captain Frans Banninck Cocq);原本畫的其實是白天場景,只因年久凡尼斯(保護漆)氧化變暗,18 世紀末(約 1797 年)才被冠上「夜巡」(De Nachtwacht)這個一直沿用到今天的暱稱。</a:t>
            </a:r>
          </a:p>
          <a:p>
            <a:r>
              <a:t>- 📖 盾(guilder／gulden,荷蘭盾,亦作 florin,符號 ƒ):荷蘭黃金時代通行的貨幣;據載一名熟練工匠年收入約數百盾,故每人出到約 100 盾是相當可觀的合資,足見這份合資的鄭重。</a:t>
            </a:r>
          </a:p>
          <a:p>
            <a:r>
              <a:t>- 📖 荷蘭國家博物館(Rijksmuseum,直譯「國家博物館」):位於阿姆斯特丹的荷蘭國家級美術館,現址於 1885 年落成;《夜巡》是全館鎮館之寶,由阿姆斯特丹市擁有並長期在此展出,每年讓世人一次又一次,與當年那群出資者的容顏相見。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13｜藝術與企業締造的永恆影像～這就是你們的公會</a:t>
            </a:r>
          </a:p>
          <a:p/>
          <a:p>
            <a:r>
              <a:t>【講稿】（停留約 55 秒）我特意把這幅畫說給各位聽，是因為它所講的，其實正是我們自己。那個火槍手民兵公會——一群志同道合的朋友，湊在了一起——與今天各位的跨業交流會、各位的公會，一脈相承。各位與各位的公會，正是這個傳統的後人。梅迪奇那樣的傳奇，是一個家族與藝術的相知；而《夜巡》悄悄告訴我們：一個人成全不了的美事，一群人齊心便能成全，榮光同沐。所以不必獨自成為梅迪奇——邀上一群同好，便能共同締造一段傳奇。且與各位一同想一想：倘若我們的公會，齊心成全一場音樂會、委託一件作品，那會是何等的雅事？四百年後的人們，又會怎麼說起我們呢？</a:t>
            </a:r>
          </a:p>
          <a:p>
            <a:r>
              <a:t>【講義補充】</a:t>
            </a:r>
          </a:p>
          <a:p>
            <a:r>
              <a:t>- 火槍手民兵公會＝17 世紀版的跨業交流會／商會：一群志同道合的殷實商賈自願組成的自衛兼交誼團體——與各位今天的公會、同業社團一脈相承。</a:t>
            </a:r>
          </a:p>
          <a:p>
            <a:r>
              <a:t>- 這張的核心，是一群人如何共同成全一件傳世之作——《夜巡》由一整支民兵連合資委製，示範了「一個人成全不了，一群人齊心便能成全」的集體贊助佳話。</a:t>
            </a:r>
          </a:p>
          <a:p>
            <a:r>
              <a:t>- 集體合資贊助：不必有梅迪奇那樣的豪門財力；邀一群志同道合的同儕，便能一起成為藝術的知音。</a:t>
            </a:r>
          </a:p>
          <a:p>
            <a:r>
              <a:t>- 全畫共 34 個人物；約 1715 年，後人在畫中加繪一面盾形飾牌，寫上 18 位出資隊員的名字——名字從此與作品同在。</a:t>
            </a:r>
          </a:p>
          <a:p>
            <a:r>
              <a:t>- 林布蘭共收到約 1,600 荷蘭盾，主要由這 18 人分攤、平均每人約 100 盾（據 Wikipedia／英國國家美術館）。</a:t>
            </a:r>
          </a:p>
          <a:p>
            <a:r>
              <a:t>- 光的次序：職分最重的人立於前排、沐於光中；其餘的夥伴在後排留下面容。隊長柯克與副官范·勒伊滕堡統領其事，立於畫面正中最亮之處——職分最重的人，站在光的中央，四百年不曾更改。</a:t>
            </a:r>
          </a:p>
          <a:p>
            <a:r>
              <a:t>- 這幅畫原本掛在火槍手公會會所（Kloveniersdoelen）的宴會大廳（Groote Zaal）：每逢公會宴集，滿廳交相輝映的，便是這群夥伴的容顏——一幅畫，就這樣把一群人的名字，留給了四百年。</a:t>
            </a:r>
          </a:p>
          <a:p>
            <a:r>
              <a:t>- 呼應軼事：1715 年這幅畫被移到阿姆斯特丹市政廳，為了塞進兩根柱子之間，四邊被裁切，左側甚至有兩個人物就此永遠消失——歲月流轉，連傳世巨作也有自己的際遇。</a:t>
            </a:r>
          </a:p>
          <a:p>
            <a:r>
              <a:t>- 對照前站的梅迪奇（Medici）：梅迪奇是一個家族與藝術大師的世代相知；《夜巡》則是一群商賈同儕的齊心之作——不同的樣態，同樣締造了傳世的影像與名字。</a:t>
            </a:r>
          </a:p>
          <a:p>
            <a:r>
              <a:t>- 主贊助人柯克：後為普爾默蘭與伊爾彭丹領主，1650 年當上阿姆斯特丹市長；他的面容立於《夜巡》正中，與這幅傳世之作一同被歷史記住。</a:t>
            </a:r>
          </a:p>
          <a:p>
            <a:r>
              <a:t>- 回到我們自己：各位與各位的公會，正是這個傳統的後人；當年是火槍手公會與一幅群像，今天可以是跨業交流會與一場音樂會、一件委託作品——這個四百年的傳統，正等著各位入列。</a:t>
            </a:r>
          </a:p>
          <a:p>
            <a:r>
              <a:t>- 📖 夜巡（De Nachtwacht／The Night Watch）：荷蘭畫家林布蘭 1642 年完成的巨幅群像油畫，尺寸約 363×437 公分，今藏阿姆斯特丹國家博物館（Rijksmuseum）。「夜巡」是後人取的俗名，因舊清漆與煤煙讓畫面發黑、被誤以為夜景，其實畫的是白天。當時＝一群火槍手民兵合資訂製、懸於自家會所的傳世「團體照」。</a:t>
            </a:r>
          </a:p>
          <a:p>
            <a:r>
              <a:t>- 📖 正式名稱（Militia Company of District II under the Command of Captain Frans Banninck Cocq）：即《隊長法蘭斯·班寧·柯克指揮的第二區民兵連》。當時的畫作多半沒有標題，這個描述性名稱點明出資者是誰——不是王公貴族，而是一整支市民民兵連。</a:t>
            </a:r>
          </a:p>
          <a:p>
            <a:r>
              <a:t>- 📖 林布蘭（Rembrandt van Rijn, 1606–1669）：荷蘭黃金時代最重要的畫家。當時最受敬重、最受歡迎的大師之一，能請到他作畫，本身便是一段佳話。</a:t>
            </a:r>
          </a:p>
          <a:p>
            <a:r>
              <a:t>- 📖 火槍手公會／克洛芬尼爾（Kloveniers）：阿姆斯特丹三大民兵公會之一，成員配備早期火繩槍（arquebus，荷語 klover／haakbus），公會即因此得名。當時＝由城中殷實市民、商人組成的持槍自衛兼社交團體。</a:t>
            </a:r>
          </a:p>
          <a:p>
            <a:r>
              <a:t>- 📖 民兵團（Schutterij）：中世紀到近代荷蘭城市的市民自衛隊，按行政區與武器（弓、弩、火槍）分連，軍官須由當地富人、體面市民擔任。當時＝結合防務與情誼的市民團體，性質最接近今天的商會、扶輪社或跨業交流會。</a:t>
            </a:r>
          </a:p>
          <a:p>
            <a:r>
              <a:t>- 📖 公會會所（Doelen／Kloveniersdoelen）：民兵團的靶場兼會館，設有大廳供聚會、宴飲與室內操練。當時＝這群出資人的「總部加宴會廳」，也是他們懸掛團體肖像、迎賓宴客的地方。</a:t>
            </a:r>
          </a:p>
          <a:p>
            <a:r>
              <a:t>- 📖 民兵團體肖像（Schuttersstuk）：荷蘭特有的畫種，民兵連在換屆或有大事時合資請畫家畫全連合照，成員各自出資，人人都在畫中留下自己的面容。當時＝公會集體委製傳世群像的傳統，《夜巡》只是其中最有名的一件；法蘭斯·哈爾斯（Frans Hals）等名家也留下多幅這類群像傑作。</a:t>
            </a:r>
          </a:p>
          <a:p>
            <a:r>
              <a:t>- 📖 隊長班寧·柯克（Frans Banninck Cocq, 1605–1655）：《夜巡》正中央、著黑衣紅綬帶者，領銜召集的主贊助人；屬阿姆斯特丹攝政階層（regenten），普爾默蘭與伊爾彭丹（Purmerland en Ilpendam）領主，1650 年任阿姆斯特丹市長。當時＝這場合資佳話的召集人，也是立於光的中央的那一位。</a:t>
            </a:r>
          </a:p>
          <a:p>
            <a:r>
              <a:t>- 📖 副官范·勒伊滕堡（Willem van Ruytenburch）：畫中著鮮黃衣、白綬帶、站在柯克身旁者，與隊長並肩主其事，同立於前排最亮處。當時＝與隊長並肩的另一位主事者。</a:t>
            </a:r>
          </a:p>
          <a:p>
            <a:r>
              <a:t>- 📖 荷蘭盾（gulden／guilder）：荷蘭黃金時代的通貨。每人約 100 盾、全案約 1,600 盾，在當時是一筆可觀金額（據 Wikipedia）。當時＝一筆鄭重其事的可觀之數。</a:t>
            </a:r>
          </a:p>
          <a:p>
            <a:r>
              <a:t>- 📖 荷蘭黃金時代（Dutch Golden Age）：約 17 世紀，荷蘭靠海運貿易（尤以荷蘭東印度公司／VOC 為代表）致富、商人階級崛起的時期。當時＝崛起的商人階層樂於將財富投入文化的黃金背景，集體贊助的風氣由此而生。</a:t>
            </a:r>
          </a:p>
          <a:p>
            <a:r>
              <a:t>- 📖 攝政階層（Regenten）：荷蘭共和國中掌握市政與商業大權的富裕市民寡頭階層。當時＝這些出資訂畫者所屬的社會頂層，贊助藝術是他們代代相承的風雅。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14｜第三樣態：藝術與企業締造的不朽之名</a:t>
            </a:r>
          </a:p>
          <a:p/>
          <a:p>
            <a:r>
              <a:t>【講稿】（停留約 25 秒）第三種樣態，是我個人最珍愛的一樣——不朽之名。財富終有用盡的一天，一時的掌聲也會散去；然而有一種名字，被輕輕繫進了一部會被傳唱數百年的作品裡——從此，「不朽」便與它同在。接下來這幾則故事的主角，正是這樣的名字。</a:t>
            </a:r>
          </a:p>
          <a:p>
            <a:r>
              <a:t>【講義補充】</a:t>
            </a:r>
          </a:p>
          <a:p>
            <a:r>
              <a:t>- 第三種樣態：不朽之名。財富會用盡、一時的名聲會過去，但把名字繫進一部會被傳唱數百年的作品，「不朽」便與這個名字同在；本張之後連續幾則故事的主角，都是「因為當年一份成全，名字被寫進音樂史」的藝術贊助者。</a:t>
            </a:r>
          </a:p>
          <a:p>
            <a:r>
              <a:t>- 這一樣態的核心是「題獻」的慣例：作曲家將作品鄭重獻給知音，其名自扉頁起與作品同印同傳；作品每被演出、出版一次，這個名字便再被念起一次，數百年不墜。</a:t>
            </a:r>
          </a:p>
          <a:p>
            <a:r>
              <a:t>- 📖 題獻／獻詞（dedication）：作曲家在作品扉頁寫上某人姓名以表敬意或感謝的慣例；當時＝贊助者的名字自此與作品同印同傳，是讓一次成全化作永久留名的慣例。</a:t>
            </a:r>
          </a:p>
          <a:p>
            <a:r>
              <a:t>- 案例一「貝多芬三貴族」：1809年3月1日，魯道夫大公（Archduke Rudolph）、洛布科維茨親王（Prince Lobkowitz）、金斯基親王（Prince Kinsky）三人聯名簽下年金契約，每年合付貝多芬（Ludwig van Beethoven）4000弗羅林（魯道夫1500、金斯基1800、洛布科維茨700），只為把他留在維也納、不去接拿破崙之弟耶羅姆（Jérôme Bonaparte）在卡塞爾（Kassel）開出的宮廷樂長職。</a:t>
            </a:r>
          </a:p>
          <a:p>
            <a:r>
              <a:t>- 三人中魯道夫獲題獻最豐：貝多芬一生獻給他約14部作品，含《皇帝》鋼琴協奏曲、《大公》三重奏、《莊嚴彌撒》等；洛布科維茨獲題獻《英雄》交響曲；金斯基之名則因這紙契約永留史冊——這正是「因成全而留名」的教科書案例（後幾張細講）。後續動盪也值一記：據載1811年奧國貨幣貶值五倍、金斯基1812年墜馬身亡、洛布科維茨1813年家業中落、被迫離開維也納，最後只剩魯道夫履約到底。</a:t>
            </a:r>
          </a:p>
          <a:p>
            <a:r>
              <a:t>- 📖 年金／年俸（annuity，德文 Rentenvertrag）：贊助的一種形式——不是為單一作品的一次委託，而是每年固定奉上一筆財富、長年供養作曲家，條件是他留在本地、持續創作；貝多芬這紙契約是史上最著名的一例。</a:t>
            </a:r>
          </a:p>
          <a:p>
            <a:r>
              <a:t>- 📖 弗羅林（florin，又稱古爾登 Gulden）：當時＝奧地利通行的銀幣貨幣單位；4000弗羅林在1809年足供優渥生活，惟隨後貨幣貶值，契約實值大幅縮水。</a:t>
            </a:r>
          </a:p>
          <a:p>
            <a:r>
              <a:t>- 📖 大公／親王（Archduke Erzherzog／Prince Fürst）：貴族頭銜；魯道夫是皇帝法蘭茲一世（Franz I）的幼弟、又是貝多芬的作曲學生，洛布科維茨與金斯基則為擁地產的親王階層，家業深厚，正是當時作曲家最重要的知音階層。</a:t>
            </a:r>
          </a:p>
          <a:p>
            <a:r>
              <a:t>- 案例二「失眠的凱瑟林克伯爵」：相傳這位駐薩克森宮廷的俄國大使長年失眠，委託巴赫（Johann Sebastian Bach）寫一套能在漫漫長夜撫慰他的鍵盤曲，由住在他家的年輕大鍵琴手郭德堡（Johann Gottlieb Goldberg）夜裡彈奏，這就是《郭德堡變奏曲》得名的由來（呼應投影片 18–19）。</a:t>
            </a:r>
          </a:p>
          <a:p>
            <a:r>
              <a:t>- 📖 凱瑟林克伯爵（Count Hermann Karl von Keyserlingk，或作 Kaiserling）：委創故事的主角藝術贊助者；此說僅見於福克爾（Johann Nikolaus Forkel）1802年的巴赫傳記，成書距事件逾六十年、樂譜扉頁又無題獻，郭德堡當時僅約14歲，故學界多視為傳說、未必屬實（標「相傳」）。</a:t>
            </a:r>
          </a:p>
          <a:p>
            <a:r>
              <a:t>- 案例三「佛瑞的女伯爵」：佛瑞（Gabriel Fauré）把《帕凡舞曲》（Pavane, Op. 50，1887）題獻給他的贊助人葛雷菲勒女伯爵（Élisabeth, comtesse Greffulhe）；她建議加入隱形合唱、又於1891年出資在布洛涅森林（Bois de Boulogne）的花園派對搬演成歌舞版——巴黎沙龍女主人的名字，就這樣與這首名曲一同流傳。</a:t>
            </a:r>
          </a:p>
          <a:p>
            <a:r>
              <a:t>- 📖 沙龍（salon）：貴族或富裕女主人在自宅客廳定期召集作曲家、作家、畫家的聚會；當時＝最重要的文化贊助聚所，多少傑作與相知在此誕生，葛雷菲勒女伯爵的沙龍還提攜了雕塑家羅丹（Auguste Rodin）等人，她本人並被視為普魯斯特（Marcel Proust）小說中公爵夫人的原型。</a:t>
            </a:r>
          </a:p>
          <a:p>
            <a:r>
              <a:t>- 案例四「梵谷的弟弟西奧」：畫商西奧·梵谷（Theo van Gogh）自1880—81年冬起按月接濟哥哥文森（Vincent van Gogh），1882年6月起每月分三次寄送財富，十年間據載共資助約17,500法郎——這是跨到美術界的例子：贊助者的名字，如今已與被贊助者的傳奇密不可分。</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15｜藝術與企業締造的不朽之名～貝多芬與三位知音</a:t>
            </a:r>
          </a:p>
          <a:p/>
          <a:p>
            <a:r>
              <a:t>【講稿】（停留約 80 秒）1809 年的維也納，三位大貴族——金斯基（Kinsky）、洛布科維茨（Lobkowitz），還有魯道夫大公（Archduke Rudolph，「大公」即皇室的親王）——一同做了一件很溫暖的事。他們聯手立下一紙終身年金，許諾長長久久地供養一位作曲家，白紙黑字，只有一句：「請您留在維也納。」而歷史記住了什麼呢？記住了三個名字。兩百年後的今天，世人只要一談起那部《第九號交響曲》，便會談起當年是哪三位知音，成全了它的誕生。請各位記得——這不是施捨、也不是慈善，而是一份簽下長約、彼此託付的相知。所以留給各位的第一句話是：真心的贊助，值得白紙黑字，也值得長長久久。接下來，請容我把今晚的第二件珍品端上——貝多芬〈歡樂頌〉。兩百年來，全歐洲最尊貴的廳堂以它壓軸；今晚，它也為各位而奏。</a:t>
            </a:r>
          </a:p>
          <a:p>
            <a:r>
              <a:t>【講義補充】</a:t>
            </a:r>
          </a:p>
          <a:p>
            <a:r>
              <a:t>- 合約全貌：1809 年 3 月 1 日在維也納簽署一紙《年金合約》（Rentenvertrag），三位署名藝術贊助者為魯道夫大公（Archduke Rudolph）、金斯基親王（Ferdinand Kinsky）、洛布科維茨親王（Franz Joseph Lobkowitz），受領人是貝多芬（Ludwig van Beethoven）；核心條款只有一條——貝多芬須定居維也納或奧地利皇室世襲領地，三位知音則許諾每年 4,000 弗洛林的終身年金（據 Beethoven-Haus Bonn）。</a:t>
            </a:r>
          </a:p>
          <a:p>
            <a:r>
              <a:t>- 1809 年三位貴族以年 4,000 弗洛林終身年金留住作曲家（起因是 1808 年拿破崙之弟以年薪延攬）。</a:t>
            </a:r>
          </a:p>
          <a:p>
            <a:r>
              <a:t>- 條件＝留在維也納。</a:t>
            </a:r>
          </a:p>
          <a:p>
            <a:r>
              <a:t>- 故事的前情：1808 年秋，拿破崙（Napoleon）之弟、西發里亞王國國王熱羅姆·波拿巴（Jérôme Bonaparte）開出卡塞爾（Kassel）宮廷樂長職位、年薪 600 杜卡特金幣，邀貝多芬赴任；維也納三位知音不忍他遠行，遂聯手以終身年金相留。</a:t>
            </a:r>
          </a:p>
          <a:p>
            <a:r>
              <a:t>- 這紙合約動人之處：三家不是各自為政，而是聯名同署、白紙黑字——一份心意，三個名字，一同寫在同一頁上。</a:t>
            </a:r>
          </a:p>
          <a:p>
            <a:r>
              <a:t>- 三家怎麼分攤這 4,000 弗洛林：金斯基出最多，年 1,800 弗洛林；魯道夫 1,500；洛布科維茨 700（三家相加恰為 4,000）——一份成全，三家一同承擔（據 Classic FM／Beethoven-Haus）。</a:t>
            </a:r>
          </a:p>
          <a:p>
            <a:r>
              <a:t>- 與洛布科維茨的相知：他自 1796 年起養私人樂團與弦樂四重奏、府邸設有音樂廳；貝多芬《第三號交響曲「英雄」》（Eroica）1804 年在他府邸首演並題獻給他，該廳因此被稱作「英雄廳」（Eroica-Saal）；新作公開之前，樂音往往先在他府中響起——府中之樂，先於天下。</a:t>
            </a:r>
          </a:p>
          <a:p>
            <a:r>
              <a:t>- 與魯道夫大公的相知：他是皇帝法蘭茲一世（Emperor Franz I）最年幼的弟弟、也是貝多芬「唯一的作曲學生」；貝多芬題獻給他的作品比題給任何人都多，包括《第五號鋼琴協奏曲「皇帝」》（Emperor Concerto）、《大公三重奏》（Archduke Trio，Op. 97）、《莊嚴彌撒》（Missa Solemnis）、《告別奏鳴曲》（Les Adieux）等——既是知音，亦是入室弟子。</a:t>
            </a:r>
          </a:p>
          <a:p>
            <a:r>
              <a:t>- 與金斯基的相知：三人中出資最厚（1,800），此前查無藝術贊助紀錄；他以奧地利軍官身分，簽約後不久即出征對法作戰（據 Popular Beethoven）。</a:t>
            </a:r>
          </a:p>
          <a:p>
            <a:r>
              <a:t>- 歲月的考驗（一）通膨：1811 年 2 月 20 日皇帝法蘭茲一世頒布「財政令」（俗稱破產令），流通紙鈔貶為面額的五分之一，年金實質購買力大縮水——長約也擋不住國家級的貨幣崩盤。</a:t>
            </a:r>
          </a:p>
          <a:p>
            <a:r>
              <a:t>- 歲月的考驗（二）變故與意外：洛布科維茨 1811 年 9 月起停付，財產遭託管、被迫解散樂團並離開維也納；金斯基 1812 年墜馬身亡（得年約 31），年金一度斷炊，貝多芬須向遺孀瑪麗亞·夏洛特·金斯基（Princess Maria Charlotte Kinsky）陳情，金斯基家族遲至 1815 年才恢復支付。</a:t>
            </a:r>
          </a:p>
          <a:p>
            <a:r>
              <a:t>- 誰守到了最後：當另兩位藝術贊助者陷入困境，魯道夫提高自己的份額以維持貝多芬的收入——當年一同署名的情誼，由他一人守到了最後。</a:t>
            </a:r>
          </a:p>
          <a:p>
            <a:r>
              <a:t>- 兩百年的迴響：兩百年後，這三個姓氏被永久寫進貝多芬傳記；魯道夫的名字更直接被〈皇帝〉〈大公〉兩部作品當成綽號流傳——名字從此與傑作同在。</a:t>
            </a:r>
          </a:p>
          <a:p>
            <a:r>
              <a:t>- 準確補充（別把史實講反）：貝多芬《第九號交響曲》（1822–1824 年作曲）本身題獻的是普魯士國王腓特烈·威廉三世（King Friedrich Wilhelm III），並非這三位藝術贊助者；但正是 1809 年起這筆年金供養了貝多芬的晚期歲月——真正的因果是：這份長情的成全，孕育了包含《第九》在內的晚期傑作。</a:t>
            </a:r>
          </a:p>
          <a:p>
            <a:r>
              <a:t>- 📖 名詞解釋｜終身年金（life annuity）：一次約定、按年支付到受領人終身的金額；是「一諾終身」的合約形式。</a:t>
            </a:r>
          </a:p>
          <a:p>
            <a:r>
              <a:t>- 📖 名詞解釋｜大公（Archduke）：奧地利皇室封號，地位在國王之下、公爵之上。</a:t>
            </a:r>
          </a:p>
          <a:p>
            <a:r>
              <a:t>- 📖 名詞解釋｜年金合約（Rentenvertrag）：德文「年金／終身俸合約」；當時＝貴族與受養人之間白紙黑字的私法契約，載明每年給付金額與附帶義務（此處即「須留在維也納」）。</a:t>
            </a:r>
          </a:p>
          <a:p>
            <a:r>
              <a:t>- 📖 名詞解釋｜親王（Fürst／Prince）：神聖羅馬帝國與奧地利的高階世襲貴族頭銜，中譯常作親王或侯；當時＝手握莊園、私人樂團與大量財富的地方領主，是作曲家最主要的藝術贊助者階層。</a:t>
            </a:r>
          </a:p>
          <a:p>
            <a:r>
              <a:t>- 📖 名詞解釋｜弗洛林／古爾登（Florin／Gulden）：當時奧地利通行的銀幣單位（同義詞）；4,000 弗洛林在 1809 年是能養活一位頂級作曲家一整年的可觀數目。</a:t>
            </a:r>
          </a:p>
          <a:p>
            <a:r>
              <a:t>- 📖 名詞解釋｜杜卡特（Ducat）：歐洲通行的高純度金幣；西發里亞開給貝多芬的 600 杜卡特金幣，因是硬通貨、又是金幣，實質待遇相當優渥，足見延攬之殷切。</a:t>
            </a:r>
          </a:p>
          <a:p>
            <a:r>
              <a:t>- 📖 名詞解釋｜財政令／破產令（Finanzpatent／Bankrottpatent）：奧地利 1811 年 2 月 20 日的貨幣重整法令；當時＝把貶值的紙鈔（Bankozettel）一律折成面額五分之一的新幣，等於一夜間讓所有以紙鈔計價的年金與債權大幅縮水。</a:t>
            </a:r>
          </a:p>
          <a:p>
            <a:r>
              <a:t>- 📖 名詞解釋｜樂長（Kapellmeister）：宮廷或教堂「樂團總監」，負責作曲、指揮與音樂行政；當時＝一位作曲家所能取得最穩定、最受敬重的正式聘職，西發里亞開的正是這個位子。</a:t>
            </a:r>
          </a:p>
          <a:p>
            <a:r>
              <a:t>- 📖 名詞解釋｜西發里亞王國（Kingdom of Westphalia）：拿破崙 1807 年在今德國中部拼建、封給弟弟熱羅姆的附庸王國（首都卡塞爾）；1813 年隨拿破崙敗退而瓦解——這個開出聘約的王國，本身只存在了六年。</a:t>
            </a:r>
          </a:p>
          <a:p>
            <a:r>
              <a:t>- 📖 名詞解釋｜題獻（Dedication）：把作品正式獻給某位贊助者並印在樂譜扉頁；當時＝贊助者之名自此與作品同印同傳，也是本場講座反覆出現的「留名」核心。</a:t>
            </a:r>
          </a:p>
          <a:p>
            <a:r>
              <a:t>【影片操作】 播 BBC Proms 2015 終樂章合唱精華（00:00–04:16）。播前：「這就是三位知音兩百年前的那份心意，至今仍在響的聲音。」</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16｜藝術與企業締造的不朽之名～一紙終身之約</a:t>
            </a:r>
          </a:p>
          <a:p/>
          <a:p>
            <a:r>
              <a:t>【講稿】（停留約 70 秒）讓我們把這紙約書，慢慢展開來看——各位會發現，紙上寫的是數字，字裡行間，卻是一段相知。故事的起點，是 1808 年——拿破崙的弟弟開出年薪，欲延攬貝多芬前往卡塞爾，出任宮廷樂長。維也納這三位知音，不忍這樣一位天才遠行，於是在翌年，1809 年，聯手簽下一紙終身年金，把他留在了身邊。這 4,000 弗洛林如何分攤？金斯基出得最厚，一千八；魯道夫大公一千五；洛布科維茨七百——一份心意，三家一同承擔。而後來的歲月，又留下了什麼呢？魯道夫大公——《皇帝》協奏曲、《大公三重奏》、《莊嚴彌撒》，盡數題獻於他；洛布科維茨——《英雄》交響曲在他府中首演，也題獻於他。三個名字，就這樣一筆一筆，隨著貝多芬最偉大的作品，被後世一代一代地記在心上。一紙終身之約，說到底，是一段相知、一場託付——而歲月，只會讓這份情誼更添光采。</a:t>
            </a:r>
          </a:p>
          <a:p>
            <a:r>
              <a:t>【講義補充】</a:t>
            </a:r>
          </a:p>
          <a:p>
            <a:r>
              <a:t>- 故事的前情：1808 年秋，拿破崙之弟、西發里亞國王熱羅姆·波拿巴（Jérôme Bonaparte）以年薪 600 杜卡特金幣邀貝多芬赴卡塞爾（Kassel）任宮廷樂長；維也納三位知音聞訊，不忍天才遠行，遂於翌年聯手以終身年金相留。</a:t>
            </a:r>
          </a:p>
          <a:p>
            <a:r>
              <a:t>- 三家分攤 4,000 弗洛林：金斯基年 1,800、魯道夫 1,500、洛布科維茨 700（三家相加恰為 4,000）——一紙之約，三家同署，一同承擔（據 Classic FM／Beethoven-Haus）。</a:t>
            </a:r>
          </a:p>
          <a:p>
            <a:r>
              <a:t>- 洛布科維茨與貝多芬：他自 1796 年起養私人樂團、府邸設音樂廳；《第三號交響曲「英雄」》1804 年在他府邸首演並題獻給他，該廳因此被稱「英雄廳」（Eroica-Saal）；新作公開之前，樂音往往先在他府中響起——府中之樂，先於天下。</a:t>
            </a:r>
          </a:p>
          <a:p>
            <a:r>
              <a:t>- 魯道夫大公與貝多芬：他是皇帝法蘭茲一世最年幼的弟弟、也是貝多芬「唯一的作曲學生」；題獻給他的作品比給任何人都多，包括《第五號鋼琴協奏曲「皇帝」》、《大公三重奏》（Op. 97）、《莊嚴彌撒》、《告別奏鳴曲》——既是知音，亦是入室弟子。</a:t>
            </a:r>
          </a:p>
          <a:p>
            <a:r>
              <a:t>- 給企業的一句話：好的贊助，就像一段好的相知——要用心、要長久、要白紙黑字地認真對待；歷史記住的，往往正是這樣並肩同行的名字。</a:t>
            </a:r>
          </a:p>
          <a:p>
            <a:r>
              <a:t>- 📖 弗洛林／杜卡特：弗洛林（又稱古爾登）是當時奧地利通行的銀幣，4,000 弗洛林足以養活一位頂級作曲家一整年；杜卡特是幣值更高的金幣，西發里亞開的 600 杜卡特是相當優渥的禮聘之數。</a:t>
            </a:r>
          </a:p>
          <a:p>
            <a:r>
              <a:t>- 📖 魯道夫大公（Archduke Rudolph，1788–1831）：奧地利皇室成員、貝多芬唯一的作曲學生兼最大贊助人，後升任紅衣主教；既是知音、亦是入室弟子，情誼最深，獲題獻也最多——《皇帝》《大公》《莊嚴彌撒》皆獻於他，名字隨傑作傳世。</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17｜藝術與企業締造的不朽之名～兩百年的迴響</a:t>
            </a:r>
          </a:p>
          <a:p/>
          <a:p>
            <a:r>
              <a:t>【講稿】（停留約 70 秒）而這份心意究竟迴響了多久？說來令人動容。《第九號交響曲》第四樂章那段〈歡樂頌〉（Ode to Joy，德文原意「快樂的頌歌」），到了 1985 年，成了歐盟的盟歌——一段旋律，就這樣唱進了整個歐洲的心裡。而在日本，每逢歲末，幾萬人齊聚一堂合唱「第九」，已成一樁溫暖的年終儀式；其中大阪那場「萬人第九」，直到今天，仍由企業冠名相伴。各位不妨想想：兩百年前，三位知音的那份心意，時至今日，仍在年年替他們的名字迴響；而兩百年後，仍有企業與這段旋律並肩同行，把幾萬人聚在同一首歌裡。這便是贊助最動人的地方——你留下的，從來不是一時的掌聲，而是一個世紀、乃至兩個世紀的迴響。</a:t>
            </a:r>
          </a:p>
          <a:p>
            <a:r>
              <a:t>【講義補充】</a:t>
            </a:r>
          </a:p>
          <a:p>
            <a:r>
              <a:t>- 這張延續前一張「題獻／年金」的主軸：一份真心的贊助，不是一時的煙火，而是一段會世世代代傳下去的迴響；三位知音兩百年前的心意，至今仍替他們的姓氏、也替今日的冠名企業，年年響起。</a:t>
            </a:r>
          </a:p>
          <a:p>
            <a:r>
              <a:t>- 三位藝術贊助者與金額（呼應講稿「三位知音的那份心意」）：1809 年 3 月 1 日在維也納簽訂的《年金合約》，由魯道夫大公（Archduke Rudolph）、金斯基親王（Ferdinand Kinsky）、洛布科維茨親王（Franz Joseph Lobkowitz）共同承諾，每年支付貝多芬（Ludwig van Beethoven）四千弗羅林（florin）終身年金；三人分攤為魯道夫一千五百、金斯基一千八百、洛布科維茨七百弗羅林（據 Beethoven-Haus）。</a:t>
            </a:r>
          </a:p>
          <a:p>
            <a:r>
              <a:t>- 這筆年金的來龍去脈：1808 年拿破崙之弟、西發里亞國王熱羅姆·波拿巴（Jérôme Bonaparte）以年薪六百杜卡特（ducat）延攬貝多芬赴卡塞爾（Kassel）任宮廷樂長；三位知音為把他留在維也納，聯手獻上終身年金，唯一附帶條件是「不得擅離奧地利」。</a:t>
            </a:r>
          </a:p>
          <a:p>
            <a:r>
              <a:t>- 名字如何流傳：魯道夫大公既是知音、亦是入室弟子，情誼最深，獲題獻也最多——《第五號鋼琴協奏曲「皇帝」》、鋼琴三重奏「大公」、《莊嚴彌撒》等皆獻於他——姓氏因此永久刻進音樂史，兩百年後每場演出仍被唸出，這正是「迴響」二字的本意。</a:t>
            </a:r>
          </a:p>
          <a:p>
            <a:r>
              <a:t>- 這份成全孕育的傑作：《第九號交響曲》1824 年 5 月 7 日在維也納肯特納門劇院（Kärntnertortheater）首演，是史上第一次把人聲合唱寫進交響曲的最後樂章，唱的就是〈歡樂頌〉。</a:t>
            </a:r>
          </a:p>
          <a:p>
            <a:r>
              <a:t>- 迴響的第一條路線（歐洲）：貝多芬的〈歡樂頌〉旋律（採用的是旋律、非席勒的歌詞）先於 1972 年 1 月 19 日被歐洲理事會（Council of Europe）定為「歐洲之歌」，再於 1985 年由歐洲共同體（今歐盟前身）各國元首正式採為盟歌——一段旋律，代表一整個歐洲。</a:t>
            </a:r>
          </a:p>
          <a:p>
            <a:r>
              <a:t>- 盟歌刻意「無歌詞」：官方版本只演奏旋律、不唱任何語言的詞，以免獨厚某一種歐洲語言；官方三種改編（管弦樂、管樂、獨奏鋼琴）由指揮家卡拉揚（Herbert von Karajan）操刀並灌錄，為這段旋律留下了典範的定本。</a:t>
            </a:r>
          </a:p>
          <a:p>
            <a:r>
              <a:t>- 迴響的第二條路線（日本）：《第九》在亞洲的首次全曲演出，是 1918 年 6 月 1 日德國戰俘在德島「板東俘虜收容所」（今鳴門市）唱出的；此後逐漸演變成日本全民的年末合唱儀式，暱稱「第九（Daiku，日文即『第九』）」，年底幾萬人齊唱成為固定風景。</a:t>
            </a:r>
          </a:p>
          <a:p>
            <a:r>
              <a:t>- 大阪「萬人第九」＝這段迴響在今日的模樣：1983 年起，每年 12 月第一個週日在大阪城音樂廳（Osaka-jo Hall）由約一萬名素人合唱《第九》終樂章；它源於大阪 21 世紀協會（1982 年成立）為「大阪築城四百年祭」策劃的核心活動。</a:t>
            </a:r>
          </a:p>
          <a:p>
            <a:r>
              <a:t>- 冠名者是誰：三得利（Suntory）時任社長佐治敬三（Keizo Saji）一肩扛下贊助，三得利自創辦起長年單一冠名（據日文維基，至 2014 年第 32 屆均由三得利獨家協贊），活動全名即冠上品牌；於是每年上萬人的歌聲裡，都有這個名字——正如兩百年前的題獻。</a:t>
            </a:r>
          </a:p>
          <a:p>
            <a:r>
              <a:t>- 呼應全片記憶點「共融」：第 1 至 16 屆（1983–1998）由作曲家山本直純（Yamamoto Naozumi）構成兼指揮，他把樂譜發給全場觀眾、讓一萬人在高潮處齊唱——「帶動唱」式的全民共融，與冠名企業的名字一同寫進了這座城市的歲末記憶。</a:t>
            </a:r>
          </a:p>
          <a:p>
            <a:r>
              <a:t>- 給企業的一句話結論：你留下的不是一時的掌聲，而是跨世紀的迴響——當年的題獻讓姓氏傳了兩百年，今日的冠名，也正讓企業之名年年在萬人歌聲中響起。</a:t>
            </a:r>
          </a:p>
          <a:p>
            <a:r>
              <a:t>- 📖 年金合約（Rentenvertrag／annuity）：定期（多為每年）支付固定金額給受贈者的長期契約；當時＝貴族與作曲家之間白紙黑字的長期約定，保證其收入穩定、安心創作，本例還是終身有效。</a:t>
            </a:r>
          </a:p>
          <a:p>
            <a:r>
              <a:t>- 📖 弗羅林／杜卡特（florin、Gulden／ducat）：弗羅林（又譯古爾登、盾）是當時奧地利與中歐通行的貨幣單位，四千弗羅林在 1809 年已是可讓人衣食無虞的年收入；杜卡特則是幣值更高的金幣，熱羅姆開的六百杜卡特是相當優渥的禮聘之數。</a:t>
            </a:r>
          </a:p>
          <a:p>
            <a:r>
              <a:t>- 📖 魯道夫大公（Archduke Rudolph，1788–1831）：奧地利皇室成員、貝多芬唯一的作曲學生兼最大贊助人；既是知音、亦是入室弟子，情誼最深，獲題獻也最多，後來升任紅衣主教，名字隨〈皇帝〉〈大公〉兩部傑作同傳於世。</a:t>
            </a:r>
          </a:p>
          <a:p>
            <a:r>
              <a:t>- 📖 金斯基親王、洛布科維茨親王（Ferdinand Kinsky／Franz Joseph Lobkowitz）：波希米亞的兩位貴族大地主，與魯道夫共同簽署年金合約；洛布科維茨自養私人樂團，也是貝多芬多部交響曲的贊助者。</a:t>
            </a:r>
          </a:p>
          <a:p>
            <a:r>
              <a:t>- 📖 席勒（Friedrich Schiller，1759–1805）：德國詩人兼劇作家，1785 年寫下頌詩〈快樂頌（An die Freude）〉，貝多芬取其詩句譜成《第九》終樂章的〈歡樂頌〉。</a:t>
            </a:r>
          </a:p>
          <a:p>
            <a:r>
              <a:t>- 📖 歐洲理事會（Council of Europe）：1949 年成立、總部設於史特拉斯堡的泛歐人權與文化組織，會員逾四十國，與「歐盟」是兩個不同機構；它才是 1972 年最早採用這段旋律的單位。</a:t>
            </a:r>
          </a:p>
          <a:p>
            <a:r>
              <a:t>- 📖 歐洲共同體（European Community）：歐盟（1993 年起改稱）的前身經濟暨政治共同體；1985 年由其各國元首把〈歡樂頌〉正式升格為官方盟歌。</a:t>
            </a:r>
          </a:p>
          <a:p>
            <a:r>
              <a:t>- 📖 卡拉揚（Herbert von Karajan，1908–1989）：二十世紀最具影響力的指揮家之一，長年執掌柏林愛樂；受託改編歐盟盟歌的官方三種樂器版本並錄製。</a:t>
            </a:r>
          </a:p>
          <a:p>
            <a:r>
              <a:t>- 📖 板東俘虜收容所（Bandō POW camp）：一次大戰後日本收容德國戰俘的營區（今德島縣鳴門市），以人道管理著稱，《第九》在亞洲的首次全曲演出即誕生於此。</a:t>
            </a:r>
          </a:p>
          <a:p>
            <a:r>
              <a:t>- 📖 三得利與佐治敬三（Suntory／Keizo Saji，1919–1999）：三得利是以威士忌、啤酒聞名的日本大型酒業飲料集團；第二任社長佐治敬三熱心藝文贊助，拍板長期支持「萬人第九」，品牌之名遂與這場全民盛事長久同在。</a:t>
            </a:r>
          </a:p>
          <a:p>
            <a:r>
              <a:t>- 📖 冠名贊助（title sponsorship）：企業出資，品牌名遂冠於活動或場館「正式名稱」之首；本例＝「三得利」三字與每年活動全名同在，是今日最常見的留名形式。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18｜藝術與企業締造的不朽之名～《郭德堡變奏曲》</a:t>
            </a:r>
          </a:p>
          <a:p/>
          <a:p>
            <a:r>
              <a:t>【講稿】（停留約 85 秒）接下來，請容我把今晚最珍貴的一件珍品，端到各位面前。有位俄國派駐薩克森的公使，凱瑟林克伯爵（Count Keyserlingk），長年為失眠所苦。相傳他託付巴赫，寫一組溫柔動聽的鍵盤曲，讓身邊一位年輕樂師，於夜裡輕輕彈給他聽，伴他度過漫漫長夜。這裡頭藏著兩件很美的事。其一，這是為一個人的一份需要，量身而寫的音樂——世上最講究的訂製，不過如此：不為滿座的廳堂，只為一位知音的長夜。其二，曲子明明出自巴赫之手，可兩百多年來，我們卻都親暱地喚它「郭德堡」——郭德堡（Goldberg），正是伯爵身邊那位樂師之名，因這部作品，永遠地被人記住了。一份私人的託付，就這樣留下了三百年的相伴。各位，這組曲子，當年只在伯爵的寢室裡響起——那是全世界最小的音樂廳，一晚只為一位聽眾。三百年後的今晚，它為各位而奏。就請各位以最從容的心，聆聽開頭這段詠嘆調（Aria）——今日的主打聆聽第一首。</a:t>
            </a:r>
          </a:p>
          <a:p>
            <a:r>
              <a:t>【講義補充】</a:t>
            </a:r>
          </a:p>
          <a:p>
            <a:r>
              <a:t>- 這位藝術贊助者全名凱瑟林克伯爵（Count Hermann Carl von Keyserlingk，1697–1764），出身波羅的海德意志貴族（庫爾蘭／瑟米加利亞），是俄羅斯帝國派駐薩克森選帝侯宮廷（德勒斯登與華沙）的常任公使，一路做到過世；他不是路過的貴客，而是在德勒斯登住了半生的知音——這樣長年的相伴與託付，份外深厚。</a:t>
            </a:r>
          </a:p>
          <a:p>
            <a:r>
              <a:t>- 這段知遇還有前情：1733 年巴赫將《b 小調彌撒》的〈垂憐經〉與〈榮耀經〉鄭重呈獻德勒斯登宮廷；1736 年 11 月 19 日，因凱瑟林克從中斡旋施力，巴赫獲薩克森選帝侯兼波蘭國王腓特烈．奧古斯特二世（即奧古斯特三世）頒授「宮廷作曲家」（Hofcompositeur）名銜。一位知音的成全，往往不止於一紙委託，更在於處處為你敞開大門。</a:t>
            </a:r>
          </a:p>
          <a:p>
            <a:r>
              <a:t>- 對照前面幾站的贊助模式——梅迪奇之於歌劇、埃斯特哈齊之於海頓——凱瑟林克示範的是「知遇型贊助」：出資只是一部分，替藝術家引薦、向王室鄭重背書，是更深的一份成全。</a:t>
            </a:r>
          </a:p>
          <a:p>
            <a:r>
              <a:t>- 據福克爾（Johann Nikolaus Forkel）1802 年記載，伯爵事後回贈巴赫「一只裝滿一百枚金路易（Louis d'or）的金杯」，並補一句：就算禮物再大一千倍，也抵不上這部作品的藝術價值；此金額出自單一來源、與委託故事同屬傳說範圍，宜當軼事看待。</a:t>
            </a:r>
          </a:p>
          <a:p>
            <a:r>
              <a:t>- 全曲於 1741 年由紐倫堡出版商巴爾塔薩．施密特（Balthasar Schmid）刊行，原名並非「郭德堡」，而是《鍵盤練習曲》（Clavier-Übung）第四部，副題「一段詠嘆調與其多樣變奏，為雙層鍵盤大鍵琴而作」；結構是一段主題詠嘆調＋三十段變奏＋結尾主題原樣再現，每隔三段安排一首卡農，工整到近乎建築——這種「為一人量身而寫」的講究，正是講稿要各位聽出的第一個重點。</a:t>
            </a:r>
          </a:p>
          <a:p>
            <a:r>
              <a:t>- 首版扉頁上沒有任何題獻（既無伯爵名、也無郭德堡名），這正是學界懷疑委託故事的關鍵證據之一：若真是伯爵出資委託，按當時慣例必會鄭重把作品題獻給藝術贊助者；反過來說，這也讓這段留名更耐人尋味——名分不在扉頁，而在後世兩百多年的口耳相傳裡。</a:t>
            </a:r>
          </a:p>
          <a:p>
            <a:r>
              <a:t>- 曲名裡的「郭德堡」指的是約翰．哥特利布．郭德堡（Johann Gottlieb Goldberg，1727–1756），伯爵府裡供養的年輕鍵盤好手、巴赫的學生，1741 年他頂多約十四歲：只因名字與這部作品相繫，就被全世界記了兩百多年，這正是講稿第二個重點「名字的緣分」最動人的範例。</a:t>
            </a:r>
          </a:p>
          <a:p>
            <a:r>
              <a:t>- 出資者身邊人的名字，因一部不屬於他、卻與他相連的作品而不朽。</a:t>
            </a:r>
          </a:p>
          <a:p>
            <a:r>
              <a:t>- 失眠委託故事出自福克爾 1802 年巴赫傳記，屬傳說性質（首版無題獻、哥德堡當時僅約十四歲、成書時距事件已逾六十年）；「領導者最適合聆聽」為講座定位詮釋，非醫療療效宣稱。</a:t>
            </a:r>
          </a:p>
          <a:p>
            <a:r>
              <a:t>- 📖 選帝侯（Kurfürst／Elector）：神聖羅馬帝國中少數有權選舉皇帝的諸侯，地位極高；當時的薩克森選帝侯＝腓特烈．奧古斯特二世，同時兼任波蘭國王奧古斯特三世，德勒斯登即其宮廷所在，凱瑟林克就是派駐這座宮廷的俄國公使。</a:t>
            </a:r>
          </a:p>
          <a:p>
            <a:r>
              <a:t>- 📖 宮廷作曲家（Hofcompositeur／Court Composer）：宮廷授予音樂家的榮譽官銜，＝王室鄭重的背書，讓巴赫之名自此更添分量；1736 年，因凱瑟林克之力，名銜終於頒下。</a:t>
            </a:r>
          </a:p>
          <a:p>
            <a:r>
              <a:t>- 📖 金路易（Louis d'or）：法國通行的金幣，得名自法王路易十三，＝當時歐洲跨國流通的高面額硬通貨；一百枚金路易在十八世紀是相當可觀的一筆賞金。</a:t>
            </a:r>
          </a:p>
          <a:p>
            <a:r>
              <a:t>- 📖 雙層鍵盤大鍵琴（Cembalo mit 2 Manualen／two-manual harpsichord）：以撥弦發聲的巴洛克主力鍵盤樂器，本曲特別指定有上下兩排鍵盤的高階型號，＝方便雙手交叉演奏、也是富貴人家才擺得起的貴重家當。</a:t>
            </a:r>
          </a:p>
          <a:p>
            <a:r>
              <a:t>- 📖 鍵盤練習曲（Clavier-Übung）：巴赫親自命名、分批自費出版的鍵盤曲集總標題，＝供行家自修、也讓作曲家之名傳於世的「作品集」；郭德堡變奏曲是這套的第四部（1741）。</a:t>
            </a:r>
          </a:p>
          <a:p>
            <a:r>
              <a:t>- 📖 變奏曲（Variation／Variazione）：以一段主題為本，反覆改寫其和聲、節奏與織體而成的曲式，＝同一素材的三十種變身，用來展示作曲家的巧思與技術含量。</a:t>
            </a:r>
          </a:p>
          <a:p>
            <a:r>
              <a:t>- 📖 卡農（Canon）：一個聲部先起、其他聲部依固定音程與時差模仿追趕的嚴格對位手法（童謠〈兩隻老虎〉即最簡單的卡農）；本曲每第三段變奏就是一首卡農，模仿音程從同度一路擴大到九度。</a:t>
            </a:r>
          </a:p>
          <a:p>
            <a:r>
              <a:t>- 📖 詠嘆調（Aria，義大利文原意「曲調、空氣」）：此處指全曲開頭那段主題旋律，經三十段變奏後於結尾以「Aria da Capo」（da Capo＝從頭再奏）原樣再現，首尾呼應、圓滿收束。</a:t>
            </a:r>
          </a:p>
          <a:p>
            <a:r>
              <a:t>- 📖 福克爾（Johann Nikolaus Forkel，1749–1818）：巴赫的第一位傳記作者，1802 年出版德語巴赫傳；失眠委託與金杯故事都出自此書，寫作時距事件已逾一甲子，且多經巴赫兒子輾轉轉述，故細節可信度有限，屬珍貴卻須存疑的軼事來源。</a:t>
            </a:r>
          </a:p>
          <a:p>
            <a:r>
              <a:t>【影片操作】 播《郭德堡變奏曲》Aria 約 3 分鐘。播前：「請各位想像：當年這音樂只在伯爵的寢室裡響起——今晚，它為您一人而奏。」</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19｜藝術與企業締造的不朽之名～郭德堡其人</a:t>
            </a:r>
          </a:p>
          <a:p/>
          <a:p>
            <a:r>
              <a:t>【講稿】（停留約 60 秒）這部作品的名字背後，藏著一則很有人情味的故事。出資的，是俄國派駐薩克森的凱瑟林克伯爵，長年為失眠所苦。相傳他託巴赫寫一組溫柔的鍵盤曲，讓身邊一位年輕樂師，於夜裡彈給他聽、伴他入眠。可各位是否留意到了——這部曲子，後來卻不喚作「凱瑟林克」，而喚作「郭德堡」。郭德堡是誰呢？是伯爵府中那位約莫十四歲的年輕鍵盤手，巴赫的學生。於是，最動人的一幕就這樣發生了：出資的伯爵，自己未曾留下名字；反倒是他身邊那位日夜相伴的樂師，因為這部不屬於他、卻與他緊緊相繫的作品，被全世界記了兩百多年。各位看，名字的緣分，就是這樣奇妙——一份成全出了手，有時候，連身邊人的名字，都一同化作了不朽。</a:t>
            </a:r>
          </a:p>
          <a:p>
            <a:r>
              <a:t>【講義補充】</a:t>
            </a:r>
          </a:p>
          <a:p>
            <a:r>
              <a:t>- 藝術贊助者全名凱瑟林克伯爵（Count Hermann Carl von Keyserlingk，1697–1764），俄羅斯帝國派駐薩克森選帝侯宮廷（德勒斯登）的常任公使；他不是路過的貴客，而是在德勒斯登住了半生的知音——這樣長年的相伴與託付，份外深厚。</a:t>
            </a:r>
          </a:p>
          <a:p>
            <a:r>
              <a:t>- 曲名裡的「郭德堡」指約翰·哥特利布·郭德堡（Johann Gottlieb Goldberg，1727–1756），伯爵府裡供養的年輕鍵盤好手、巴赫的學生，1741 年他頂多約十四歲——藝術贊助者投入財富養的一名家臣樂師，只因名字與這部作品相繫，被全世界記了兩百多年。</a:t>
            </a:r>
          </a:p>
          <a:p>
            <a:r>
              <a:t>- 首版扉頁其實沒有任何題獻（既無伯爵名、也無郭德堡名）：全曲 1741 年由紐倫堡出版商施密特（Balthasar Schmid）刊行，原名《鍵盤練習曲》（Clavier-Übung）第四部；這也是學界懷疑「委託故事」的關鍵證據之一。</a:t>
            </a:r>
          </a:p>
          <a:p>
            <a:r>
              <a:t>- 失眠委託故事出自福克爾（Johann Nikolaus Forkel）1802 年的巴赫傳記，屬傳說性質（首版無題獻、郭德堡當時僅約十四歲、成書時距事件已逾六十年）；宜當珍貴軼事看待、講稿以「相傳」帶過。</a:t>
            </a:r>
          </a:p>
          <a:p>
            <a:r>
              <a:t>- 更深一層的知遇：據載凱瑟林克曾替巴赫斡旋，促成他 1736 年獲薩克森選帝侯頒「宮廷作曲家」（Hofcompositeur）名銜——一位知音的成全，往往不止於一紙委託，更在於處處為你敞開大門。</a:t>
            </a:r>
          </a:p>
          <a:p>
            <a:r>
              <a:t>- 📖 凱瑟林克伯爵（Count Keyserlingk）：俄國駐薩克森公使、巴赫的贊助者與引薦人；他出資委託卻未留名於曲名，正是「名字的緣分」最耐人尋味的一則。</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20｜藝術與企業締造的不朽之名～凱瑟林伯爵的知遇</a:t>
            </a:r>
          </a:p>
          <a:p/>
          <a:p>
            <a:r>
              <a:t>【講稿】（停留約 60 秒）郭德堡這個故事，還有一段後話，我特別想說給各位聽。這位凱瑟林克伯爵，給巴赫的，其實遠不只是一紙委託——更難得的，是一份長長的知遇。各位可知道，「宮廷作曲家」是王室能給一位音樂家最鄭重的名銜；正是這位伯爵從中斡旋，1736 年，這份名銜終於頒到了巴赫身上。這件事的分量，不言可喻：一紙王室頒授的名銜，讓巴赫的名字，自此更添一份鄭重。所以說到底，一位頂級的知音，最珍貴之處，往往不在他奉上的那筆財富，而在他打從心底敬重你，願意為你引薦、為你背書，把一扇又一扇的門，輕輕地為你敞開。這，便是「知遇」二字，最溫暖的模樣。</a:t>
            </a:r>
          </a:p>
          <a:p>
            <a:r>
              <a:t>【講義補充】</a:t>
            </a:r>
          </a:p>
          <a:p>
            <a:r>
              <a:t>- 藝術贊助者先前早已替巴赫「辦成一件大事」：1733 年巴赫將《b 小調彌撒》的〈垂憐經〉與〈榮耀經〉鄭重呈獻德勒斯登宮廷；1736 年 11 月 19 日，因凱瑟林克從中斡旋施力，巴赫獲薩克森選帝侯兼波蘭國王腓特烈·奧古斯特二世頒授「宮廷作曲家」（Hofcompositeur）名銜。</a:t>
            </a:r>
          </a:p>
          <a:p>
            <a:r>
              <a:t>- 這個頭銜為什麼重要：它＝王室鄭重的背書，讓巴赫之名自此更添分量；1736 年，因凱瑟林克之力，名銜終於頒下。</a:t>
            </a:r>
          </a:p>
          <a:p>
            <a:r>
              <a:t>- 對照前面幾站的贊助模式——梅迪奇之於歌劇、埃斯特哈齊之於海頓——凱瑟林克示範的是「知遇型贊助」：出資只是一部分，替藝術家引薦、向王室鄭重背書，是更深的一份成全。</a:t>
            </a:r>
          </a:p>
          <a:p>
            <a:r>
              <a:t>- 據福克爾（Forkel）記載，伯爵事後還回贈巴赫一只裝滿一百枚金路易（Louis d'or）的金杯（此金額出自單一來源、與委託故事同屬傳說範圍，宜當軼事看待）。</a:t>
            </a:r>
          </a:p>
          <a:p>
            <a:r>
              <a:t>- 給企業的一句話：真正的知音，奉上的從不只是那筆財富，更是一扇又一扇願意為你敞開的門。</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21｜藝術與企業締造的不朽之名～葛雷夫勒女伯爵</a:t>
            </a:r>
          </a:p>
          <a:p/>
          <a:p>
            <a:r>
              <a:t>【講稿】（停留約 65 秒）接下來這位藝術贊助者，請容我鄭重引見——葛雷夫勒女伯爵。她是巴黎社交圈眾人心中的「女王」，以絕世的美貌與品味聞名；她的夫家，是當時法國最富有的銀行世家之一；而讓整個巴黎折服的，是她自己的品味與眼光。當佛瑞還只是一位在困頓中前行的年輕作曲家時，是她，牽著他的手，走進了巴黎最高的社交圈，請他出任自己沙龍的音樂總監。佛瑞感念到什麼地步呢？他逕自稱這位女伯爵，是自己的「巴伐利亞國王」——也就是我們方才提過、那位傾心供養華格納的路德維希二世。而她的溫暖與眼光，遠不只落在佛瑞一人身上：她將華格納正式引進法國、成全俄羅斯芭蕾舞團一場又一場的首演，甚至資助居禮夫人的鐳研究。各位看，一位真正的知音，那份溫暖，是無所不及的。</a:t>
            </a:r>
          </a:p>
          <a:p>
            <a:r>
              <a:t>【講義補充】</a:t>
            </a:r>
          </a:p>
          <a:p>
            <a:r>
              <a:t>- 完整身分：伊麗莎白·葛雷夫勒（Élisabeth Greffulhe，本姓 de Riquet de Caraman-Chimay，1860–1952），出身古老貴族，被稱為巴黎福布爾聖日耳曼區沙龍的「女王」，以絕世美貌與品味聞名。</a:t>
            </a:r>
          </a:p>
          <a:p>
            <a:r>
              <a:t>- 夫家的家世：丈夫亨利·葛雷夫勒伯爵（1848–1932）出身比利時銀行世家，據載是當時法國最富有的男子之一——雄厚的家底，與她本人的品味眼光，一同成全了她為音樂家開路的一雙手。</a:t>
            </a:r>
          </a:p>
          <a:p>
            <a:r>
              <a:t>- 與佛瑞的相遇（1887）：她結識佛瑞、邀他到迪耶普（Dieppe）海崖別墅作客，佛瑞旋即替她在巴黎 rue d'Astorg 8 號的沙龍籌辦音樂會，等於成了她沙龍的音樂總監。</a:t>
            </a:r>
          </a:p>
          <a:p>
            <a:r>
              <a:t>- 佛瑞稱她是自己的「巴伐利亞國王」（roi de Bavière）：直接把她比作傾注財富供養華格納的路德維希二世，等於公開承認「她之於我，就是華格納之於那位國王」。</a:t>
            </a:r>
          </a:p>
          <a:p>
            <a:r>
              <a:t>- 影響力全方位：她創辦並主持「法國大型音樂會社」（1890–1913）、把《諸神的黃昏》《崔斯坦與伊索德》引進法國首演、是狄亞吉列夫（Diaghilev）俄羅斯芭蕾舞團的重要藝術贊助者（促成《春之祭》1913 首演），甚至資助居禮夫人的鐳研究與布朗利的無線電研究（據 Wikipedia）。</a:t>
            </a:r>
          </a:p>
          <a:p>
            <a:r>
              <a:t>- 📖 葛雷夫勒女伯爵：多少藝術家經她的門走進巴黎上流圈、多少傑作因她得以被聽見——她是以品味與地位為藝術開門的典型贊助者；普魯斯特以她為藍本，塑造出《追憶似水年華》的蓋爾芒特公爵夫人。</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22｜藝術與企業締造的不朽之名～佛瑞《帕凡舞曲》</a:t>
            </a:r>
          </a:p>
          <a:p/>
          <a:p>
            <a:r>
              <a:t>【講稿】（停留約 75 秒）不朽之名這一樣，也有一位女性知音，示範得格外動人。法國作曲家佛瑞（Fauré）還年輕、尚未成名之時，是這位葛雷夫勒女伯爵（Comtesse Greffulhe），把他牽進了巴黎最高的社交圈。佛瑞最美的一首《帕凡舞曲》（Pavane），正是為她的沙龍而寫、題獻於她的。各位且看這段相知，有多麼美：女伯爵敞開了門、給了舞台；而佛瑞——還有後來把她寫進小說的大文豪普魯斯特——讓這位女伯爵的名字，永遠被後世記得。這便是藝術最溫柔的地方：出資的人，因藝術，被世界溫柔地記住。而這樣的「不朽」，一旦寫成，便再也奪不走。現在，就請各位一同聆聽這首——為她而寫的《帕凡舞曲》。</a:t>
            </a:r>
          </a:p>
          <a:p>
            <a:r>
              <a:t>【講義補充】</a:t>
            </a:r>
          </a:p>
          <a:p>
            <a:r>
              <a:t>- 葛雷夫勒女伯爵（Comtesse Greffulhe）在佛瑞（Gabriel Fauré）還是掙扎中的年輕作曲家時，把他引進巴黎最高社交圈；佛瑞最著名的《帕凡舞曲》（Pavane, Op.50，1887）題獻給她，是這段贊助關係的結晶。</a:t>
            </a:r>
          </a:p>
          <a:p>
            <a:r>
              <a:t>- 這位藝術贊助者的完整身分：瑪麗·阿納托爾·路易絲·伊麗莎白·葛雷夫勒（Marie Anatole Louise Élisabeth Greffulhe，本姓 de Riquet de Caraman-Chimay，1860–1952），出身古老貴族，被稱為巴黎福布爾聖日耳曼區沙龍的「女王」，本身即以絕世美貌與品味聞名。</a:t>
            </a:r>
          </a:p>
          <a:p>
            <a:r>
              <a:t>- 夫家的家世：丈夫亨利·葛雷夫勒伯爵（Henri, Comte Greffulhe，1848–1932）出身比利時銀行世家，據載是當時法國最富有的男子之一；兩人於 1878 年成婚。雄厚的家底，與她本人的品味眼光，一同成全了她為音樂家開路的一雙手。</a:t>
            </a:r>
          </a:p>
          <a:p>
            <a:r>
              <a:t>- 相遇的時間點很清楚：1887 年女伯爵結識佛瑞，並邀他到迪耶普（Dieppe）海崖上的避暑別墅作客；佛瑞旋即開始替她在巴黎 rue d'Astorg 8 號的沙龍籌辦音樂會，等於成了她沙龍的音樂總監。</a:t>
            </a:r>
          </a:p>
          <a:p>
            <a:r>
              <a:t>- 佛瑞感激之餘，稱女伯爵是他的「巴伐利亞國王」（roi de Bavière）——直接把她比作當年傾注財富供養華格納（Richard Wagner）的路德維希二世（Ludwig II），等於公開承認：她之於我，就是華格納之於那位國王。這正呼應全片一再出現的「藝術贊助者造就作曲家」主題。</a:t>
            </a:r>
          </a:p>
          <a:p>
            <a:r>
              <a:t>- 這段相知的兩端：女伯爵奉上的是財富、機會與舞台；歲月留下的，是佛瑞的題獻、與大文豪普魯斯特（Marcel Proust）筆下的小說——名字被兩種藝術同時保存，永久流傳。這是藝術最溫柔的成全。</a:t>
            </a:r>
          </a:p>
          <a:p>
            <a:r>
              <a:t>- 題獻之外，更成一場盛事：女伯爵於 1891 年 7 月 21 日在布洛涅森林（Bois de Boulogne）湖中小島上舉辦夜宴，依佛瑞的構想以「看不見的樂團」演奏《帕凡》；並且是她本人建議加入隱形合唱團與舞者，歌詞則出自她的表兄蒙德斯鳩（Robert de Montesquiou）。藝術贊助者不只出資，還親自參與作品的呈現方式。</a:t>
            </a:r>
          </a:p>
          <a:p>
            <a:r>
              <a:t>- 《帕凡》的公開首演亦有最好的安排：管弦樂版於 1888 年 11 月 25 日由指揮拉穆勒（Charles Lamoureux）在其 Concert Lamoureux 系列首演，三天後含合唱的版本在國民音樂協會（Société nationale de musique）登場。</a:t>
            </a:r>
          </a:p>
          <a:p>
            <a:r>
              <a:t>- 這位女伯爵遠不只贊助佛瑞一人：她於 1890 年創辦並親自主持「法國大型音樂會社」（Société des Grandes Auditions Musicales de France，1890–1913），宗旨是把乏人問津的歌劇傑作搬上舞台，資金來自包括埃德蒙·德·波利尼亞克親王（Prince Edmond de Polignac）在內的富裕贊助者。</a:t>
            </a:r>
          </a:p>
          <a:p>
            <a:r>
              <a:t>- 她把華格納正式引進法國：據載主辦了《諸神的黃昏》（Götterdämmerung）的法國首演（1902 年 5 月 17 日），以及多場《崔斯坦與伊索德》（Tristan und Isolde）演出——多少傑作，因她得以在法國被聽見。</a:t>
            </a:r>
          </a:p>
          <a:p>
            <a:r>
              <a:t>- 她的贊助一路延伸到二十世紀前衛藝術：據載她是狄亞吉列夫（Sergei Diaghilev）俄羅斯芭蕾舞團（Ballets Russes）的重要藝術贊助者，並促成史特拉汶斯基（Igor Stravinsky）《春之祭》（The Rite of Spring）於 1913 年 5 月的首演。</a:t>
            </a:r>
          </a:p>
          <a:p>
            <a:r>
              <a:t>- 她的「藝術贊助者」角色甚至跨出藝術界：據 Wikipedia，她也資助居禮夫人（Marie Curie）的鐳研究院，以及物理學家布朗利（Édouard Branly）的無線電研究——說明頂級贊助者的影響力是全方位的。</a:t>
            </a:r>
          </a:p>
          <a:p>
            <a:r>
              <a:t>- 最終留下的：財富會用盡、莊園會易主，但佛瑞給了她音樂上的不朽、普魯斯特給了她文學上的不朽。同一位知音，被兩種藝術牢牢記住——這就是「因藝術而不朽」的實例。</a:t>
            </a:r>
          </a:p>
          <a:p>
            <a:r>
              <a:t>- 📖 帕凡舞曲（Pavane）：16 世紀歐洲宮廷的緩慢二拍行列舞曲，貴族踩著莊重步伐列隊而行（詞源一說來自義大利帕多瓦 Padova、一說來自拉丁文孔雀 pavo）；佛瑞借這個古舞之名寫成 Op.50，是一首懷古而優雅的管弦小品，題獻給贊助者女伯爵。</a:t>
            </a:r>
          </a:p>
          <a:p>
            <a:r>
              <a:t>- 📖 葛雷夫勒女伯爵（Comtesse Greffulhe）：Comtesse 即法文「伯爵夫人」；多少藝術家經她的門走進巴黎上流圈、多少傑作因她得以被聽見——她是以品味與地位為藝術開門的典型贊助者。</a:t>
            </a:r>
          </a:p>
          <a:p>
            <a:r>
              <a:t>- 📖 沙龍（salon）：當時＝上流貴婦在自家客廳定期舉辦的社交聚會，集文人、音樂家、畫家、政要於一堂；沒有售票、沒有海報，卻是多少傑作獲得知音與首演的殿堂；女主人以品味相中誰、成全誰，等於一場又一場相知的牽成者。</a:t>
            </a:r>
          </a:p>
          <a:p>
            <a:r>
              <a:t>- 📖 福布爾聖日耳曼（Faubourg Saint-Germain）：巴黎塞納河左岸的老貴族聚居區，當時＝法國最頂層舊貴族的地盤，是社交聲望的最高地址，女伯爵的沙龍即坐落於此圈子。</a:t>
            </a:r>
          </a:p>
          <a:p>
            <a:r>
              <a:t>- 📖 題獻（dedication）：在樂譜扉頁把作品「獻給」某人；當時＝作曲家向藝術贊助者致意、表達敬重的正式方式，被題獻者的名字因此與作品相繫，隨作品流傳後世。</a:t>
            </a:r>
          </a:p>
          <a:p>
            <a:r>
              <a:t>- 📖 巴伐利亞國王／路德維希二世（Ludwig II of Bavaria，1845–1886）：狂熱迷戀華格納、傾國庫供養其歌劇與拜羅伊特劇院的德意志君主，是音樂史上傾盡所有的藝術贊助者代名詞；佛瑞用他來比喻女伯爵，是把她抬到「華格納級藝術贊助者」的高度。</a:t>
            </a:r>
          </a:p>
          <a:p>
            <a:r>
              <a:t>- 📖 蒙德斯鳩（Robert de Montesquiou，1855–1921）：女伯爵的表兄，法國唯美主義象徵派詩人、收藏家與著名紈褲子弟（dandy），自封「美的教授」；他為《帕凡》合唱版寫了歌詞，也是普魯斯特筆下夏呂斯男爵（Baron de Charlus）與于斯曼小說主角的原型。</a:t>
            </a:r>
          </a:p>
          <a:p>
            <a:r>
              <a:t>- 📖 普魯斯特（Marcel Proust，1871–1922）：法國小說家，鉅著《追憶似水年華》（À la recherche du temps perdu，1913–1927 出版）；他以葛雷夫勒女伯爵為主要藍本，塑造出書中的蓋爾芒特公爵夫人（Duchesse de Guermantes），讓這位藝術贊助者在文學史上一併不朽。</a:t>
            </a:r>
          </a:p>
          <a:p>
            <a:r>
              <a:t>- 📖 作品編號（Op.／opus）：opus 為拉丁文「作品」，Op. 後的數字是作曲家依創作或出版順序給作品的編號；《帕凡》為佛瑞的第 50 號作品，故記為 Op.50。</a:t>
            </a:r>
          </a:p>
          <a:p>
            <a:r>
              <a:t>【影片操作】 播佛瑞《帕凡舞曲》約 2 分鐘（開頭長笛主題）。播前：「聽一首曲子，如何讓一位贊助者不朽。」</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23｜藝術與企業締造的不朽之名～普魯斯特筆下的不朽</a:t>
            </a:r>
          </a:p>
          <a:p/>
          <a:p>
            <a:r>
              <a:t>【講稿】（停留約 65 秒）我們回到那位葛雷夫勒女伯爵，把「因藝術而不朽」這件事，好好說到底。一個名字，究竟能被藝術記得多深？佛瑞以一首《帕凡》題獻於她——這是第一次；而大文豪普魯斯特，又以一整部小說，將她妥妥地封存起來——這是第二次。普魯斯特以她為藍本，寫出了《追憶似水年華》裡那位氣派的「蓋爾芒特公爵夫人」，讓她成了文學史上的經典人物。而且，她還親身走進了創作：1891 年，她在布洛涅森林的湖中小島設下一場夜宴，親手替《帕凡》添上了「看不見的合唱團」與舞者——各位看，一位知音，也能是共同的創作者。歲月流轉，唯被作曲家題獻、被小說封存的名字，愈久愈亮、永遠奪不走。這，便是「因藝術而不朽」最完整、也最動人的樣子。</a:t>
            </a:r>
          </a:p>
          <a:p>
            <a:r>
              <a:t>【講義補充】</a:t>
            </a:r>
          </a:p>
          <a:p>
            <a:r>
              <a:t>- 兩種不朽：佛瑞把《帕凡舞曲》（Pavane, Op.50，1887）題獻給女伯爵；普魯斯特（Marcel Proust）再以她為主要藍本，塑造《追憶似水年華》（1913–1927）裡的蓋爾芒特公爵夫人（Duchesse de Guermantes）——同一位藝術贊助者，被音樂與文學同時保存。</a:t>
            </a:r>
          </a:p>
          <a:p>
            <a:r>
              <a:t>- 藝術贊助者也是「共同創作者」：據載女伯爵於 1891 年 7 月 21 日在布洛涅森林（Bois de Boulogne）湖中小島舉辦夜宴，依佛瑞構想以「看不見的樂團」演奏《帕凡》；並且是她本人建議加入隱形合唱團與舞者，歌詞出自她的表兄蒙德斯鳩（Robert de Montesquiou）。</a:t>
            </a:r>
          </a:p>
          <a:p>
            <a:r>
              <a:t>- 蒙德斯鳩本人也是文學原型：他是普魯斯特筆下夏呂斯男爵（Baron de Charlus）的原型——女伯爵的整個圈子，都被寫進了同一部小說。</a:t>
            </a:r>
          </a:p>
          <a:p>
            <a:r>
              <a:t>- 📖 普魯斯特（Marcel Proust，1871–1922）：法國小說家，鉅著《追憶似水年華》；投影片上的肖像由 Otto Wegener 約 1895 年拍攝（與前面女伯爵的名肖像同一位攝影師）。</a:t>
            </a:r>
          </a:p>
          <a:p>
            <a:r>
              <a:t>- 歲月最終留下的：財富會用盡、莊園會易主，但佛瑞給了她音樂上的不朽、普魯斯特給了她文學上的不朽——這就是本站「因藝術而不朽」的極致。</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24｜藝術與企業締造的不朽之名～梵谷與西奧</a:t>
            </a:r>
          </a:p>
          <a:p/>
          <a:p>
            <a:r>
              <a:t>【講稿】（停留約 70 秒）不朽之名的最後一則故事，格局最小，卻最教人動容。梵谷生前幾乎賣不出一幅畫。那麼，是誰撐住了他？是弟弟西奧——一位巴黎畫商——從 1882 年起，一個月、一個月地匯款，默默守著哥哥。最打動我的，是西奧親口說過的一句話：「我把給他的，看作他以工作掙得的。」各位聽——不是施捨，是敬重。是對一個人、一份才華，打從心底對等的敬重；也是一守，便是一生的長情。說到底，正是這樣一個人長年、不張揚的守候，成就了一位定義整個時代的大師。所以，我想請各位放下一個成見：當知音，未必要是豪門。梅迪奇，可以是一整個銀行王朝；也可以，只是一個打從心底相信家人的弟弟。這句話，願各位一路記到今天最後。</a:t>
            </a:r>
          </a:p>
          <a:p>
            <a:r>
              <a:t>【講義補充】</a:t>
            </a:r>
          </a:p>
          <a:p>
            <a:r>
              <a:t>- 這一站刻意把鏡頭對準「藝術贊助者」西奧：一位巴黎畫商，以長期、穩定、按月的守候，獨力成全了一位定義時代的大師——可見成全的關鍵從來不是財力大小，而是「長情」與「敬重」。</a:t>
            </a:r>
          </a:p>
          <a:p>
            <a:r>
              <a:t>- 西奧的心意，是敬重而非施捨：西奧約於 1885 年 6 月寫給母親的信中表示，他把給梵谷（Vincent van Gogh，1853–1890）的，看作他以工作掙得的；這正是本場一再強調的、對等的敬重的最佳注腳。</a:t>
            </a:r>
          </a:p>
          <a:p>
            <a:r>
              <a:t>- 兩人的默契很清楚：梵谷把畫寄給西奧，西奧可自由處置與販售——這不是單向的接濟，而是一段彼此託付的相守；梵谷本人也堅持把這筆財富當成「掙來的收入」看待。</a:t>
            </a:r>
          </a:p>
          <a:p>
            <a:r>
              <a:t>- 金額與時程：據梵谷博物館，自 1882 年起這筆匯款成為固定的按月支付，每月約 100–150 法郎（依梵谷居住地而略有增減），一路支撐到梵谷 1890 年 7 月辭世，幾乎貫穿他整個作畫生涯（他 1880 年才轉行認真作畫）。</a:t>
            </a:r>
          </a:p>
          <a:p>
            <a:r>
              <a:t>- 這筆財富有多重？據梵谷博物館，100 法郎約合 47–48 荷蘭盾，遠高於當時一名工廠工人養七口之家的月薪（約 32 盾）；換言之這是一份養得起一位職業藝術家的「薪水」，不是零花。</a:t>
            </a:r>
          </a:p>
          <a:p>
            <a:r>
              <a:t>- 這份守候孕育了什麼：十年間梵谷產出約 2,100 件作品（含約 860 幅油畫，且多數集中在最後兩年）——一整批日後光照時代的傑作，皆在一個人長年的守候中誕生。</a:t>
            </a:r>
          </a:p>
          <a:p>
            <a:r>
              <a:t>- 最難的歲月，由他一人相陪：梵谷生前公認只賣出一幅畫《紅葡萄園》（The Red Vineyard），1890 年在布魯塞爾以 400 法郎售予畫家兼收藏家安娜·波赫（Anna Boch）；那段無人聞問的漫長歲月，全由西奧一人默默相陪。</a:t>
            </a:r>
          </a:p>
          <a:p>
            <a:r>
              <a:t>- 投影片上的《星夜》（The Starry Night）正是這段相守歲月的產物：1889 年 6 月畫於聖雷米療養院，如今已成現代藝術的地標——西奧長年守候所孕育的最著名見證之一。</a:t>
            </a:r>
          </a:p>
          <a:p>
            <a:r>
              <a:t>- 西奧的「贊助」不只是家用匯款：他本業就在推新畫風，1886 年起在畫廊夾層陳列印象派作品（莫內、竇加、畢沙羅等），本身就是梵谷接觸最新藝術語言的橋。</a:t>
            </a:r>
          </a:p>
          <a:p>
            <a:r>
              <a:t>- 破除「藝術贊助者＝豪門」的迷思：對照本場前面登場的梅迪奇銀行王朝（Medici），這裡的藝術贊助者只是一個相信家人的弟弟——規模天差地遠，但「長期、對等」的機制卻一模一樣。</a:t>
            </a:r>
          </a:p>
          <a:p>
            <a:r>
              <a:t>- 迴響在身後方才綻放：西奧比哥哥只多活半年（1891 年 1 月辭世），讓「無人問津」化作「無價」的關鍵推手，是西奧遺孀喬安娜——她整理畫作、編輯出版兄弟書信並持續借展推廣，讓這份守候在身後開花結果。</a:t>
            </a:r>
          </a:p>
          <a:p>
            <a:r>
              <a:t>- 📖 西奧·梵谷（Theo van Gogh，1857–1891）：文森·梵谷的弟弟、本場的「藝術贊助者」；巴黎畫商，古庇公司巴黎分店經理，是哥哥終生唯一固定的出資者與精神支柱，兩人往來書信也成為研究梵谷的第一手史料。</a:t>
            </a:r>
          </a:p>
          <a:p>
            <a:r>
              <a:t>- 📖 古庇公司／布索-瓦拉東公司（Goupil &amp; Cie ／ Boussod, Valadon &amp; Cie）：西奧任職的巴黎大畫商，巴黎分店位於蒙馬特大道 19 號（19 Boulevard Montmartre）；當時＝橫跨歐美的頂級藝術品經銷與複製版畫帝國，主店於 1884 年改名 Boussod, Valadon &amp; Cie，西奧即在此檯面下推銷印象派。</a:t>
            </a:r>
          </a:p>
          <a:p>
            <a:r>
              <a:t>- 📖 法郎與荷蘭盾（franc ／ guilder）：分別是當時法國與荷蘭通行的貨幣；此處用來換算西奧匯款的實質購買力——每月百餘法郎相當於一份中上收入，說明這是「養得起一位藝術家」的資助，而非可有可無的零用。</a:t>
            </a:r>
          </a:p>
          <a:p>
            <a:r>
              <a:t>- 📖 《星夜》（The Starry Night）：梵谷 1889 年 6 月於聖雷米療養院所繪的油畫，捲曲星空與前景絲柏是其招牌意象；被譽為西方藝術最知名的畫作之一。</a:t>
            </a:r>
          </a:p>
          <a:p>
            <a:r>
              <a:t>- 📖 聖保羅療養院（Saint-Paul-de-Mausole，位於普羅旺斯的聖雷米 Saint-Rémy-de-Provence）：梵谷 1889 年 5 月自願入住的療養院，前身是一座修道院；《星夜》即取景自他二樓病房東窗望出去的景致。</a:t>
            </a:r>
          </a:p>
          <a:p>
            <a:r>
              <a:t>- 📖 現代藝術博物館（MoMA，Museum of Modern Art）：位於紐約、1929 年創立的現代藝術重鎮；《星夜》自 1941 年入藏至今，是該館鎮館之作。</a:t>
            </a:r>
          </a:p>
          <a:p>
            <a:r>
              <a:t>- 📖 莉莉·布利斯遺贈（Lillie P. Bliss Bequest）：MoMA 由布利斯女士（Lillie P. Bliss）等贊助人於 1929 年共同創辦，她過世後留下的藝術收藏與遺產，1941 年促成《星夜》入藏——又是一則「贊助者成就名作歸宿」的例子。</a:t>
            </a:r>
          </a:p>
          <a:p>
            <a:r>
              <a:t>- 📖 《紅葡萄園》（The Red Vineyard）：梵谷 1888 年於法國南部阿爾（Arles）所繪，是他生前公認唯一以畫名記載、確實賣出的作品，今藏莫斯科普希金博物館（Pushkin State Museum of Fine Arts）。</a:t>
            </a:r>
          </a:p>
          <a:p>
            <a:r>
              <a:t>- 📖 安娜·波赫（Anna Boch，1848–1936）：比利時女畫家兼收藏家，前衛藝術團體「二十人展」成員；1890 年以 400 法郎購藏《紅葡萄園》，是梵谷生前唯一的購藏者，其兄尤金·波赫（Eugène Boch）亦是梵谷好友。</a:t>
            </a:r>
          </a:p>
          <a:p>
            <a:r>
              <a:t>- 📖 二十人展（Les XX，直譯「二十人」）：1883 至 1893 年活躍於布魯塞爾的前衛藝術家團體，每年辦沙龍並邀請國外新銳參展；梵谷生前唯一賣出的畫即在其 1890 年展中成交。</a:t>
            </a:r>
          </a:p>
          <a:p>
            <a:r>
              <a:t>- 📖 喬安娜·梵谷-邦格（Johanna van Gogh-Bonger，1862–1925）：西奧的妻子；兩兄弟相繼過世後，她保存整理梵谷畫作、編輯出版兩人書信並持續借展推廣，是梵谷身後聲名的關鍵推手，讓西奧一生的守候終得綻放。</a:t>
            </a:r>
          </a:p>
          <a:p>
            <a:r>
              <a:t>- 📖 印象派／後印象派（Impressionism ／ Post-Impressionism）：19 世紀後期的繪畫革新運動，前者重光線與瞬間印象（莫內、竇加），梵谷則屬承接其後、更重主觀情感與筆觸的「後印象派」；西奧正是這批新畫風重要的推手與經銷者。</a:t>
            </a:r>
          </a:p>
          <a:p>
            <a:r>
              <a:t>- 📖 梅迪奇（Medici）：15 至 16 世紀佛羅倫斯的銀行與政治王朝，本場稍早提到的「豪門級」藝術贊助典範；此處用來反襯——同樣是贊助，西奧的規模微小，情意卻同樣深長。</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25｜第四樣態：企業締造的聖地與冠名</a:t>
            </a:r>
          </a:p>
          <a:p/>
          <a:p>
            <a:r>
              <a:t>【講稿】（停留約 25 秒）我們來到第四種樣態，它最有氣派——聖地與冠名。企業出資築起一座殿堂，把自己的名字，輕輕刻進一座城市的天際線裡。往後幾十年，殿堂裡夜夜響起的樂音，都與這個名字同在；名字在，殿堂在，榮光便一直在。四百年來，多少企業家的名字，就這樣與音樂長相左右。</a:t>
            </a:r>
          </a:p>
          <a:p>
            <a:r>
              <a:t>【講義補充】</a:t>
            </a:r>
          </a:p>
          <a:p>
            <a:r>
              <a:t>- 第四樣態：聖地與冠名——出資築一座殿堂，把名字刻進一座城市的天際線；幾十年後，殿堂裡夜夜響起的樂音，仍與這個名字同在。</a:t>
            </a:r>
          </a:p>
          <a:p>
            <a:r>
              <a:t>- 這是最有氣派的一種樣態：殿堂日日矗立，名字就這樣鐫進石材與混凝土，與城市同壽。</a:t>
            </a:r>
          </a:p>
          <a:p>
            <a:r>
              <a:t>- 冠名（naming rights）：以自己或家族、企業之名為設施命名的傳統；今日職業運動場館、大學講堂、醫院大樓沿用的，正是同一份雅意。</a:t>
            </a:r>
          </a:p>
          <a:p>
            <a:r>
              <a:t>- 案例一 拜羅伊特節慶劇院（呼應浪漫站）：這是「一位藝術贊助者蓋一整座劇院、只為一位作曲家」的極端案例，出資者是巴伐利亞國王路德維希二世。1872 年 5 月 22 日（華格納 59 歲生日）奠基，1876 年 8 月 13 至 17 日以《尼貝龍根的指環》全本四部曲首演揭幕，開幕盛會連德皇威廉一世、巴西皇帝佩德羅二世與哲學家尼采都到場。</a:t>
            </a:r>
          </a:p>
          <a:p>
            <a:r>
              <a:t>- 據載路德維希二世 1874 年 1 月撥款十萬塔勒（Thaler），後又以四十萬馬克的信貸擔保工程完工；王室之外，華格納的巡演與各方募款，亦齊力玉成這座殿堂。歷史留下的是：一座至今每年仍以「拜羅伊特音樂節」之名運轉的音樂聖地，與這段知遇長相輝映。</a:t>
            </a:r>
          </a:p>
          <a:p>
            <a:r>
              <a:t>- 案例二 卡內基音樂廳（Carnegie Hall）：美國鋼鐵鉅子安德魯·卡內基出資（據載造價約一百一十萬美元），1891 年 5 月 5 日於紐約開幕，開幕週由俄國作曲家柴可夫斯基登台指揮（他的美國首演）。這是「冠名」二字最經典的教材。</a:t>
            </a:r>
          </a:p>
          <a:p>
            <a:r>
              <a:t>- 冠名軼事：此廳原名只叫「音樂廳」（Music Hall），1893 年董事會才說服卡內基同意冠上其名。直到今天，正立面仍留著「Music Hall founded by Andrew Carnegie」字樣——一個名字，與一百三十餘年來全球音樂家的夢想舞台同在。</a:t>
            </a:r>
          </a:p>
          <a:p>
            <a:r>
              <a:t>- 案例三 三得利音樂廳（Suntory Hall）：現代企業冠名的樣板。日本飲料與威士忌企業三得利出資興建，1986 年 10 月 12 日於東京赤坂開幕，據 Wikipedia 記載是為紀念其威士忌釀造 60 週年、啤酒釀造 20 週年。</a:t>
            </a:r>
          </a:p>
          <a:p>
            <a:r>
              <a:t>- 名家的讚語：指揮巨匠卡拉揚盛讚它是「音之寶石盒」（a jewel box of sound），並參與設計、建議採用如柏林愛樂廳的「葡萄園式」座位（觀眾環繞舞台）；1998 年廳前更闢「卡拉揚廣場」。這句出自大師之口的評語，從此與這座廳、與三得利之名一同傳誦。</a:t>
            </a:r>
          </a:p>
          <a:p>
            <a:r>
              <a:t>- 案例四 華特·迪士尼音樂廳（Walt Disney Concert Hall）：家族以逝者之名留下地標的範例。1987 年，華特·迪士尼的遺孀莉蓮·迪士尼捐出五千萬美元啟動興建，作為對亡夫的致敬，也作為送給洛杉磯市民的禮物。</a:t>
            </a:r>
          </a:p>
          <a:p>
            <a:r>
              <a:t>- 由建築名家法蘭克·蓋瑞設計，2003 年 10 月 23 日落成、可容 2,265 席，是洛杉磯愛樂（Los Angeles Philharmonic）的主場。從捐款到啟用歷時十六年——聖地從不速成；而一旦落成，迪士尼之名便與這座城市的文化中心永久同在。</a:t>
            </a:r>
          </a:p>
          <a:p>
            <a:r>
              <a:t>- 四座殿堂的共通點：出資者的名字（王室、鋼鐵大王、飲料集團、電影家族）都活得比當年任何一場演出更久；歲月不會磨蝕殿堂，只會讓那些名字更添光采。</a:t>
            </a:r>
          </a:p>
          <a:p>
            <a:r>
              <a:t>- 📖 冠名權（naming rights）：以自己或企業之名為建築、場館命名的禮遇；當時＝19 世紀末富豪把姓氏刻上音樂廳，今日＝企業之名冠於體育場、劇院、大樓，與建築同壽。</a:t>
            </a:r>
          </a:p>
          <a:p>
            <a:r>
              <a:t>- 📖 拜羅伊特節慶劇院（Bayreuth Festspielhaus）：德國拜羅伊特專為演出華格納歌劇而建的劇院，1876 年啟用；德文「Festspielhaus」意為「節慶劇院」，即專供音樂節使用的殿堂。</a:t>
            </a:r>
          </a:p>
          <a:p>
            <a:r>
              <a:t>- 📖 路德維希二世（Ludwig II of Bavaria，1845 至 1886）：巴伐利亞國王，華格納最大的王室藝術贊助者，也因大興新天鵝堡等宮殿而被稱「童話國王」；當時＝傾王室之力替一位作曲家蓋劇院的贊助者。</a:t>
            </a:r>
          </a:p>
          <a:p>
            <a:r>
              <a:t>- 📖 《尼貝龍根的指環》（Der Ring des Nibelungen）：華格納耗時約四分之一世紀完成的四部曲樂劇聯篇，拜羅伊特劇院即為其全本首演而建。</a:t>
            </a:r>
          </a:p>
          <a:p>
            <a:r>
              <a:t>- 📖 塔勒（Thaler）：19 世紀德語地區通行的大額銀幣，是馬克（Mark）統一通行前的貨幣單位；「十萬塔勒」在當時是興建劇院等級的鉅款。</a:t>
            </a:r>
          </a:p>
          <a:p>
            <a:r>
              <a:t>- 📖 安德魯·卡內基（Andrew Carnegie，1835 至 1919）：蘇格蘭裔美國鋼鐵大王，19 世紀末美國首富之一，晚年大舉捐建圖書館與音樂廳；當時＝以鋼鐵財富捐建文化殿堂、傳為冠名典範的代表人物。</a:t>
            </a:r>
          </a:p>
          <a:p>
            <a:r>
              <a:t>- 📖 柴可夫斯基（Pyotr Ilyich Tchaikovsky，1840 至 1893）：俄國作曲家，代表作有《天鵝湖》《1812 序曲》等；1891 年受邀為卡內基音樂廳開幕登台指揮，是其美國首演。</a:t>
            </a:r>
          </a:p>
          <a:p>
            <a:r>
              <a:t>- 📖 三得利（Suntory）：日本大型飲料與烈酒企業，以威士忌、啤酒聞名；當時＝以企業之名冠名音樂廳、讓這個名字與高雅音樂長相輝映的亞洲樣板。</a:t>
            </a:r>
          </a:p>
          <a:p>
            <a:r>
              <a:t>- 📖 卡拉揚（Herbert von Karajan，1908 至 1989）：奧地利指揮家，長年執掌柏林愛樂，20 世紀最具影響力的指揮之一；他一句「音之寶石盒」成了三得利音樂廳的金字招牌。</a:t>
            </a:r>
          </a:p>
          <a:p>
            <a:r>
              <a:t>- 📖 葡萄園式座位（vineyard-style seating）：觀眾席如梯田葡萄園般層層環繞舞台四周的音樂廳格局，柏林愛樂廳首創、三得利音樂廳沿用，兼顧音響與親近感。</a:t>
            </a:r>
          </a:p>
          <a:p>
            <a:r>
              <a:t>- 📖 莉蓮·迪士尼（Lillian Disney，1899 至 1997）：華特·迪士尼的遺孀，1987 年以五千萬美元捐款啟動迪士尼音樂廳；當時＝以捐建地標為亡夫立名的家族贊助者。</a:t>
            </a:r>
          </a:p>
          <a:p>
            <a:r>
              <a:t>- 📖 法蘭克·蓋瑞（Frank Gehry，1929 年生）：加拿大裔美國建築師，解構主義代表，以不鏽鋼曲面外觀聞名（如畢爾包古根漢美術館）；迪士尼音樂廳是其代表作之一。</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26｜企業締造的聖地與冠名～拜羅伊特音樂節</a:t>
            </a:r>
          </a:p>
          <a:p/>
          <a:p>
            <a:r>
              <a:t>【講稿】（停留約 85 秒）這個故事，說的是一位國王與一位作曲家，如何共同築起一座聖地。為一齣長達 14 小時的歌劇，築一座專屬的劇院——這近乎瘋狂的壯舉，是天文數字的工程。而華格納何其有幸，遇上了此生最深的知遇——1864 年，巴伐利亞國王路德維希二世。國王傾力相成，讓華格納親手築起拜羅伊特節慶劇院，連樂池都做成隱藏式、下沉的，只為讓觀眾全然沉浸在樂音之中。1876 年首屆音樂節，全歐洲的名流一同前來朝聖，連德意志皇帝都親臨在座。此後，德國一座原本默默無聞的小鎮拜羅伊特，從此化作全球樂迷心中的麥加、此生非去一趟不可的聖地；一百五十年來，這座殿堂的分量，只增不減。一位國王與一位作曲家，彼此成全，共同締造了一則傳世的傳奇。這也正呼應我們待會兒要談的企業提案第 3 點：把一座場館、一場音樂節，用心養成傳世的聖地——名字自會與它同在。</a:t>
            </a:r>
          </a:p>
          <a:p>
            <a:r>
              <a:t>【講義補充】</a:t>
            </a:r>
          </a:p>
          <a:p>
            <a:r>
              <a:t>- 這段知遇的兩位主角，是巴伐利亞國王路德維希二世（Ludwig II of Bavaria，1845–1886）與作曲家華格納（Richard Wagner，全名 Wilhelm Richard Wagner，1813–1883）；1864 年路德維希十八歲即位，登基幾週內便把華格納召到慕尼黑，1864 年 5 月 4 日兩人在慕尼黑王宮（Residenz）密談約一又四分之三小時，國王當場承諾替他清償鉅額債務、供養他、並包辦上演他所有計畫中的歌劇——史上「一次會面，便託付一生」的知遇。</a:t>
            </a:r>
          </a:p>
          <a:p>
            <a:r>
              <a:t>- 國王的知遇，先讓大作一部部問世：靠國王出資，《崔斯坦與伊索德》（Tristan und Isolde）於 1865 年 6 月 10 日在慕尼黑國家劇院首演，是華格納睽違近十五年的新歌劇；其後的《紐倫堡的名歌手》（Die Meistersinger von Nürnberg），以及日後在拜羅伊特首演的《尼伯龍根的指環》《帕西法爾》（Parsifal），幾乎都靠國王的資金才得以完成，可以說沒有路德維希、就沒有華格納的後半生。</a:t>
            </a:r>
          </a:p>
          <a:p>
            <a:r>
              <a:t>- 這座專為一齣長約十五小時歌劇而生的劇院，最後蓋在拜羅伊特（Bayreuth）城郊的「綠丘」（Grüner Hügel），奠基石於 1872 年 5 月 22 日、華格納 59 歲生日當天安放，劇院於 1872 至 1876 年間興建。</a:t>
            </a:r>
          </a:p>
          <a:p>
            <a:r>
              <a:t>- 劇院興建之初曾廣募眾力：發行一千張「贊助憑證」（Patronatscheine），每張 300 塔勒、目標募 30 萬塔勒，並在全球廣設「華格納協會」（Wagnervereine），從聖彼得堡到開羅、從倫敦到紐約，各地同好共襄盛舉——1876 年全歐名流齊聚朝聖，正是這片同好之情的開花。</a:t>
            </a:r>
          </a:p>
          <a:p>
            <a:r>
              <a:t>- 眾力仍有不足、工程一度停擺，最後仍是那位國王出手相成：據 Wikipedia，路德維希二世於 1874 年 1 月批出 10 萬塔勒借款相助（約合今日 170 萬歐元），工程才得以續建；這份情義，華格納家族日後在 1906 年前分毫奉還——一段有始有終的君子之交。同樣據 Wikipedia，劇院總造價達 428,384 馬克（約合今日 329 萬歐元）。</a:t>
            </a:r>
          </a:p>
          <a:p>
            <a:r>
              <a:t>- 這座劇院不是普通劇院，而是為「沉浸感」量身打造的機器：建築師布呂克瓦德（Otto Brückwald）依森佩爾（Gottfried Semper）未實現的慕尼黑歌劇院草圖改建，招牌設計就是講稿說的「隱藏式下沉樂池」；座位採「歐陸式」單一扇形陡坡看台（不設傳統包廂與馬蹄形樓座、形似古希臘半圓劇場），據 Wikipedia 全場約 1,925 席，號稱每個座位視線完全平等、毫無遮擋。</a:t>
            </a:r>
          </a:p>
          <a:p>
            <a:r>
              <a:t>- 1876 年 8 月 13 至 17 日首屆音樂節，一口氣首演分四晚、全長約十五小時的《尼伯龍根的指環》，由指揮家漢斯·里希特（Hans Richter）執棒。</a:t>
            </a:r>
          </a:p>
          <a:p>
            <a:r>
              <a:t>- 到場的「名流」貨真價實：德意志皇帝威廉一世（Kaiser Wilhelm I）、巴西皇帝佩德羅二世（Dom Pedro II）親臨，路德維希二世則為避開皇帝而低調祕密與會；李斯特（Franz Liszt，兼華格納岳父、其女柯西瑪為華格納之妻）、布魯克納（Anton Bruckner）、葛利格（Edvard Grieg）、以特派記者身分前來的柴可夫斯基（Pyotr Tchaikovsky）與哲學家尼采（Friedrich Nietzsche）皆在座。</a:t>
            </a:r>
          </a:p>
          <a:p>
            <a:r>
              <a:t>- 首屆音樂節之後，仍賴眾人長情相助；而這座殿堂的分量，一百五十年來只增不減。</a:t>
            </a:r>
          </a:p>
          <a:p>
            <a:r>
              <a:t>- 呼應第 15 張的貝多芬第九〈歡樂頌〉：據載 1872 年奠基典禮上，華格納親自指揮貝多芬第九號交響曲替新劇院「開光」，把最高規格的音樂，獻給這座由眾人慷慨共同成就的殿堂。</a:t>
            </a:r>
          </a:p>
          <a:p>
            <a:r>
              <a:t>- 歷史記住的是：路德維希二世的名字，從此與這座「聖地」永久同在；他一生還傾注財富蓋了新天鵝堡（Schloss Neuschwanstein）等童話城堡，人稱「天鵝王」「童話國王」，1886 年辭世——但他所成全的作品與場館，一百五十年來始終傳誦著他的名字，正呼應待會兒企業提案第 3 點：把場館、把音樂節用心養成傳世的聖地——名字自會與它同在。</a:t>
            </a:r>
          </a:p>
          <a:p>
            <a:r>
              <a:t>- 📖 路德維希二世（Ludwig II of Bavaria）：巴伐利亞國王（1864–1886 在位），華格納最重要的贊助者；當時＝一位極度愛美、傾心藝術的年輕君主，也是史上最慷慨的王室藝術贊助者之一。</a:t>
            </a:r>
          </a:p>
          <a:p>
            <a:r>
              <a:t>- 📖 拜羅伊特（Bayreuth）：德國巴伐利亞北部的內陸小城；當時＝一座沒沒無聞的小鎮，因華格納選它蓋劇院而翻身成全球樂迷的朝聖地。</a:t>
            </a:r>
          </a:p>
          <a:p>
            <a:r>
              <a:t>- 📖 拜羅伊特節慶劇院（Bayreuth Festspielhaus）：Festspielhaus 意為「節慶劇院」；當時＝專為上演華格納樂劇而建、由王室與贊助人集資興建的專屬場館，1876 年落成、至今仍每年開演。</a:t>
            </a:r>
          </a:p>
          <a:p>
            <a:r>
              <a:t>- 📖 贊助憑證（Patronatscheine）：字面意為「贊助人證書」；當時＝華格納為籌建劇院發行的募款憑證，每張 300 塔勒、共發一千張，形同十九世紀的「天下同好、共襄盛舉」。</a:t>
            </a:r>
          </a:p>
          <a:p>
            <a:r>
              <a:t>- 📖 塔勒（Thaler）：德意志地區通行的大型銀幣單位；當時＝馬克統一貨幣之前的主要幣值（英文「dollar／元」一詞即源自 Thaler）。</a:t>
            </a:r>
          </a:p>
          <a:p>
            <a:r>
              <a:t>- 📖 華格納協會（Wagnervereine，Wagner Societies）：各地華格納樂迷自組的支持團體；當時＝從聖彼得堡到開羅、倫敦到紐約替劇院募款的「全球後援會／贊助網絡」。</a:t>
            </a:r>
          </a:p>
          <a:p>
            <a:r>
              <a:t>- 📖 隱藏式下沉樂池／神秘深淵（mystischer Abgrund，mystic gulf）：把樂團藏在舞台下方、加罩使觀眾完全看不見演奏者的設計；當時＝華格納為製造「聲音彷彿無源、全然沉浸」而發明的空間手法，這道橫在舞台與觀眾之間的鴻溝他稱為「神秘的深淵」。</a:t>
            </a:r>
          </a:p>
          <a:p>
            <a:r>
              <a:t>- 📖 總體藝術（Gesamtkunstwerk）：字面意為「整體的藝術作品」；當時＝華格納主張把音樂、戲劇、詩歌、舞台美術與建築熔於一爐的理想，拜羅伊特劇院正是這理想的硬體化。</a:t>
            </a:r>
          </a:p>
          <a:p>
            <a:r>
              <a:t>- 📖 尼伯龍根的指環（Der Ring des Nibelungen）：華格納耗時逾二十年寫成的四聯樂劇（《萊茵的黃金》《女武神》《齊格弗里德》《諸神的黃昏》）；當時＝全長約十五小時、須分四晚演完的空前巨作，也是拜羅伊特劇院為之而生的曠世大戲。</a:t>
            </a:r>
          </a:p>
          <a:p>
            <a:r>
              <a:t>- 📖 麥加／朝聖（Mecca / pilgrimage）：麥加是伊斯蘭教最神聖、信徒一生至少想去一次的聖城；此處為比喻＝拜羅伊特被樂迷奉為一生必朝聖一次的音樂聖地，音樂節門票長年一票難求、候補常需等上數年。</a:t>
            </a:r>
          </a:p>
          <a:p>
            <a:r>
              <a:t>- 📖 知遇：指在一個人最早、最無人聞問的時刻，便認定其才華、傾力相成的相逢與恩義；路德維希二世之於華格納，正是音樂史上最著名的一場知遇。</a:t>
            </a:r>
          </a:p>
          <a:p>
            <a:r>
              <a:t>【影片操作】 播華格納〈女武神的騎行〉約 3 分鐘。播前：「想像 14 小時的史詩，這只是其中最著名的 3 分鐘。」</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27｜企業締造的聖地與冠名～卡內基音樂廳</a:t>
            </a:r>
          </a:p>
          <a:p/>
          <a:p>
            <a:r>
              <a:t>【講稿】（停留約 70 秒）把冠名場館這件事做到最經典的，是鋼鐵大王卡內基。1891 年，紐約的卡內基音樂廳落成，全額出資的正是他；而開幕那一夜，登台的，是大作曲家柴可夫斯基——那份氣派，至今仍為人傳誦。我們細細體味這件事：百餘年過去，「卡內基」三字，已等同全世界音樂家最嚮往、最想站上的舞台——一位表演者若能說出「我曾在卡內基演出」，那是一生無上的榮耀。而這座殿堂，永遠掛著一位企業家的名字：他的名字，與殿堂同在，與每一個登台的夜晚同在；廳裡每一次掌聲響起，那個名字都靜靜在場。這，便是冠名場館溫柔而長久的榮光。</a:t>
            </a:r>
          </a:p>
          <a:p>
            <a:r>
              <a:t>【講義補充】</a:t>
            </a:r>
          </a:p>
          <a:p>
            <a:r>
              <a:t>- 冠名場館在這裡成了典範：卡內基（Andrew Carnegie）出資興建，殿堂從此與他的名字同在——名字與每一個登台的夜晚同在，這正是本樣態最耀眼的一頁。</a:t>
            </a:r>
          </a:p>
          <a:p>
            <a:r>
              <a:t>- 卡內基音樂廳（Carnegie Hall）坐落於紐約曼哈頓第七大道與第 57 街東南角，1890 年 5 月 13 日奠基，1891 年 5 月 5 日開幕，工期不到一年；主廳為 2,804 席的義大利文藝復興式音樂廳，另附一座較小的室內樂廳與一座獨奏廳。</a:t>
            </a:r>
          </a:p>
          <a:p>
            <a:r>
              <a:t>- 這座殿堂幾乎由卡內基一人獨力出資：據載興建造價約 110 萬美元，卡內基是主要出資者；連同開辦初期的持續貼補，他前後投入的金額據載達約 200 萬美元。</a:t>
            </a:r>
          </a:p>
          <a:p>
            <a:r>
              <a:t>- 關鍵反轉是這座殿堂原本不叫「卡內基」：開幕時它只樸素地叫「音樂廳（Music Hall）」，卡內基原本不願冠名；直到 1893 年，董事會才說服他掛上自己的姓，正式改名 Carnegie Hall——名字一掛上，殿堂的氣象頓時不同。</a:t>
            </a:r>
          </a:p>
          <a:p>
            <a:r>
              <a:t>- 開幕當晚是一場為期五天音樂節的第一夜，冠蓋雲集：先合唱讚美詩〈舊百調（Old Hundredth）〉，再由波特主教（Bishop Henry Codman Potter）致長篇獻堂詞。</a:t>
            </a:r>
          </a:p>
          <a:p>
            <a:r>
              <a:t>- 音樂會由丹羅許（Walter Damrosch）指揮紐約交響樂團演奏《美利堅（America）》與貝多芬《雷奧諾拉序曲第三號（Leonore Overture No. 3）》；壓軸嘉賓是俄國作曲家柴可夫斯基（Pyotr Ilyich Tchaikovsky）親自登台指揮自作《加冕典禮進行曲（Marche Solennelle）》，這也是他的美國首演；全場最後由丹羅許以白遼士《感恩讚（Te Deum）》的美國首演作結。</a:t>
            </a:r>
          </a:p>
          <a:p>
            <a:r>
              <a:t>- 開幕那一夜的排場值得細味：當時歐洲最富盛名的作曲家柴可夫斯基親臨坐鎮，一場讓全城傳頌的開幕盛會，替這座新殿堂揭開了百年序章。</a:t>
            </a:r>
          </a:p>
          <a:p>
            <a:r>
              <a:t>- 據 Carnegie Hall 官網／記載，柴可夫斯基這五天的登台，獲以近乎一位指揮一整年薪水的隆重之禮相迎（約 2,500 美元，約合 2024 年 8.6 萬美元）——以最高的禮數，迎來最尊貴的嘉賓。</a:t>
            </a:r>
          </a:p>
          <a:p>
            <a:r>
              <a:t>- 迴響有多長：一百三十餘年後，「卡內基」三字已等同於全球音樂家最想站上的舞台，一句「我在卡內基演出過」便是無上榮耀；一個名字，就這樣與每一個登台的夜晚同在。</a:t>
            </a:r>
          </a:p>
          <a:p>
            <a:r>
              <a:t>- 卡內基的財富從何而來：1901 年他把卡內基鋼鐵公司賣給金融家 J.P. 摩根（J. P. Morgan），作價約 4.8 億美元，併成全球第一家市值破十億美元的美國鋼鐵公司（U.S. Steel），此後他一度被視為世界首富。</a:t>
            </a:r>
          </a:p>
          <a:p>
            <a:r>
              <a:t>- 他晚年奉行 1889 年自撰的《財富的福音（The Gospel of Wealth）》信條，認為巨富者有義務在生前把財富回饋社會；據載他一生捐出約 3.5 億美元、近九成身家，遍及圖書館、大學、音樂廳，卡內基音樂廳只是其中最閃亮的一頁。</a:t>
            </a:r>
          </a:p>
          <a:p>
            <a:r>
              <a:t>- 與本片其他站呼應：這是「以贊助者之名冠場館」的又一經典，前有華格納在巴伐利亞國王路德維希二世金援下建成的拜羅伊特節慶劇院，遠有埃斯特哈齊親王供養海頓的宮廷樂團，出資的人名字都寫進了殿堂。</a:t>
            </a:r>
          </a:p>
          <a:p>
            <a:r>
              <a:t>- 📖 安德魯·卡內基（Andrew Carnegie，1835——1919）：蘇格蘭裔美國實業家、鋼鐵大王，少時隨家移民美國、白手起家建立鋼鐵帝國，晚年轉型為大慈善家。當時＝美國鍍金時代最富有、也最樂善好施的工業鉅子之一。</a:t>
            </a:r>
          </a:p>
          <a:p>
            <a:r>
              <a:t>- 📖 卡內基鋼鐵公司（Carnegie Steel Company）：卡內基的核心事業，19 世紀末全美規模最大的鋼鐵製造商。當時＝美國工業化的火車頭，也是卡內基巨富與後半生龐大捐款的財源。</a:t>
            </a:r>
          </a:p>
          <a:p>
            <a:r>
              <a:t>- 📖 美國鋼鐵公司與 J.P. 摩根（U.S. Steel／J. P. Morgan）：1901 年華爾街金融家摩根出資約 4.8 億美元，併購卡內基鋼鐵等公司組成 U.S. Steel，是世界第一家十億美元級企業。當時＝史上最大宗的企業併購案之一，也是卡內基自此全心投入公益的轉捩點。</a:t>
            </a:r>
          </a:p>
          <a:p>
            <a:r>
              <a:t>- 📖 《財富的福音》（The Gospel of Wealth，1889）：卡內基發表的文章，主張富人應在生前主動把多餘財富回饋社會，興辦能讓人自立的公共事業如圖書館、大學、音樂廳。當時＝為富而好禮者立下的慷慨典範，也是卡內基傾注財富蓋音樂廳的理念根據。</a:t>
            </a:r>
          </a:p>
          <a:p>
            <a:r>
              <a:t>- 📖 冠名場館（naming rights，冠名權）：出資興建或長期贊助者以自己的名字替建築命名，名字從此與殿堂長久同在。當時＝卡內基音樂廳是教科書等級的示範。</a:t>
            </a:r>
          </a:p>
          <a:p>
            <a:r>
              <a:t>- 📖 威廉·杜提爾（William Burnet Tuthill）：卡內基音樂廳的建築師，本身是業餘大提琴家、紐約神劇協會董事，設計出音響極佳的義大利文藝復興式廳堂。當時＝橫跨音樂與建築的內行人，讓贊助者的心意，化成對的聲學。</a:t>
            </a:r>
          </a:p>
          <a:p>
            <a:r>
              <a:t>- 📖 原名「音樂廳」（Music Hall）：卡內基音樂廳最初的樸素稱呼，1893 年才改冠卡內基之名。當時＝這座殿堂最初樸素的稱呼；1893 年起冠上卡內基之名，名字與殿堂自此同在。</a:t>
            </a:r>
          </a:p>
          <a:p>
            <a:r>
              <a:t>- 📖 華爾特·丹羅許（Walter Damrosch，1862——1950）：德裔美國指揮家，紐約交響樂團與紐約神劇協會的靈魂人物，開幕夜實際掌棒者。當時＝紐約樂壇最具號召力的指揮之一，是這場開幕大戲的執行者。</a:t>
            </a:r>
          </a:p>
          <a:p>
            <a:r>
              <a:t>- 📖 柴可夫斯基（Pyotr Ilyich Tchaikovsky，1840——1893）：俄國浪漫派作曲家，《天鵝湖》《1812 序曲》的作者，開幕週應邀來美完成美國首演。當時＝歐洲最炙手可熱的活作曲家，開幕夜親臨新殿堂的最尊貴嘉賓。</a:t>
            </a:r>
          </a:p>
          <a:p>
            <a:r>
              <a:t>- 📖 《加冕典禮進行曲》（Marche Solennelle）：柴可夫斯基開幕夜親自指揮的作品，據載即他 1883 年為俄皇亞歷山大三世加冕所作的《加冕進行曲》。當時＝以隆重國家慶典音樂替新殿堂鍍上皇家氣派。</a:t>
            </a:r>
          </a:p>
          <a:p>
            <a:r>
              <a:t>- 📖 紐約神劇協會與紐約交響協會（Oratorio Society／New York Symphony Society）：促成建廳的兩個駐廳音樂團體，正是它們與卡內基的相識，締結了這段知遇。當時＝牽起卡內基與音樂界這段知遇的橋樑。</a:t>
            </a:r>
          </a:p>
          <a:p>
            <a:r>
              <a:t>- 📖 白遼士《感恩讚》（Hector Berlioz, Te Deum）：法國浪漫派作曲家白遼士的大型宗教合唱作品，開幕夜以其美國首演壓軸。當時＝彰顯新廳規模與合唱陣容的重磅節目。</a:t>
            </a:r>
          </a:p>
          <a:p>
            <a:r>
              <a:t>【影片操作】 播柴可夫斯基《慶典加冕進行曲》約 2–3 分鐘（正是他 1891 卡內基開幕夜親自指揮的曲子，The Orchestra Now 版）。播前：「一座以企業家為名的殿堂，開幕之聲。」</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28｜企業締造的聖地與冠名～三得利音樂廳</a:t>
            </a:r>
          </a:p>
          <a:p/>
          <a:p>
            <a:r>
              <a:t>【講稿】（停留約 55 秒）這樣的佳話，亞洲的企業也續寫得典雅。1986 年，日本的三得利——一家釀威士忌的企業——在東京築起三得利音樂廳。指揮大師卡拉揚親口譽它為「音之寶石盒」。各位一同想想這件事：一家釀酒的世家，為一座城市端出了一座頂級的音樂殿堂。自那以後，人們聽見「三得利」三個字，心頭浮現的，不只是一杯溫潤的威士忌，還有滿室世界一流的樂音。一座殿堂，與一個名字，就這樣彼此輝映——這，便是亞洲企業版的卡內基。</a:t>
            </a:r>
          </a:p>
          <a:p>
            <a:r>
              <a:t>【講義補充】</a:t>
            </a:r>
          </a:p>
          <a:p>
            <a:r>
              <a:t>- 三得利音樂廳（Suntory Hall）於 1986 年 10 月 12 日在東京赤坂（Akasaka）開幕，正是三得利威士忌釀造六十週年、啤酒事業二十週年的紀念之作——換句話說，這不是文化基金會蓋的，而是一家釀酒世家用「本業的生日」送給城市的禮物——企業的里程碑，就這樣化成了一座城市地標。</a:t>
            </a:r>
          </a:p>
          <a:p>
            <a:r>
              <a:t>- 幕後拍板的是三得利第二代社長佐治敬三（Saji Keizo，1919—1999）：蓋音樂廳是他多年的夢想，他要讓古典音樂真正落地成日本的生活文化。一位釀酒世家的經營者，把一座頂級殿堂端給了整座城市——自此，東京的音樂生活裡，長駐著「三得利」之名。</a:t>
            </a:r>
          </a:p>
          <a:p>
            <a:r>
              <a:t>- 佐治敬三承接父親、創業者鳥井信治郎（Torii Shinjiro）的口頭禪「やってみなはれ」（關西腔，「做做看嘛／放手去試」）；這句「做做看」是三得利的企業 DNA，從跨足啤酒到蓋音樂廳，都是同一種放手一試的胸襟——音樂廳，是這句家訓最氣派的一次實現。</a:t>
            </a:r>
          </a:p>
          <a:p>
            <a:r>
              <a:t>- 傳世的一句讚語：指揮大師卡拉揚（Herbert von Karajan，1908—1989）親口稱這座主廳是「音之寶石盒」（a jewel box of sound／音の宝石箱）。出自當代最負盛名的指揮之口，這句話從此與這座廳、與三得利之名一同傳誦。</a:t>
            </a:r>
          </a:p>
          <a:p>
            <a:r>
              <a:t>- 卡拉揚不只是掛名讚美，他實際參與設計評估，並建議採用他在柏林愛樂廳（Berliner Philharmonie）用過的「葡萄園式」座位（vineyard style）；企業出資、大師出品味——一座名廳，由兩種行家共同成全。</a:t>
            </a:r>
          </a:p>
          <a:p>
            <a:r>
              <a:t>- 音樂廳所在的「Ark Hills」（方舟之丘）是森大樓（Mori Building，森稔主導）操盤的日本首批大型都市再開發案之一；三得利把音樂廳嵌進一個複合商業區，讓文化與街廓共生——音樂廳，成了整片街區最溫潤的心臟。</a:t>
            </a:r>
          </a:p>
          <a:p>
            <a:r>
              <a:t>- 據 Wikipedia，這座廳造價約 60 億日圓（¥6,000 million，以 1986 年匯率約合 5,000 萬美元以上）。殿堂落成之後，數十年來，每一場音樂會的樂音，都與「三得利」之名一同迴響。</a:t>
            </a:r>
          </a:p>
          <a:p>
            <a:r>
              <a:t>- 呼應前面投影片的卡內基音樂廳（Carnegie Hall，鋼鐵大王安德魯·卡內基 Andrew Carnegie 1891 年出資興建）：三得利做的正是「亞洲企業版的卡內基」——一座殿堂，與一個名字彼此輝映。從卡內基到三得利，跨越一個世紀、橫跨美日，企業與音樂同行的心意一脈相承。</a:t>
            </a:r>
          </a:p>
          <a:p>
            <a:r>
              <a:t>- 兩個名字的長相輝映看得見：1998 年 4 月，廳前廣場命名為「卡拉揚廣場」（Herbert von Karajan Platz）以紀念這位大師；「三得利」與「卡拉揚」，自此在地理上永久並列、彼此照亮。</a:t>
            </a:r>
          </a:p>
          <a:p>
            <a:r>
              <a:t>- 一家釀威士忌的世家，與一座音樂廳彼此成就。從此聽到「三得利」，腦中浮現的不只是一杯佳釀，還有世界一流的聲音——一個名字，同時盛著佳釀與樂音。</a:t>
            </a:r>
          </a:p>
          <a:p>
            <a:r>
              <a:t>- 📖 三得利（Suntory）：日本大型酒類與飲料集團，1899 年由鳥井信治郎在大阪創立（初名「鳥井商店」）。公司名是英文「Sun」（太陽，取自暢銷品「赤玉／紅太陽」）＋創辦人姓氏「Torii」的英語化「Tory」的合成詞。當時＝從賣進口葡萄酒起家、1923 年建成日本第一座麥芽威士忌蒸餾所（山崎蒸溜所）的酒業龍頭，蓋音樂廳時已是能一次拿出數十億日圓的巨型企業。</a:t>
            </a:r>
          </a:p>
          <a:p>
            <a:r>
              <a:t>- 📖 佐治敬三（Saji Keizo，1919—1999）：三得利第二代社長、創辦人鳥井信治郎之子（隨母姓佐治）。當時＝拍板興建三得利音樂廳的人，也創立三得利美術館、三得利文化財團等文化事業，被視為日本企業「以文化回饋社會」的代表經營者。</a:t>
            </a:r>
          </a:p>
          <a:p>
            <a:r>
              <a:t>- 📖 鳥井信治郎（Torii Shinjiro）：三得利創辦人。當時＝以「赤玉波特酒」（Akadama Port Wine，赤玉意為「紅色圓球」，即太陽的別名）打響名號、再投入威士忌製造的創業家，其口頭禪「做做看嘛」成為集團精神。</a:t>
            </a:r>
          </a:p>
          <a:p>
            <a:r>
              <a:t>- 📖 やってみなはれ（Yatte minahare）：關西方言，意為「放手去做做看」。當時＝三得利世代相傳的企業座右銘，象徵放手一試的胸襟——從跨足啤酒，到為一座城市築起音樂廳，皆是這句話的實現。</a:t>
            </a:r>
          </a:p>
          <a:p>
            <a:r>
              <a:t>- 📖 卡拉揚（Herbert von Karajan，1908—1989）：奧地利指揮家，二十世紀最著名、唱片賣得最多的指揮之一，長年執掌柏林愛樂。當時＝當代最負盛名、最具號召力的音樂家，他一句「音之寶石盒」，讓三得利音樂廳自落成便躋身世界名廳之列。</a:t>
            </a:r>
          </a:p>
          <a:p>
            <a:r>
              <a:t>- 📖 音之寶石盒（a jewel box of sound／音の宝石箱）：卡拉揚對三得利音樂廳音響的讚語。當時＝把這座廳的聲學品質推上「世界頂級」神壇的一句話，也成為與這座廳相伴至今的一句美名。</a:t>
            </a:r>
          </a:p>
          <a:p>
            <a:r>
              <a:t>- 📖 葡萄園式座位（vineyard style／ヴィンヤード型）：一種把觀眾席分成多個高低錯落小區、環繞舞台的音樂廳格局，形似層層梯田的葡萄園。當時＝卡拉揚推薦、仿自柏林愛樂廳的先進設計，讓聽眾三百六十度包圍樂團，是這座廳「頂級」形象的硬體基礎。</a:t>
            </a:r>
          </a:p>
          <a:p>
            <a:r>
              <a:t>- 📖 柏林愛樂廳（Berliner Philharmonie）：德國柏林愛樂樂團的主場館，1963 年啟用，以葡萄園式座位聞名。當時＝卡拉揚據以建議三得利採用同款設計的範本，是二十世紀音樂廳建築的標竿。</a:t>
            </a:r>
          </a:p>
          <a:p>
            <a:r>
              <a:t>- 📖 Ark Hills（方舟之丘）：東京赤坂・六本木一帶的複合都市開發區，由森大樓（Mori Building）開發，1986 年啟用，是日本首批大型民間都市再開發案之一。當時＝三得利音樂廳所在的商業街廓，讓文化設施與辦公、商業、住宅共構，使文化融入都市的日常肌理。</a:t>
            </a:r>
          </a:p>
          <a:p>
            <a:r>
              <a:t>- 📖 永田音響設計（Nagata Acoustics）：日本頂尖音響顧問公司，創辦人永田穗；三得利音樂廳的聲學由該公司操刀（後由豐田泰久等接續，設計了全球多座名廳）。當時＝用十分之一縮尺模型反覆做聲學實驗、替這座廳打造出卡拉揚讚不絕口音響的幕後技術團隊。</a:t>
            </a:r>
          </a:p>
          <a:p>
            <a:r>
              <a:t>- 📖 卡內基音樂廳（Carnegie Hall）：紐約知名音樂廳，1891 年由鋼鐵大王安德魯·卡內基（Andrew Carnegie）出資興建並冠名。當時＝「企業家之名與一座殿堂永久同在」的原型案例，三得利音樂廳被視為它的亞洲企業版對照組。</a:t>
            </a:r>
          </a:p>
          <a:p>
            <a:r>
              <a:t>- 📖 メセナ（Mécénat，企業贊助文化）：源自古羅馬贊助人梅塞納斯（Maecenas）的法語詞，指企業對藝術文化的長期資助。當時＝日本 1980 年代興起的企業文化贊助風潮，三得利音樂廳是其中最具代表性、最豪華的一座里程碑。</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29｜企業締造的聖地與冠名～迪士尼音樂廳</a:t>
            </a:r>
          </a:p>
          <a:p/>
          <a:p>
            <a:r>
              <a:t>【講稿】（停留約 55 秒）我們再看一個離我們更近的例子。洛杉磯的迪士尼音樂廳，2003 年啟用。它是怎麼來的呢？是迪士尼的遺孀莉莉安·迪士尼，在 1987 年捐了五千萬美元起建，交予建築大師蓋瑞親手設計。今日，那棟閃著微光的金屬曲面建築，成了整個洛杉磯的城市地標與觀光名片，靜靜掛著「迪士尼」的名字。從卡內基、三得利，一路到迪士尼，其中有一個動人的共通之處：一份捐贈，成就一座城市地標；一個名字，從此鐫刻在城市的天際線與整段文化史裡——而歲月，只會讓它更添光采。</a:t>
            </a:r>
          </a:p>
          <a:p>
            <a:r>
              <a:t>【講義補充】</a:t>
            </a:r>
          </a:p>
          <a:p>
            <a:r>
              <a:t>- 迪士尼音樂廳（Walt Disney Concert Hall）坐落於洛杉磯市中心的 Grand Avenue（大道），隸屬洛杉磯音樂中心（Los Angeles Music Center）園區；2003 年 10 月 23 日啟用，設 2,265 席，是洛杉磯愛樂（Los Angeles Philharmonic）與洛杉磯大師合唱團（Los Angeles Master Chorale）的主場。</a:t>
            </a:r>
          </a:p>
          <a:p>
            <a:r>
              <a:t>- 這座殿堂的起點是一筆遺孀捐款：1987 年，華特·迪士尼（Walt Disney）的遺孀莉莉安·迪士尼（Lillian Bounds Disney，1899–1997）捐出 5,000 萬美元，指名作為「給洛杉磯市民的禮物」與對亡夫熱愛藝術的紀念；她並囑意，這座廳以「迪士尼」為名，讓禮物與紀念同在。</a:t>
            </a:r>
          </a:p>
          <a:p>
            <a:r>
              <a:t>- 她本人並沒等到剪綵：莉莉安於 1997 年以 98 歲辭世，比落成早了六年（據 laphil.com）；但「迪士尼」這個名字，從此永久掛在洛杉磯的天際線上。</a:t>
            </a:r>
          </a:p>
          <a:p>
            <a:r>
              <a:t>- 從一筆捐款到一座地標，中間走了十六年。據 Wikipedia，總工程費約 2.74 億美元，其中音樂廳本體約 1.3 億美元，地下停車場約 1.1 億美元由洛杉磯郡（Los Angeles County）發行公債支應——公部門與家族，共同成全了這座殿堂。</a:t>
            </a:r>
          </a:p>
          <a:p>
            <a:r>
              <a:t>- 迪士尼家族後續持續加捐：據 Wikipedia，家族累計捐款約 8,450 萬美元，華特迪士尼公司（The Walt Disney Company）另捐約 2,500 萬美元，合計逾 1 億美元——「迪士尼」之名與這座建築的骨肉，早已渾然一體。</a:t>
            </a:r>
          </a:p>
          <a:p>
            <a:r>
              <a:t>- 工程一度難產：1990 年代中期因募款未濟而停擺數年，直到 1999 年 12 月才正式動工。轉機之一，是蓋瑞另一件作品——1997 年落成的西班牙畢爾包古根漢美術館（Guggenheim Museum Bilbao）——證明了金屬曲面建築懾人的魅力，才促成迪士尼廳最終把外牆從石材改為不鏽鋼。</a:t>
            </a:r>
          </a:p>
          <a:p>
            <a:r>
              <a:t>- 這層閃亮的不鏽鋼曲面，正是它成為「城市名片」的關鍵：今天，旅遊手冊、電影與明信片上處處是它的身影——一座殿堂，成了整座城市遞向世界的名片。</a:t>
            </a:r>
          </a:p>
          <a:p>
            <a:r>
              <a:t>- 連管風琴也有自己的知音：2004 年安裝、造型宛如「一束薯條」的巨型管風琴，由豐田汽車美國銷售公司（Toyota Motor Sales, U.S.A.）捐贈——同一座殿堂裡，先後迎來兩個與樂音同在的名字。</a:t>
            </a:r>
          </a:p>
          <a:p>
            <a:r>
              <a:t>- 📖 迪士尼音樂廳（Walt Disney Concert Hall）：洛杉磯的旗艦音樂廳，蓋瑞設計、2003 年啟用；名稱來自出資起建的迪士尼家族，是「家族／企業出資、以其姓氏冠名」在當代最鮮明的範例。</a:t>
            </a:r>
          </a:p>
          <a:p>
            <a:r>
              <a:t>- 📖 莉莉安·迪士尼（Lillian Bounds Disney，1899–1997）：華特·迪士尼的遺孀，早年是迪士尼工作室的女性員工，1925 年與華特結婚；她 1987 年的 5,000 萬美元捐款，讓她成為這座城市地標的奠基贊助者。</a:t>
            </a:r>
          </a:p>
          <a:p>
            <a:r>
              <a:t>- 📖 法蘭克·蓋瑞（Frank Gehry，1929 年生）：加拿大裔美國建築師，解構主義代表人物，1989 年獲普立茲克建築獎（Pritzker Architecture Prize，建築界最高榮譽）。他 1988 年經競圖獲選操刀迪士尼廳；據他回憶，家族對建築樣式極為講究，起初曾言明不輕易讓華特之名冠於其上，最終為他的方案折服——名字，只託付給配得上它的殿堂。</a:t>
            </a:r>
          </a:p>
          <a:p>
            <a:r>
              <a:t>- 📖 冠名（naming）：以出資者或其指定之名為場館命名的禮遇。對家族／企業而言，名字自此與城市的文化地標同在——歲月，只會讓它更添光采。</a:t>
            </a:r>
          </a:p>
          <a:p>
            <a:r>
              <a:t>- 📖 洛杉磯愛樂（Los Angeles Philharmonic）：1919 年創立的美國頂尖交響樂團，迪士尼廳為其主場；2003 年啟用時的音樂總監，是芬蘭指揮埃薩-佩卡·薩洛年（Esa-Pekka Salonen）。</a:t>
            </a:r>
          </a:p>
          <a:p>
            <a:r>
              <a:t>- 📖 永田音響（Nagata Acoustics）／豐田泰久（Yasuhisa Toyota）：操刀迪士尼廳室內聲學的日本音響公司與其代表音響師，採「葡萄園式」座位（觀眾席如梯田般環繞舞台四周），讓這份捐贈成就的不只是外觀，還有世界級的聲音。</a:t>
            </a:r>
          </a:p>
          <a:p>
            <a:r>
              <a:t>- 📖 畢爾包古根漢美術館（Guggenheim Museum Bilbao）：蓋瑞設計、1997 年落成於西班牙畢爾包的金屬曲面美術館，落成後全世界湧向畢爾包一睹風采，人稱「畢爾包效應」；正是這座建築懾人的風采，間接催生了迪士尼廳的鋼鐵外衣。</a:t>
            </a:r>
          </a:p>
          <a:p>
            <a:r>
              <a:t>- 📖 卡內基音樂廳（Carnegie Hall）：1891 年於紐約啟用，由鋼鐵大王、慈善家安德魯·卡內基（Andrew Carnegie）出資興建並冠名——十九世紀「企業家之名與一座文化殿堂永久同在」的原型。</a:t>
            </a:r>
          </a:p>
          <a:p>
            <a:r>
              <a:t>- 📖 三得利音樂廳（Suntory Hall）：日本飲料企業三得利（Suntory）出資、1986 年於東京啟用的音樂廳，為紀念其威士忌釀造六十週年而建；指揮家卡拉揚（Herbert von Karajan）譽為「a jewel box of sound」（聲音的珠寶盒）——亞洲「企業冠名音樂廳」的代表。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30｜第五樣態：企業以藝術締造人才與向心力</a:t>
            </a:r>
          </a:p>
          <a:p/>
          <a:p>
            <a:r>
              <a:t>【講稿】（停留約 25 秒）第五種樣態，內斂含蓄，卻最貼近一家公司的心跳——人才與向心力。長年養一支團隊、築一座舞台：人才在這裡滋養，樂音在這裡生長，闔府上下同心，與有榮焉。這一樣，兩百多年前，有一位親王替我們示範得淋漓盡致——那段佳話，一講，便是三十年。</a:t>
            </a:r>
          </a:p>
          <a:p>
            <a:r>
              <a:t>【講義補充】</a:t>
            </a:r>
          </a:p>
          <a:p>
            <a:r>
              <a:t>- 第五樣態：人才與向心力。這是最內向、最不張揚的一種樣態——長年養一支團隊、築一座舞台，人才在此滋養、日日精進，闔府上下同心，與有榮焉。</a:t>
            </a:r>
          </a:p>
          <a:p>
            <a:r>
              <a:t>- 代表案例：匈牙利埃斯特哈齊家族（Esterházy）與作曲家海頓（Joseph Haydn，1732–1809）長達約三十年的相知。海頓 1761 年由保羅．安東親王（Paul Anton）延攬進府，1766 年升為正樂長，一路服務到 1790 年老親王過世。穩定的俸祿與職位讓他能安心大量實驗，寫出上百首交響曲與大量弦樂四重奏，日後被尊為「交響曲之父」「弦樂四重奏之父」——這些傳世之作，都在府中孕育而成。</a:t>
            </a:r>
          </a:p>
          <a:p>
            <a:r>
              <a:t>- 蓋一座舞台：主要藝術贊助者尼古勞斯一世親王（Nikolaus I，1714–1790，因奢華好藝而綽號「輝煌者」）斥資興建埃斯特哈薩宮（Eszterháza），號稱「匈牙利的凡爾賽宮」，內設兩座劇院（主劇院約可容四百人）與常駐樂團，海頓與樂手就住在宮內，一年常演出上百場歌劇。這是「親王自建舞台、常年供養班底」最完整的示範。</a:t>
            </a:r>
          </a:p>
          <a:p>
            <a:r>
              <a:t>- 「凝聚」的名場面《告別交響曲》：據載 1772 年樂團被留在鄉間宮殿太久、樂手久未返家，海頓不直接抗議，而把訴求寫進第 45 號交響曲的終樂章——樂手一個接一個吹熄譜架上的蠟燭、依序離場，最後只剩兩把弱音小提琴（相傳由海頓與首席托馬西尼演奏）。親王聽懂了，隔天就放大家回家；這正是上下對等、雙向回應與團隊向心力的縮影，也呼應後面的「歷代贊助對照表」與「給企業五點提案」。</a:t>
            </a:r>
          </a:p>
          <a:p>
            <a:r>
              <a:t>- 📖 埃斯特哈齊家族（Esterházy）：據 Wikipedia／Britannica，十八世紀匈牙利最富有、最有權勢的貴族世家之一，效忠哈布斯堡皇室、坐擁大片領地；當時＝以贊助建築、美術與音樂聞名的「超級藝術贊助者」，海頓即其府中樂長。</a:t>
            </a:r>
          </a:p>
          <a:p>
            <a:r>
              <a:t>- 📖 樂長（Kapellmeister）：德文原意「樂隊的長」；當時＝統管一位貴族或教會全部音樂事務的宮廷樂團總監，身兼作曲與樂團諸事，是常駐府中的音樂重臣。</a:t>
            </a:r>
          </a:p>
          <a:p>
            <a:r>
              <a:t>- 📖 尼古勞斯一世親王（Nikolaus I, Prince Esterházy，1714–1790）：綽號「輝煌者（the Magnificent）」；當時＝海頓最重要的知遇之主，親自出資蓋宮殿、養樂團，府中因而誕生大量交響曲與歌劇。</a:t>
            </a:r>
          </a:p>
          <a:p>
            <a:r>
              <a:t>- 📖 埃斯特哈薩宮（Eszterháza）：位於今匈牙利費爾特德（Fertőd）的洛可可式宮殿，號稱「匈牙利的凡爾賽宮」；當時＝親王出資興建的音樂與歌劇重鎮，設兩座劇院與樂手宿舍，是這段相知的舞台，海頓在此駐紮約 1766 至 1790 年。</a:t>
            </a:r>
          </a:p>
          <a:p>
            <a:r>
              <a:t>- 📖 《告別交響曲》（Symphony No. 45「Farewell」）：海頓 1772 年之作；當時＝海頓替團隊向親王「委婉陳情」的雅事，也是後世傳頌的一段賓主相得佳話。此故事由海頓晚年口述給傳記作者狄斯（Dies）與格里辛格（Griesinger），親王反應等細節帶軼事性質（相傳）。</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31｜企業以藝術締造人才與向心力～埃斯特哈齊與海頓</a:t>
            </a:r>
          </a:p>
          <a:p/>
          <a:p>
            <a:r>
              <a:t>【講稿】（停留約 75 秒）匈牙利的埃斯特哈齊親王，與音樂家海頓（Joseph Haydn），是一段整整三十年的相知。親王築起一座莊園，人稱「匈牙利的凡爾賽」，歌劇院、劇場、音樂廳一應俱全；又長年供養一整支樂團——人才在這裡滋養，樂音在這裡日日生長。耐人尋味的是，親王自己偏愛一種冷門的低音樂器，叫巴里頓琴（baryton，一種音色格外別致、也格外難拉的古樂器）；為著主人的這份雅好，府裡便誕生了上百首為它量身而寫的曲子——主人的品味所至，便是樂音生長的方向。三十年裡，海頓在府中寫下的作品，一部一部成了傳世的經典；而「埃斯特哈齊」這個姓氏，兩百多年後的今日，我們仍在此地溫柔地提起它。一個家族與一位音樂家的相知，人才在此滋養，闔府上下，與有榮焉。這也正是待會兒企業提案的第 1 點：一份長期穩定的資助，加上一座能好好養出創新的場館。</a:t>
            </a:r>
          </a:p>
          <a:p>
            <a:r>
              <a:t>【講義補充】</a:t>
            </a:r>
          </a:p>
          <a:p>
            <a:r>
              <a:t>- 主角這位藝術贊助者：尼古拉一世·埃斯特哈齊親王（Nikolaus I, Prince Esterházy，1714-1790），匈牙利最顯赫貴族家族的當家。1762 年繼承兄長保羅·安東（Paul Anton）繼位為親王，掌權到 1790 年過世。據 Wikipedia，他收入極高，某些說法甚至比奧地利皇帝還富有——這份家業，撐得起一整個世代的樂音。</a:t>
            </a:r>
          </a:p>
          <a:p>
            <a:r>
              <a:t>- 綽號即是氣象：時人稱他「愛好奢華者」（德文 der Prachtliebende，英文常譯 "Nikolaus the Magnificent"）。排場、宮廷、樂音，共同織成一座府邸的輝煌。</a:t>
            </a:r>
          </a:p>
          <a:p>
            <a:r>
              <a:t>- 一座莊園：埃斯特哈齊莊園（Eszterháza，位於今匈牙利費爾特德 Fertőd），1766 年落成入住，一路擴建到 1780 年代。據 Wikipedia，造價高達 1,300 萬奧地利盾（gulden），內含 126 間房、歌劇院、木偶劇院與音樂廳，人稱「匈牙利的凡爾賽」。</a:t>
            </a:r>
          </a:p>
          <a:p>
            <a:r>
              <a:t>- 「凡爾賽」是美稱：親王 1764 年才親訪法國凡爾賽宮，但學者指出莊園設計實際更多取法維也納近郊的申布倫宮（Schönbrunn）。重點不在像不像，而在這座莊園的氣派，足與歐洲頂級宮廷相輝映。</a:t>
            </a:r>
          </a:p>
          <a:p>
            <a:r>
              <a:t>- 這座莊園的樂音日日不輟：歌劇院 1768 年啟用（約可容 400 人，1779 年焚毀後重建），木偶劇院 1773 年開張。海頓在此每年指揮上百場歌劇與音樂會（1766-1790 年），樂音終年不歇。</a:t>
            </a:r>
          </a:p>
          <a:p>
            <a:r>
              <a:t>- 養的是一支常設樂團：親王長期供養固定樂團，1760 年代約 13-15 人，加演歌劇後擴編到 22-24 人。府中給的不只俸祿，還有充足的排練時間、足以延攬頂尖樂手的禮遇，與完整的藝術主導權——這正是稍後提案第 1 點「長期穩定資助」的教科書範例。</a:t>
            </a:r>
          </a:p>
          <a:p>
            <a:r>
              <a:t>- 樂長就是海頓：約瑟夫·海頓（Joseph Haydn）1761 年 5 月 1 日先與前一任親王保羅·安東簽約，因舊樂長韋爾納還在位，起初職稱是「副樂長」；1766 年韋爾納過世後升為正樂長。他與這個家族相伴近 30 年，是音樂史上最長情的一段相知。</a:t>
            </a:r>
          </a:p>
          <a:p>
            <a:r>
              <a:t>- 主人的品味，樂音的方向（本張核心軼事）：親王本人熱愛冷門低音樂器巴里頓琴，1765 年購入一把（由維也納製琴師施塔德曼（Johann Joseph Stadlmann）1750 年製作）。為著這份雅好，海頓在 1762 至 1775 年間為它量身寫下約 175 首作品，其中光「巴里頓三重奏」就有 126 首——一位愛樂主人的私人雅好，催生出一整批人類音樂遺產。</a:t>
            </a:r>
          </a:p>
          <a:p>
            <a:r>
              <a:t>- 留下的是什麼：兩百多年後我們仍在傳誦的「埃斯特哈齊」這個姓氏，加上一整批傳世曲目——一個家族與一位音樂家，彼此成全的雙重不朽。</a:t>
            </a:r>
          </a:p>
          <a:p>
            <a:r>
              <a:t>- 餘韻裡也有一課：據 Wikipedia，親王 1790 年辭世後，繼位的兒子安東（Anton）志不在樂，樂團大半星散、偏僻的莊園也漸歸靜寂。一段長情，要有人接著長情，方得綿延——這也是稍後「可持續」三字的由來。</a:t>
            </a:r>
          </a:p>
          <a:p>
            <a:r>
              <a:t>- 呼應全片：本張是提案第 1 點「長期穩定資助＋一座能養創新的場館」的原型案例，也預告稍後的「歷代贊助對照表」與記憶點「對等、可持續、共融」。</a:t>
            </a:r>
          </a:p>
          <a:p>
            <a:r>
              <a:t>- 📖 埃斯特哈齊家族（Esterházy）：匈牙利最顯赫的貴族兼大地主家族，18 世紀是哈布斯堡帝國境內數一數二的富豪，長期以贊助藝術、興建宮殿著稱。</a:t>
            </a:r>
          </a:p>
          <a:p>
            <a:r>
              <a:t>- 📖 親王（Prince／德文 Fürst）：神聖羅馬帝國體系下僅次於君主的最高貴族頭銜之一，握有大片領地與高度自治權，當時約等於「一方諸侯兼大型莊園集團的總裁」。</a:t>
            </a:r>
          </a:p>
          <a:p>
            <a:r>
              <a:t>- 📖 樂長（Kapellmeister）：字面意思是「宮廷／教堂樂隊之長」，當時＝宮廷音樂總監，統管作曲、指揮、樂手管理、樂器與樂譜庫存，相當於一府之中總攬樂事的大總管。</a:t>
            </a:r>
          </a:p>
          <a:p>
            <a:r>
              <a:t>- 📖 副樂長（vice-Kapellmeister）：樂長的副手兼接班梯隊。海頓最初的職稱，因前任樂長韋爾納（Gregor Joseph Werner，1693-1766）仍在位而暫居其下。</a:t>
            </a:r>
          </a:p>
          <a:p>
            <a:r>
              <a:t>- 📖 巴里頓琴（baryton）：維也納一帶 18 世紀流行的低音弓弦樂器，屬古大提琴（viola da gamba）家族。6 至 7 條腸弦置於有品的指板上用弓拉奏，琴頸後方另藏一排金屬「共鳴弦」，既能隨拉奏共振增色、又能用左手拇指反手撥彈——一琴兩聲、極難駕馭。18 世紀後幾乎絕跡，20 世紀才因古樂復興運動重生。</a:t>
            </a:r>
          </a:p>
          <a:p>
            <a:r>
              <a:t>- 📖 古大提琴（viola da gamba）：文藝復興到巴洛克盛行的一族弓弦樂器，夾在雙腿間演奏（義大利文 gamba 即「腿」），有品、通常六弦，音色柔和內斂；巴里頓琴即由它衍生而來。</a:t>
            </a:r>
          </a:p>
          <a:p>
            <a:r>
              <a:t>- 📖 木偶劇院（marionette theatre）：埃斯特哈齊莊園 1773 年增建的提線木偶專用劇場，海頓也為它寫過歌劇。貴族拿最尖端的音樂資源辦「偶戲」，可見其資助之奢與品味之刁。</a:t>
            </a:r>
          </a:p>
          <a:p>
            <a:r>
              <a:t>- 📖 奧地利盾（gulden／florin）：當時哈布斯堡帝國通行的銀幣貨幣單位；莊園造價 1,300 萬盾在 18 世紀是天文數字。</a:t>
            </a:r>
          </a:p>
          <a:p>
            <a:r>
              <a:t>- 📖 申布倫宮（Schönbrunn）：維也納近郊的哈布斯堡皇室夏宮，洛可可宮殿代表作；學者認為埃斯特哈齊莊園的設計取法它更甚於凡爾賽。</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32｜第六樣態：企業與國家以藝術締造正向的形象</a:t>
            </a:r>
          </a:p>
          <a:p/>
          <a:p>
            <a:r>
              <a:t>【講稿】（停留約 30 秒）接下來這第六樣態，是我特別珍愛的一樣——正向的形象。音樂有一種奇妙的力量，能為一個國家、一家企業，寫下一種旁人怎麼學也學不來的氣質。這股氣質，可以是一個民族凝聚起來的一顆心，可以是一方水土迎迓遠客的風華，也可以是一個品牌令人由衷想親近的質地。接下來這一段，就讓我從一個國家說起，一路陪各位走回你自己的品牌。</a:t>
            </a:r>
          </a:p>
          <a:p>
            <a:r>
              <a:t>【講義補充】</a:t>
            </a:r>
          </a:p>
          <a:p>
            <a:r>
              <a:t>- 第六樣態是「形象／氣質」——音樂能替一個國家、一個地方、一個品牌寫下難以複製、歷久彌新的識別；本張把它拆成由大到小三個層次：國家的凝聚力（國力）、地方迎迓遠客的風華（國家形象），以及品牌讓人想靠近的質感（企業品牌）。</a:t>
            </a:r>
          </a:p>
          <a:p>
            <a:r>
              <a:t>- 三個層次各有代表：國力用威爾第（Giuseppe Verdi），國家形象／觀光用普契尼（Giacomo Puccini）與德布西（Claude Debussy），企業品牌用英國航空（British Airways）與奇美（Chimei）；這幾個名字在後面幾張會逐一登場。</a:t>
            </a:r>
          </a:p>
          <a:p>
            <a:r>
              <a:t>- 形象是藝術贈與企業最深長的餘澤——那份長年與音樂同行涵養出來的氣質，是歲月親手寫成的。</a:t>
            </a:r>
          </a:p>
          <a:p>
            <a:r>
              <a:t>- 📖 威爾第（Giuseppe Verdi）：19 世紀義大利歌劇作曲家，是「音樂＝國力」的教科書案例。他 1842 年在米蘭史卡拉歌劇院（Teatro alla Scala）首演的歌劇《拿布果（Nabucco）》，第三幕合唱〈飛吧，思想，乘著金色的翅膀（Va, pensiero）〉唱的是被擄希伯來人思念故土，義大利人聽成自己在外族統治下對統一的渴望；統一運動（Risorgimento，19 世紀義大利統一運動）期間，北義牆上的塗鴉「Viva VERDI」表面是「威爾第萬歲」，其實是「Vittorio Emanuele Re D'Italia（義大利國王維托里奧・埃馬努埃萊）」的字首暗號——在奧地利控制北義、審查嚴密的年代，一位作曲家的名字被整個民族拿來當凝聚國力的旗幟。</a:t>
            </a:r>
          </a:p>
          <a:p>
            <a:r>
              <a:t>- 📖 普契尼（Giacomo Puccini）：義大利歌劇作曲家，生於托斯卡尼的盧卡（Lucca），長年住在附近馬薩丘科利湖（Lago di Massaciuccoli）畔的托雷德爾拉戈（Torre del Lago），《波希米亞人（La Bohème）》《托斯卡（Tosca）》《蝴蝶夫人（Madama Butterfly）》《杜蘭朵（Turandot）》多在此寫成。今天湖畔每年夏天辦「普契尼音樂節（Festival Puccini，全世界唯一專演普契尼的音樂節，露天劇場約三千四百席，2026 年為第 72 屆）」，加上盧卡的故居博物館，一位作曲家的名字，就這樣成了整片地方迎迓遠客的理由——這是音樂替「國家形象」寫下的動人一頁。</a:t>
            </a:r>
          </a:p>
          <a:p>
            <a:r>
              <a:t>- 📖 德布西（Claude Debussy，1862–1918）：法國作曲家、音樂「印象派（Impressionism）」的代表，作品如《牧神的午後前奏曲（Prélude à l'après-midi d'un faune）》《大海（La Mer）》《月光（Clair de lune）》以朦朧的色彩與氣氛見長。對法國而言，德布西這種細膩品味本身就是一張國家名片——把「法國＝優雅文化之國」的形象輸出到全世界，等於一個國家最溫柔、也最深遠的軟實力。</a:t>
            </a:r>
          </a:p>
          <a:p>
            <a:r>
              <a:t>- 📖 賓士（Mercedes-Benz）：德國豪華汽車品牌，1926 年由戴姆勒（Gottlieb Daimler）與卡爾・賓士（Carl Benz）兩家車廠合併而成（兩人早在 1886 年各自造出最早的汽車）；「Mercedes」之名來自經銷商兼賽車手耶利內克（Emil Jellinek）女兒的名字，1902 年成為商標，三芒星標誌象徵陸、海、空全面動力化。講義借「賓士」當「讓人想靠近的質感」的喻例——一個名字一旦有了這份質地，世人便由衷願意親近（賓士於本站僅在投影片 38 講義補充的業界後話提及）。</a:t>
            </a:r>
          </a:p>
          <a:p>
            <a:r>
              <a:t>- 📖 奇美（Chimei）：台灣奇美集團，以石化、面板起家，創辦人許文龍（1928 年生）愛樂，設立台南的奇美博物館（1992 年成立、2014 年遷入台南都會公園），蒐藏號稱全球最大的提琴群（據載逾一千三百把，含史特拉底瓦里（Stradivari）等名琴），並免費出借給演奏家使用。許文龍說名琴是人類文化遺產、奇美只是暫時保管——一家做石化與面板的企業，就用音樂替品牌與整座城市寫下難以複製的文化氣質。</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33｜企業與國家以藝術締造正向的形象～《拿破崙加冕》</a:t>
            </a:r>
          </a:p>
          <a:p/>
          <a:p>
            <a:r>
              <a:t>【講稿】（停留約 70 秒）我們先看一幅畫——看一個帝國被後世記住的模樣，是怎麼在大師筆下誕生的。1804 年，拿破崙（Napoléon）登基為帝，委託畫家大衛（Jacques-Louis David）繪下自己的加冕大典，還封他做「皇帝首席畫師」。而這位委託的君王，對這幅畫看得極重：他的母親因家族失和未能出席，卻被安置進畫面正中最尊貴的包廂；教皇原本畫得像位旁觀者，拿破崙親自到畫室看過之後，改成了「舉手祝福」的姿態。而正是這一筆國家委託，讓這幅畫永遠懸於羅浮宮。一場大典，由大師畫了下來；一個帝國被後世記住的模樣，從此有了畫面。</a:t>
            </a:r>
          </a:p>
          <a:p>
            <a:r>
              <a:t>【講義補充】</a:t>
            </a:r>
          </a:p>
          <a:p>
            <a:r>
              <a:t>- 這是「國家以藝術締造形象」的教科書級案例：出資方是新生的法蘭西帝國與皇帝本人，留下的不只是一幅畫，而是一個帝國被後世記住的模樣。</a:t>
            </a:r>
          </a:p>
          <a:p>
            <a:r>
              <a:t>- 委託時間與規模：拿破崙（Napoléon Bonaparte）在 1804 年 9 至 10 月間口頭下令委製，一口氣訂了四幅巨畫記錄登基相關大典（登基 L'Intronisation、加冕 Le Sacre、頒鷹旗 La Distribution des aigles、抵市政廳 L'Arrivée à l'Hôtel de Ville），最後大衛（Jacques-Louis David）只完成兩幅：《加冕》與《頒鷹旗》。</a:t>
            </a:r>
          </a:p>
          <a:p>
            <a:r>
              <a:t>- 官方頭銜與名分：1804 年拿破崙封大衛為「皇帝首席畫師」（Premier Peintre de l'Empereur），等於把帝國美術的最高名分與獨尊地位一併託付——藝術贊助者給出的不只是財富，還有榮銜。</a:t>
            </a:r>
          </a:p>
          <a:p>
            <a:r>
              <a:t>- 潤筆據載：皇帝原本口頭同意「每幅」付 10 萬法郎；《加冕》實收約 6.5 萬、另一幅《頒鷹旗》約 5.2 萬（據法文維基百科）。</a:t>
            </a:r>
          </a:p>
          <a:p>
            <a:r>
              <a:t>- 尺寸即氣度：畫布 6.21 公尺 × 9.79 公尺（621 × 979 公分），是羅浮宮（Louvre）最大的畫作之一，畫中人物近百且與真人等身；巨幅本身，就是一個帝國隆重其事的公開宣示。</a:t>
            </a:r>
          </a:p>
          <a:p>
            <a:r>
              <a:t>- 工期是一場國家級的隆重其事：1805 年 12 月 21 日開筆，1807 年 11 月大致完成，1808 年初修潤，1808 年 2 至 3 月公開展出，前後歷時約三年。</a:t>
            </a:r>
          </a:p>
          <a:p>
            <a:r>
              <a:t>- 入畫的講究之一：拿破崙的母親萊蒂西亞（Maria Letizia Ramolino，人稱「皇帝之母」Madame Mère）因家族失和（與另一個兒子呂西安 Lucien 鬧翻）並未親臨典禮，畫中卻端坐正中最尊貴的看台包廂——大典入畫，自有講究。</a:t>
            </a:r>
          </a:p>
          <a:p>
            <a:r>
              <a:t>- 入畫的講究之二：原稿裡教皇庇護七世（Pius VII）雙手擱膝、被動旁觀；拿破崙看了不滿，相傳留下名言「我大老遠把他請來，可不是讓他什麼都不做」（Je ne l'ai pas fait venir de si loin pour qu'il ne fasse rien），要求改成舉手祝福——於是畫面裡，宗教的祝福與新皇的加冕同在。</a:t>
            </a:r>
          </a:p>
          <a:p>
            <a:r>
              <a:t>- 入畫的講究之三：原稿是拿破崙把皇冠往自己頭上戴；宮廷肖像畫家熱拉爾（François Gérard）建議改成「皇帝親手替皇后約瑟芬（Joséphine）加冕」——全畫最溫柔的一幕，就在委託者與大師的往還之間定了調。</a:t>
            </a:r>
          </a:p>
          <a:p>
            <a:r>
              <a:t>- 留下的是傳世之作：正因為是國家委託，這幅畫最終永久掛進羅浮宮，成為法國國家收藏的鎮館名作；另有一幅全尺寸複製版（1808–1822，大衛流亡布魯塞爾時期完成）藏於凡爾賽宮（Château de Versailles）。一場大典由大師畫下，一個帝國被後世記住的模樣，從此有了畫面。</a:t>
            </a:r>
          </a:p>
          <a:p>
            <a:r>
              <a:t>- 與本講其他站的呼應：這和梅迪奇（Medici）資助歌劇、埃斯特哈齊（Esterházy）供養海頓一脈相承——藝術贊助者出資，歷史記住的是「與藝術同在的形象」；差別只在拿破崙留下的是視覺的傳奇，樂器與樂譜換成了油彩與畫布。</a:t>
            </a:r>
          </a:p>
          <a:p>
            <a:r>
              <a:t>- 📖 加冕（Le Sacre／The Coronation）：拿破崙於 1804 年 12 月 2 日在巴黎聖母院登基為帝的典禮；法文 sacre 兼指「加冕」與「祝聖」，強調王權與宗教的雙重合法化。</a:t>
            </a:r>
          </a:p>
          <a:p>
            <a:r>
              <a:t>- 📖 皇帝首席畫師（Premier Peintre de l'Empereur）：中文即「皇帝的第一畫家」，當時＝帝國官方美術的最高職位，掌國家肖像的最高話語權，是至高的榮銜。</a:t>
            </a:r>
          </a:p>
          <a:p>
            <a:r>
              <a:t>- 📖 委託（commission）：出資者將心願託付給大師、由大師成就為傳世之作的古老慣例；拿破崙與大衛正是一例。</a:t>
            </a:r>
          </a:p>
          <a:p>
            <a:r>
              <a:t>- 📖 大衛（Jacques-Louis David，1748–1825）：法國新古典主義代表畫家，大革命與拿破崙時期的官方畫家；在本片視角下＝受國家最高委託、以畫筆留下帝國容顏的大師。</a:t>
            </a:r>
          </a:p>
          <a:p>
            <a:r>
              <a:t>- 📖 皇帝之母（Madame Mère，本名 Maria Letizia Ramolino，1750–1836）：拿破崙的母親；Madame Mère 是官方尊稱，字面即「母親夫人」，當時＝帝國太后級的第一女性。</a:t>
            </a:r>
          </a:p>
          <a:p>
            <a:r>
              <a:t>- 📖 庇護七世（Pius VII，1742–1823）：當時的天主教教皇；被拿破崙請到巴黎為加冕祝聖；畫中舉手祝福的姿態，讓宗教的祝福與新皇的加冕同在。</a:t>
            </a:r>
          </a:p>
          <a:p>
            <a:r>
              <a:t>- 📖 約瑟芬（Joséphine de Beauharnais，1763–1814）：拿破崙的第一任皇后；全畫的高潮就是拿破崙親手為她戴上后冠。</a:t>
            </a:r>
          </a:p>
          <a:p>
            <a:r>
              <a:t>- 📖 熱拉爾（François Gérard，1770–1837）：當紅宮廷肖像畫家、大衛的學生，是把「自我加冕」改為「為皇后加冕」構圖的建議者。</a:t>
            </a:r>
          </a:p>
          <a:p>
            <a:r>
              <a:t>- 📖 法郎（franc）：當時法國的貨幣單位；10 萬法郎在 1800 年代屬「天價」等級的委製潤筆，足見這是一場最高規格的國家委託。</a:t>
            </a:r>
          </a:p>
          <a:p>
            <a:r>
              <a:t>- 📖 新古典主義（Neoclassicism）：18 世紀末至 19 世紀初的藝術風潮，取法古希臘羅馬的莊嚴、秩序與英雄氣概；拿破崙鍾愛這套莊嚴的視覺語言——古羅馬式的正統氣度，與新帝國彼此輝映。</a:t>
            </a:r>
          </a:p>
          <a:p>
            <a:r>
              <a:t>- 📖 羅浮宮（Louvre）：巴黎的國家級美術館，原為法國王宮；此畫入藏於此＝進入國家永久收藏，取得最高規格的長期展示。</a:t>
            </a:r>
          </a:p>
          <a:p>
            <a:r>
              <a:t>- 📖 頒鷹旗（La Distribution des aigles）：拿破崙授予各軍團「鷹旗」軍徽的典禮，鷹取法古羅馬軍團標誌；這是四幅委託中大衛完成的另一幅。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34｜企業與國家以藝術締造正向的形象～《自由引導人民》</a:t>
            </a:r>
          </a:p>
          <a:p/>
          <a:p>
            <a:r>
              <a:t>【講稿】（停留約 65 秒）一個國家的容顏，還有一種更動人的誕生方式。1830 年七月革命之後，法國政府以三千法郎，購藏了畫家德拉克洛瓦（Delacroix）的《自由引導人民》——政府購藏了這幅畫，讓它從此屬於整個國家。只是它訴說的情感太過熾烈，掛上沒多久便被收了起來，直到 1874 年才正式走進羅浮宮。可它的光采，誰也藏不住：後來它被印上法國一百法郎的紙鈔，全國人日日握在掌心裡過日子，漸漸地，它成了整個國家共同的記憶、共同的認同。一幅畫、一段旋律，一旦與眾人的情感繫在一起，它的份量，就再也不是三千法郎所能衡量的了。</a:t>
            </a:r>
          </a:p>
          <a:p>
            <a:r>
              <a:t>【講義補充】</a:t>
            </a:r>
          </a:p>
          <a:p>
            <a:r>
              <a:t>- 這張延續上一張「國家以藝術締造形象」的脈絡，再上一層：政府購藏藝術，留下的不是一塊畫布，而是讓一段集體記憶從此屬於整個國家；德拉克洛瓦這幅畫，正是「一筆購藏、成就一個國家象徵」的教科書級案例。</a:t>
            </a:r>
          </a:p>
          <a:p>
            <a:r>
              <a:t>- 時代背景：1830 年 7 月，法國波旁復辟王朝的國王查理十世（Charles X）頒布箝制新聞、解散國會的《七月敕令》（Ordonnances de Saint-Cloud），引爆巴黎連續三天的街頭起義，史稱「光榮三日」（Les Trois Glorieuses，1830 年 7 月 27～29 日）；查理十世倒台，改由奧爾良家族的路易-菲利普（Louis-Philippe）登基，開啟「七月王朝」（1830～1848）。</a:t>
            </a:r>
          </a:p>
          <a:p>
            <a:r>
              <a:t>- 畫家在革命當下就決定「參戰」：德拉克洛瓦於 1830 年 10 月 21 日寫信給哥哥，說自己雖沒扛槍為國作戰，「至少我可以為她作畫」（大意），並在數月內完成這幅巨作。</a:t>
            </a:r>
          </a:p>
          <a:p>
            <a:r>
              <a:t>- 這幅畫先於 1831 年官方沙龍（Salon）公開展出，隨即由法國政府（內政部）以 3,000 法郎購藏；請注意這裡的購藏者是「國家」：新政權將它掛進盧森堡宮（Palais du Luxembourg）的王座廳——這幅畫與那場革命，從此同屬一段開國記憶。</a:t>
            </a:r>
          </a:p>
          <a:p>
            <a:r>
              <a:t>- 但畫面訊息太危險：一位袒胸、高舉三色旗、帶著群眾跨過屍體衝鋒的自由女神，對任何當權者都是雙面刃，它既歌頌革命，也隨時能召喚下一場革命；於是掛沒多久就被收進庫房，1832 年六月起義後乾脆退還給畫家本人。</a:t>
            </a:r>
          </a:p>
          <a:p>
            <a:r>
              <a:t>- 之後它的「政治溫度」隨政局反覆被收放：1848 年二月革命後短暫重見天日，第二帝國時期又於 1855 年沙龍展出；直到 1874 年才由第三共和正式購藏、送進羅浮宮（Louvre）永久典藏，從被政府藏起來到被政府請進國家殿堂，前後隔了四十多年。</a:t>
            </a:r>
          </a:p>
          <a:p>
            <a:r>
              <a:t>- 真正的「認同大爆發」發生在紙鈔上：1978 至 1995 年，法蘭西銀行（Banque de France）發行的 100 法郎鈔票，正面就是德拉克洛瓦自畫像加上這幅畫的局部；等於全法國人天天摸著它買菜找零，一幅曾被政府嫌太激進的畫，最終變成國家最日常的視覺識別。</a:t>
            </a:r>
          </a:p>
          <a:p>
            <a:r>
              <a:t>- 對企業的收束：政府購藏名畫、企業出資贊助，最終留下的往往是同一樣東西，就是「認同」；一旦作品與眾人的情感繫在一起，它的份量就再也不是當初那 3,000 法郎所能衡量——歲月只會讓它更添光采。</a:t>
            </a:r>
          </a:p>
          <a:p>
            <a:r>
              <a:t>- 📖 德拉克洛瓦（Eugène Delacroix，1798～1863）：法國浪漫主義畫派的代表人物；當時＝法國畫壇最擅長把激情、動勢與政治情緒搬上大畫布的一線畫家，本畫是他最著名的作品。</a:t>
            </a:r>
          </a:p>
          <a:p>
            <a:r>
              <a:t>- 📖 《自由引導人民》（La Liberté guidant le peuple）：1830 年油畫，尺寸約 260×325 公分；當時＝為紀念七月革命而作、把「自由」擬人化並領軍衝鋒的巨型歷史畫。</a:t>
            </a:r>
          </a:p>
          <a:p>
            <a:r>
              <a:t>- 📖 查理十世（Charles X，1757～1836，1824～1830 在位）：波旁復辟王朝的末代國王；當時＝因頒布壓制言論、解散國會的敕令而引爆革命、被迫退位的舊勢力象徵。</a:t>
            </a:r>
          </a:p>
          <a:p>
            <a:r>
              <a:t>- 📖 路易-菲利普（Louis-Philippe，1773～1850，1830～1848 在位）：奧爾良家族出身、七月革命後即位的「公民國王」（roi citoyen，公民國王之意）；當時＝七月革命後即位、將這幅畫迎進宮中、卻又對它敬畏三分的新統治者。</a:t>
            </a:r>
          </a:p>
          <a:p>
            <a:r>
              <a:t>- 📖 七月革命／光榮三日（Les Trois Glorieuses，三個光榮日之意）：1830 年 7 月 27～29 日巴黎的三天起義；當時＝推翻查理十世、直接催生這幅畫的政治事件。</a:t>
            </a:r>
          </a:p>
          <a:p>
            <a:r>
              <a:t>- 📖 七月王朝（Monarchie de Juillet，1830～1848）：路易-菲利普統治的立憲君主政體；當時＝這幅畫誕生後所處、對它又愛又怕的那個政權。</a:t>
            </a:r>
          </a:p>
          <a:p>
            <a:r>
              <a:t>- 📖 沙龍（Salon）：法國官方定期舉辦的美術大展；當時＝藝術家揚名、作品被政府與收藏家看見並收購的最重要官方舞台，本畫 1831 年即在此首度公開。</a:t>
            </a:r>
          </a:p>
          <a:p>
            <a:r>
              <a:t>- 📖 盧森堡宮（Palais du Luxembourg）：巴黎的宮殿，19 世紀一度充當在世藝術家作品的國家美術館；當時＝政府原本打算把這幅畫掛進其王座廳的地點。</a:t>
            </a:r>
          </a:p>
          <a:p>
            <a:r>
              <a:t>- 📖 瑪麗安娜（Marianne）：法蘭西共和國的擬人化女性象徵；當時＝畫中那位袒胸舉旗的自由女神所代表的「法國／共和國本身」，至今仍出現在法國郵票與各市政廳。</a:t>
            </a:r>
          </a:p>
          <a:p>
            <a:r>
              <a:t>- 📖 弗里吉亞帽（Phrygian cap，bonnet phrygien，弗里吉亞式軟帽）：畫中自由女神頭上的紅色軟帽；當時＝源自古希臘羅馬釋放奴隸時所戴、被法國大革命挪用為「自由」的標誌。</a:t>
            </a:r>
          </a:p>
          <a:p>
            <a:r>
              <a:t>- 📖 三色旗（tricolore，三色之意）：藍白紅三色的法國國旗，1789 年大革命期間確立；當時＝白為國王之色、藍與紅為巴黎之色，象徵王與人民的結合，也是畫中高舉的那面旗。</a:t>
            </a:r>
          </a:p>
          <a:p>
            <a:r>
              <a:t>- 📖 法郎（franc）：法國改用歐元之前的貨幣單位；當時＝3,000 法郎是政府購藏此畫的金額，也是後來印上這幅畫那張鈔票的面額（100 法郎）。</a:t>
            </a:r>
          </a:p>
          <a:p>
            <a:r>
              <a:t>- 📖 羅浮宮（Louvre）：巴黎的國家級美術館；當時＝1874 年起本畫的永久典藏地，也是它從「政治敏感品」升格為「國家瑰寶」的終點站。</a:t>
            </a:r>
          </a:p>
          <a:p>
            <a:r>
              <a:t>- 📖 法蘭西銀行（Banque de France）：法國的中央銀行、法郎的發行機構；當時＝1978～1995 年把這幅畫印上 100 法郎鈔票、讓它成為全民日常視覺識別的發行者。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35｜企業與國家以藝術締造正向的形象～威爾第與義大利</a:t>
            </a:r>
          </a:p>
          <a:p/>
          <a:p>
            <a:r>
              <a:t>【講稿】（停留約 100 秒）現在，讓我們把眼光抬得高一些，看看音樂與一個國家，是如何互相成就的。十九世紀的義大利四分五裂、國勢衰微，還在外族的統治之下。就在這樣的日子裡，作曲家威爾第（Verdi）的歌劇，讓全民因音樂而重新振奮了起來。而這一切的起點，有一段動人的佳話。斯卡拉歌劇院（Teatro alla Scala）的經理梅雷利（Bartolomeo Merelli），手上有一部歌劇腳本，才被另一位作曲家退了回來；梅雷利卻認定，這部腳本非威爾第莫屬——據威爾第晚年憶述，經理先生把那疊稿紙，硬是塞回了他的口袋裡。一雙懂得的手，就這樣把一部傳世之作，送到了對的人面前。那部腳本，正是《那布果》（Nabucco）。這齣《那布果》裡有一首〈Va, pensiero〉，唱的是一群被擄的奴隸，深深思念著自己的家園。這首歌，後來成了義大利統一運動（Risorgimento，義大利文「復興」之意）的非官方國歌。當時審查森嚴，義大利人不能公開喊出獨立，於是他們在街頭高喊「Viva VERDI」——表面上是「威爾第萬歲」，可 VERDI 這五個字母，暗藏的卻是「義大利國王萬歲」那句說不出口的心願。一段旋律，竟能把一個尚未統一的國家，凝聚成了一顆心。這，就是音樂的國力。</a:t>
            </a:r>
          </a:p>
          <a:p>
            <a:r>
              <a:t>【講義補充】</a:t>
            </a:r>
          </a:p>
          <a:p>
            <a:r>
              <a:t>- 《那布果》全名《Nabucodonosor》（拿布甲尼撒，即《聖經》裡的巴比倫王尼布甲尼撒），1842 年 3 月 9 日在米蘭斯卡拉歌劇院（Teatro alla Scala）首演，是威爾第（Giuseppe Verdi，1813–1901）真正打響名號的第一齣歌劇。</a:t>
            </a:r>
          </a:p>
          <a:p>
            <a:r>
              <a:t>- 劇本取材自《舊約·詩篇》第 137 篇「巴比倫之囚」（西元前 586 年耶路撒冷聖殿被毀、猶太人被擄往巴比倫）；〈Va, pensiero〉是第三幕被擄奴隸思念故土的大合唱，又名〈希伯來奴隸大合唱〉（Coro di schiavi ebrei）。</a:t>
            </a:r>
          </a:p>
          <a:p>
            <a:r>
              <a:t>- 名句「O mia patria, sì bella e perduta」（我的祖國，如此美麗卻已失落）——當時四分五裂、受奧地利統治的義大利人聽來字字入心，於是威爾第《那布果》〈Va, pensiero〉成了義大利統一運動（Risorgimento）的非官方國歌。</a:t>
            </a:r>
          </a:p>
          <a:p>
            <a:r>
              <a:t>- 第一位知遇威爾第的「企業」是斯卡拉歌劇院的戲院經理梅雷利（Bartolomeo Merelli）：他在威爾第首作《奧貝托》（Oberto，1839）後一口氣簽下三部歌劇合約；索雷拉（Temistocle Solera）這部《那布果》腳本原先給了作曲家尼可萊（Otto Nicolai）而遭退回，梅雷利卻認定它屬於威爾第——據威爾第晚年憶述，威爾第本想把腳本退還，梅雷利硬是把稿紙塞回他的口袋、還把他請出了辦公室——就這樣催生了這齣戲（1842 年 3 月 9 日斯卡拉首演）。</a:t>
            </a:r>
          </a:p>
          <a:p>
            <a:r>
              <a:t>- 這份知遇結出的果實：1842 年首演那季因檔期將盡只演八場，但同年 8 月新季一開，到年底加演約六十場（據載）——一齣歌劇，就這樣響遍了米蘭、響進了整個民族的心裡。</a:t>
            </a:r>
          </a:p>
          <a:p>
            <a:r>
              <a:t>- 另一位知音是出版商里柯第（Casa Ricordi）：創辦人喬凡尼·里柯第（Giovanni Ricordi）自此把威爾第的歌劇送往各地劇院，與他一路同行——這條「里柯第×威爾第」的相知線貫穿本講座另一張投影片。</a:t>
            </a:r>
          </a:p>
          <a:p>
            <a:r>
              <a:t>- 「Viva VERDI」＝「Viva Vittorio Emanuele Re D'Italia」（義大利國王維托里奧·埃馬努埃萊萬歲）的縮寫暗號：五個字母約 1859 年先在拿坡里出現、再傳遍全義，表面喊「威爾第萬歲」，審查者抓不到把柄，實則為薩丁尼亞國王維托里奧·埃馬努埃萊二世登上未來義大利王位而歡呼。</a:t>
            </a:r>
          </a:p>
          <a:p>
            <a:r>
              <a:t>- 為什麼非用暗號不可：當時義大利北部（倫巴底—威尼西亞）由奧地利帝國統治、審查嚴密，公開喊獨立會被捕，音樂與作曲家的名字於是成了合法的政治掩護。</a:t>
            </a:r>
          </a:p>
          <a:p>
            <a:r>
              <a:t>- 國力的最終見證：1901 年 1 月 27 日威爾第過世，米蘭街頭送葬群眾自發唱起〈Va, pensiero〉；約一個月後遷葬時，年輕的指揮托斯卡尼尼（Arturo Toscanini）率八百二十人合唱團同唱此曲（據 Wikipedia）——一段旋律，成了整個民族半世紀的集體記憶。</a:t>
            </a:r>
          </a:p>
          <a:p>
            <a:r>
              <a:t>- 給企業的一句話：威爾第的例子見證，音樂最高的榮光，是「被一整個民族當成自己的聲音」；這樣的高度無從強求，只在企業與藝術長年的相知裡誕生。</a:t>
            </a:r>
          </a:p>
          <a:p>
            <a:r>
              <a:t>- 📖 那布果／尼布甲尼撒（Nabucco / Nabucodonosor）：《聖經》裡攻陷耶路撒冷、擄走猶太人的巴比倫王，歌劇借他的故事影射受外族統治的義大利。</a:t>
            </a:r>
          </a:p>
          <a:p>
            <a:r>
              <a:t>- 📖 斯卡拉歌劇院（Teatro alla Scala）：1778 年啟用的米蘭歌劇院，義大利歌劇的最高殿堂，當時＝一齣戲能否成名的生死舞台。</a:t>
            </a:r>
          </a:p>
          <a:p>
            <a:r>
              <a:t>- 📖 戲院經理／製作人（impresario，義大利文）：歌劇院的經營者兼製作人，負責出資、選戲、簽下作曲家與歌手，相當於今天的製作公司老闆加節目總監。</a:t>
            </a:r>
          </a:p>
          <a:p>
            <a:r>
              <a:t>- 📖 梅雷利（Bartolomeo Merelli，1794–1879）：時任斯卡拉歌劇院經理，慧眼簽下年輕的威爾第；《那布果》腳本先遭作曲家尼可萊（Otto Nicolai）退回，是梅雷利的堅持把它送回威爾第手裡——歌劇史上最著名的一次「知遇」（塞回口袋一節出自威爾第晚年自述，帶回憶性質）。</a:t>
            </a:r>
          </a:p>
          <a:p>
            <a:r>
              <a:t>- 📖 里柯第出版社（Casa Ricordi）：1808 年創立於米蘭的音樂出版商，掌握十九世紀大量義大利歌劇版權，當時＝與作曲家命運相繫、掌作品流通的出版重鎮。</a:t>
            </a:r>
          </a:p>
          <a:p>
            <a:r>
              <a:t>- 📖 復興運動（Risorgimento，義大利文「復興、再起」）：19 世紀義大利脫離奧地利等外族統治、走向統一建國的運動，1861 年義大利王國成立、1870 年攻下羅馬大致完成統一。</a:t>
            </a:r>
          </a:p>
          <a:p>
            <a:r>
              <a:t>- 📖 維托里奧·埃馬努埃萊二世（Vittorio Emanuele II，1820–1878）：原薩丁尼亞王國國王，1861 年成為統一後義大利王國首任國王，「Viva VERDI」暗號指的就是他。</a:t>
            </a:r>
          </a:p>
          <a:p>
            <a:r>
              <a:t>- 📖 薩丁尼亞王國（Kingdom of Sardinia）：以皮埃蒙特與杜林為核心的義大利邦國，是統一運動的主導力量，也是日後義大利王國的前身。</a:t>
            </a:r>
          </a:p>
          <a:p>
            <a:r>
              <a:t>- 📖 巴比倫之囚（Babylonian captivity）：西元前 586 年後猶太人被擄往巴比倫的歷史，〈Va, pensiero〉即以此為背景抒發思鄉之情。</a:t>
            </a:r>
          </a:p>
          <a:p>
            <a:r>
              <a:t>- 📖 劇本／腳本（libretto，義大利文「小書」）：歌劇的文字腳本；《那布果》腳本由索雷拉（Temistocle Solera）撰寫。</a:t>
            </a:r>
          </a:p>
          <a:p>
            <a:r>
              <a:t>- 📖 托斯卡尼尼（Arturo Toscanini，1867–1957）：義大利指揮巨匠，曾長期執掌斯卡拉歌劇院與紐約愛樂，1901 年威爾第遷葬時領八百二十人合唱〈Va, pensiero〉。</a:t>
            </a:r>
          </a:p>
          <a:p>
            <a:r>
              <a:t>【影片操作】 可播〈Va, pensiero〉合唱約 3 分鐘。播前：「聽一個民族，如何用一首歌找回自己。」</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36｜企業與國家以藝術締造正向的形象～普契尼的詠嘆調</a:t>
            </a:r>
          </a:p>
          <a:p/>
          <a:p>
            <a:r>
              <a:t>【講稿】（停留約 75 秒）這樣的形象，還會化作一方水土迎迓遠客的風華。義大利作曲家普契尼（Puccini）的歌劇，就替一個個地方，留下了實實在在的迴響。他的《蝴蝶夫人》故事發生在日本長崎，於是長崎的哥拉巴園，便因這齣歌劇被喚作「蝴蝶夫人之家」，一年迎來將近兩百萬位遠道而來的客人；他的《托斯卡》把羅馬的地標寫進了劇情，這些地標，就成了樂迷心中非去一趟不可的朝聖之地。一段詠嘆調，就這樣成了世人想親近義大利的理由——音樂為一座城市寫下難以複製的氣質，而這股氣質，便長長久久替它迎迓著遠道而來的客人。這對各位的品牌，其實是同一個道理：當一段音樂與你的品牌真心相知，那份風雅，便與你的名字長長久久同在。</a:t>
            </a:r>
          </a:p>
          <a:p>
            <a:r>
              <a:t>【講義補充】</a:t>
            </a:r>
          </a:p>
          <a:p>
            <a:r>
              <a:t>- 本張命題：一齣歌劇能替一座城市、甚至一個國家寫下難以複製的氣質，讓世人一代代專程前來親近——對品牌的啟示是，一段對的音樂，會替一個名字寫下讓人想親近、又無從模仿的容顏。</a:t>
            </a:r>
          </a:p>
          <a:p>
            <a:r>
              <a:t>- 《蝴蝶夫人》（Madama Butterfly）1904 年 2 月 17 日在米蘭史卡拉歌劇院（Teatro alla Scala，義大利語 La Scala 即「階梯」之意，1778 年開幕、歐洲最高規格的首演舞台）首演；故事設定在日本長崎（Nagasaki）。首演當晚被觀眾噓爆、視為慘敗，普契尼修訂後同年 5 月 28 日在布雷西亞（Brescia）重演大獲成功，此後風行全球——長崎也就因它添了一張「蝴蝶夫人之家」的名片。</a:t>
            </a:r>
          </a:p>
          <a:p>
            <a:r>
              <a:t>- 最動人的是：長崎的哥拉巴園與普契尼素無淵源、歌劇也從沒在此取景，只因園中洋樓的氛圍神似劇景，世人便深情地喚它「蝴蝶夫人之家」，園內更為普契尼與名伶三浦環立起雕像——一段旋律的想像，足以點亮一個真實的地方。</a:t>
            </a:r>
          </a:p>
          <a:p>
            <a:r>
              <a:t>- 哥拉巴園年訪客近 200 萬人（據 Wikipedia／Visit Kyushu），是長崎第一號觀光景點；核心建物哥拉巴故居 1863 年落成，是日本現存最古老的西式住宅（原 note 事實保留並擴充）。</a:t>
            </a:r>
          </a:p>
          <a:p>
            <a:r>
              <a:t>- 《托斯卡》（Tosca）1900 年 1 月 14 日在羅馬特奧斯坦齊劇院（Teatro Costanzi）首演，改編自法國劇作家薩杜（Victorien Sardou）1887 年的舞台劇《La Tosca》，故事設定在 1800 年拿破崙進逼下的羅馬；普契尼把三幕分別「釘」在羅馬三處真實地標上，於是這三處全都變成樂迷的朝聖點（原 note 「羅馬地標朝聖點」保留並具體化）。</a:t>
            </a:r>
          </a:p>
          <a:p>
            <a:r>
              <a:t>- 這條「托斯卡之路」（Tosca trail）如今已是羅馬固定行程：據 Seattle Times，第一幕場景聖安德烈亞德拉瓦萊教堂「觀光客往往比信眾還多」——一齣歌劇，讓一座教堂成了世人朝聖的名所。</a:t>
            </a:r>
          </a:p>
          <a:p>
            <a:r>
              <a:t>- 三處地標今天的身分同樣是活招牌：第二幕的法爾內塞宮現為法國駐義大利大使館，第三幕的聖天使堡自 1925 年起是國立博物館，三點步行可達、正好串成一條半日至一日的遊程。</a:t>
            </a:r>
          </a:p>
          <a:p>
            <a:r>
              <a:t>- 國家形象層面：普契尼一生只寫義大利語歌劇，卻把長崎、羅馬、乃至《杜蘭朵》（Turandot）裡的北京「異國氛圍」帶到全世界，等於替義大利歌劇寫下跨國的軟實力名片；百餘年來，遠客因這些旋律一代代前來，是地方最長情的餘澤。</a:t>
            </a:r>
          </a:p>
          <a:p>
            <a:r>
              <a:t>- 與本片其他站呼應：第七樣態會講到的《Funiculì, Funiculà》是登山纜車公司的委託之作、替纜車迎來乘客；本張是它的放大版——不只一家公司，而是整座城市、整個國家，都因音樂而迎迓遠客。兩者同樣見證：音樂與一方水土，能長長久久互相成就，正對應本片記憶點「可持續」。</a:t>
            </a:r>
          </a:p>
          <a:p>
            <a:r>
              <a:t>- 對企業與品牌的收斂：一段詠嘆調，能成為世人想親近義大利的理由，也能替一個名字寫下令人想親近的容顏。</a:t>
            </a:r>
          </a:p>
          <a:p>
            <a:r>
              <a:t>- 📖 賈科莫·普契尼（Giacomo Puccini，1858～1924）：義大利歌劇作曲家，生於托斯卡尼的盧卡（Lucca），代表作《蝴蝶夫人》《托斯卡》《波希米亞人》《杜蘭朵》至今仍是全球歌劇院最常搬演的劇目；當時＝全歐洲最受劇院與觀眾傾心的在世作曲家之一。</a:t>
            </a:r>
          </a:p>
          <a:p>
            <a:r>
              <a:t>- 📖 蝴蝶夫人（Madama Butterfly）：普契尼 1904 年的三幕（原為兩幕）歌劇，寫美國海軍軍官平克頓（B. F. Pinkerton）娶了長崎年輕藝伎又將她拋棄的悲劇；當時＝把「日本長崎」寫進全球歌劇院曲目、讓長崎百年蒙其餘澤的作品。</a:t>
            </a:r>
          </a:p>
          <a:p>
            <a:r>
              <a:t>- 📖 蝶蝶さん（Cio-Cio-san）：女主角的名字，日文「蝶」之意，故中譯「蝴蝶夫人」；身分是一位年輕藝伎（geisha，賣藝陪席的日本女子）。</a:t>
            </a:r>
          </a:p>
          <a:p>
            <a:r>
              <a:t>- 📖 哥拉巴園（Glover Garden，日文グラバー園）：位於長崎、依山面港的洋風庭園，因園內洋樓氛圍近似《蝴蝶夫人》劇景而別稱「蝴蝶夫人之家」；當時＝長崎頭號觀光景點，年吸引近 200 萬訪客。</a:t>
            </a:r>
          </a:p>
          <a:p>
            <a:r>
              <a:t>- 📖 湯瑪士·布雷克·哥拉巴（Thomas Blake Glover，1838～1911）：蘇格蘭商人，以造船、煤礦、軍火協助幕末日本近代化並支援明治維新志士，哥拉巴園即其宅邸；當時＝把西方技術引進日本的關鍵人物，園子後來才因歌劇之名成為觀光名所。</a:t>
            </a:r>
          </a:p>
          <a:p>
            <a:r>
              <a:t>- 📖 三浦環（Tamaki Miura，1884～1946）：日本女高音，1915 年在倫敦歌劇院首度飾演蝴蝶夫人 Cio-Cio-san，據載普契尼稱她是他「理想的蝴蝶夫人」；哥拉巴園內立有她的雕像，是這齣戲替長崎添上光采的活見證。</a:t>
            </a:r>
          </a:p>
          <a:p>
            <a:r>
              <a:t>- 📖 托斯卡（Tosca）：普契尼 1900 年的三幕歌劇，改編自薩杜的同名舞台劇，寫歌者托斯卡、畫家卡瓦拉多西與惡警長史卡皮亞之間的政治愛情悲劇；當時＝把羅馬三大地標「寫」成劇景、進而化作樂迷朝聖路線的作品。</a:t>
            </a:r>
          </a:p>
          <a:p>
            <a:r>
              <a:t>- 📖 聖安德烈亞德拉瓦萊教堂（Sant'Andrea della Valle）：羅馬一座巴洛克大教堂，《托斯卡》第一幕場景，堂內圓頂與壁畫為巴洛克名作；今天＝觀光客往往多過信眾的朝聖名所。</a:t>
            </a:r>
          </a:p>
          <a:p>
            <a:r>
              <a:t>- 📖 法爾內塞宮（Palazzo Farnese）：羅馬一座文藝復興名邸，十六世紀興建、米開朗基羅（Michelangelo）曾參與設計，《托斯卡》第二幕即以此為警長官邸；當時是貴族府邸，今為法國駐義大利大使館。</a:t>
            </a:r>
          </a:p>
          <a:p>
            <a:r>
              <a:t>- 📖 聖天使堡（Castel Sant'Angelo）：台伯河（Tiber）畔堡壘，約公元 123 年原為羅馬皇帝哈德良（Hadrian）的陵墓，歷經城堡、教皇避難所與監獄，《托斯卡》女主角在此跳城殉情作結；1925 年起改為國立博物館，是羅馬必看景點之一。</a:t>
            </a:r>
          </a:p>
          <a:p>
            <a:r>
              <a:t>- 📖 特奧斯坦齊劇院（Teatro Costanzi）：羅馬的歌劇院，1900 年《托斯卡》在此首演，即今日羅馬歌劇院（Teatro dell'Opera di Roma）的前身。</a:t>
            </a:r>
          </a:p>
          <a:p>
            <a:r>
              <a:t>【影片操作】 播普契尼《蝴蝶夫人》〈美好的一日 Un bel dì〉約 4–5 分鐘。播前：「聽一位作曲家，怎麼替一座城市，寫下讓人想去的氣質。」</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37｜企業與國家以藝術締造正向的形象～德布西與 Chanel</a:t>
            </a:r>
          </a:p>
          <a:p/>
          <a:p>
            <a:r>
              <a:t>【講稿】（停留約 70 秒）再說一個各位一定會有共鳴的例子。我們一想到法國，心裡便浮起「浪漫」二字——這份印象，究竟是從何而來的呢？有很大一部分，是作曲家德布西（Debussy）替它寫成的。他的《月光》《海》《牧神的午後》，把「法式浪漫」，化作了一種舉世都認得、都嚮往的氣質。一個國家的氣質，是可以由一位作曲家，一筆一筆慢慢寫成的。更動人的是，一百多年後，世上最昂貴的廣告，選中了德布西——各位今日進場時聽到的《月光》，正是香奈兒 Chanel No.5 那支「史上最貴香水廣告」的配樂：2004 年由 Baz Luhrmann 執導、Nicole Kidman 主演，造價約 3,300 萬美元。法國的浪漫，就這樣由音樂替品牌說了出來。德布西替法國寫下的那份高雅，一百多年過去，至今仍在替世人述說，何謂風雅。</a:t>
            </a:r>
          </a:p>
          <a:p>
            <a:r>
              <a:t>【講義補充】</a:t>
            </a:r>
          </a:p>
          <a:p>
            <a:r>
              <a:t>- 本張的命題不在德布西的音樂本身，而在他替「法國＝浪漫、優雅」這個國家形象，一筆一筆寫出了全世界都認得、都嚮往的聲音名片；德布西（Achille-Claude Debussy，1862–1918）正是法國音樂印象派的創立者與代表人物。</a:t>
            </a:r>
          </a:p>
          <a:p>
            <a:r>
              <a:t>- 「形象」是最珍貴的無形餘澤：一個國家（或一個品牌）一旦被認定「＝浪漫、＝精緻」，觀光、時尚、精品、餐飲全都沐浴在這股光采裡——這份氣質，是歲月為它寫下、誰也奪不走的。</a:t>
            </a:r>
          </a:p>
          <a:p>
            <a:r>
              <a:t>- 法國自十九世紀末起被視為「文化超級強權」（cultural superpower）：巴黎是美術、哲學、時尚之都，法國葡萄酒與料理幾乎等於「精緻」的代名詞。這套形象不是天上掉下來的，是由畫家、詩人、作曲家長年接力「寫」出來的，德布西正是聲音這一路的主筆。</a:t>
            </a:r>
          </a:p>
          <a:p>
            <a:r>
              <a:t>- 呼應本講座的收放安排：各位今天入場、待會兒散場流動的《月光》，就是這張「法國名片」；它是鋼琴獨奏、不能帶動唱，只當暖場與散場的墊樂。</a:t>
            </a:r>
          </a:p>
          <a:p>
            <a:r>
              <a:t>- 📖 印象派（Impressionism，音樂）：十九世紀末由德布西在法國開創的風格，重「音色」（timbre，音的色澤與質感）與朦朧氛圍，而非德奧浪漫派那種厚重旋律與和聲推進；名稱借自莫內等畫家的印象派畫作。有趣的是德布西本人不喜歡這個標籤，自認更接近「象徵主義」。</a:t>
            </a:r>
          </a:p>
          <a:p>
            <a:r>
              <a:t>- 📖 《月光》（Clair de lune，法文「月光」）：德布西《貝加馬斯克組曲》（Suite bergamasque）的第三樂章，約1890年寫成、1905年才由巴黎杜宏出版社（Durand）正式出版，原題叫「感傷的散步」（Promenade sentimentale）。它幾乎成了「法式浪漫」的聽覺標誌，被電影、廣告、婚禮反覆借用，正是「法式浪漫」被全世界真心喜愛的活例子。</a:t>
            </a:r>
          </a:p>
          <a:p>
            <a:r>
              <a:t>- 📖 貝加馬斯克組曲（Suite bergamasque）：《月光》所屬的四樂章鋼琴組曲；「bergamasque」意指義大利貝加莫（Bergamo）地方的舞曲風味，也帶有義大利即興喜劇（commedia dell'arte）的聯想，可見「法式浪漫」其實還借用了義大利與其他文化的原料。</a:t>
            </a:r>
          </a:p>
          <a:p>
            <a:r>
              <a:t>- 📖 魏爾崙（Paul Verlaine，1844–1896）：法國象徵主義詩人，1869年詩作〈月光〉正是德布西曲名與意境的來源。這首詩收在詩集《華宴》（Fêtes galantes，直譯「風雅的慶典」），詩集又受十八世紀畫家華鐸的畫啟發，說明「浪漫法國」的形象是詩、畫、樂彼此接力疊出來的。</a:t>
            </a:r>
          </a:p>
          <a:p>
            <a:r>
              <a:t>- 📖 華鐸（Jean-Antoine Watteau，1684–1721）：法國洛可可畫家，擅畫貴族在庭園中嬉遊的「雅宴」（fêtes galantes）場景。他筆下那種優雅、感傷、帶點面具與慾望的氛圍，隔了一百多年還在替法國供應「浪漫」的原料。</a:t>
            </a:r>
          </a:p>
          <a:p>
            <a:r>
              <a:t>- 📖 《海》（La Mer，法文「海」，全名「海，管弦樂三首交響素描」La mer, trois esquisses symphoniques pour orchestre）：1903至1905年作、1905年10月15日在巴黎首演（Camille Chevillard 指揮、拉穆勒管弦樂團 Orchestre Lamoureux），同年由杜宏（Durand）出版，是德布西把「法式管弦色彩」推向世界的招牌大作。</a:t>
            </a:r>
          </a:p>
          <a:p>
            <a:r>
              <a:t>- 📖 《神奈川沖浪裏》（The Great Wave off Kanagawa，北齋大浪）：日本浮世繪大師葛飾北齋（Katsushika Hokusai，約1760–1849）約1831年的木刻版畫。德布西親自選它做《海》首版樂譜封面（據 Wikipedia）——東方的浪與法蘭西的海，就這樣在一張封面上相互輝映。</a:t>
            </a:r>
          </a:p>
          <a:p>
            <a:r>
              <a:t>- 📖 《牧神的午後》前奏曲（Prélude à l'après-midi d'un faune）：1894年12月22日在巴黎首演，靈感來自象徵主義詩人馬拉美（Stéphane Mallarmé，1842–1898）的同名長詩，描寫牧神在半夢半醒間對林中仙女的遐想。此曲常被視為印象派與現代音樂的開端，首演當場就被要求整曲再演一次（安可）。</a:t>
            </a:r>
          </a:p>
          <a:p>
            <a:r>
              <a:t>- 📖 象徵主義（Symbolism）：十九世紀末法國文學與藝術運動，主張「不把話說白」，用暗示、氛圍、象徵去傳遞情緒。德布西自認屬於這一派，這也是「法式含蓄浪漫」形象的思想底層。</a:t>
            </a:r>
          </a:p>
          <a:p>
            <a:r>
              <a:t>- 📖 軟實力（soft power）：指一個國家「靠吸引、而非強迫」去影響他人的能力，來源包括文化、藝術、價值觀；它看不見卻極珍貴，是一個國家最溫柔的力量。法國的浪漫形象就是教科書級的軟實力。</a:t>
            </a:r>
          </a:p>
          <a:p>
            <a:r>
              <a:t>- 📖 國家品牌（nation branding，國家形象經營）：指一個國家的正面形象（如法國＝浪漫精緻）如何被涵養、被世人認得；作曲家、詩人、畫家，正是替國家一筆一筆寫下這份氣質的執筆人。</a:t>
            </a:r>
          </a:p>
          <a:p>
            <a:r>
              <a:t>- 給企業家的一句話：形象從不是一時的裝點，而是歲月只會讓它更添光采的傳家之寶。法國的「浪漫」二字成了舉世的嚮往之後，香水、時裝、觀光、紅酒，樣樣都染上這份光采——這正是德布西們留給法國的餘澤。</a:t>
            </a:r>
          </a:p>
          <a:p>
            <a:r>
              <a:t>- 世上最昂貴的廣告，選中了德布西：香奈兒 Chanel No.5《The Film》（2004，Baz Luhrmann 執導、Nicole Kidman 主演）用德布西《月光》當配樂，造價約 3,300 萬美元，是「史上最貴的香水廣告」。法國的浪漫，由音樂替品牌說出——德布西替法國涵養一百多年的高雅，就這樣與一瓶香水互相輝映，也正是下一張「企業與古典樂同行」的先聲（來源：en.wikipedia.org/wiki/No._5_the_Film）。</a:t>
            </a:r>
          </a:p>
          <a:p>
            <a:r>
              <a:t>- 一句話帶走：能由作曲家一筆一筆寫成的「形象」，也能由企業一年一年涵養出來——與藝術同行，品牌便有了一份誰也奪不走的氣質。</a:t>
            </a:r>
          </a:p>
          <a:p>
            <a:r>
              <a:t>【影片操作】 播德布西《月光》約 2 分鐘。播前：「這首《月光》，就是 Chanel No.5 那支史上最貴香水廣告用的曲子——聽聽看，法式高雅是什麼聲音。」</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38｜企業與國家以藝術締造正向的形象～英航與〈花之二重唱〉</a:t>
            </a:r>
          </a:p>
          <a:p/>
          <a:p>
            <a:r>
              <a:t>【講稿】（停留約 80 秒）從國家，我們回到各位最親切的——你自己的品牌。多少頂級品牌，都曾與一段古典旋律長情同行，一份格調與身分，便在旋律之中，與產品相生。最動人的例子，是英國航空（British Airways）。他們 1989 年那支經典廣告《Face》，用的是法國作曲家德利伯（Léo Delibes）歌劇《拉克美》裡的〈花之二重唱〉。一段本來相當冷門的詠嘆調，就這樣陪伴一家航空公司，走了三十五年——2019 年百週年之際，他們仍以它重新編曲，讓這段旋律再一次響起。各位想想，一次用心的選曲，經得起三十五年的歲月，而歲月，只會讓它更添光采。這樣的相知，其實俯拾皆是：Stella Artois 選了威爾第、De Beers 選了 Jenkins、飛雅特選了羅西尼——古典音樂與品牌，就這樣一對一對，互相輝映。我們就一同聽聽，這段被英航珍惜了三十五年的旋律。</a:t>
            </a:r>
          </a:p>
          <a:p>
            <a:r>
              <a:t>【講義補充】</a:t>
            </a:r>
          </a:p>
          <a:p>
            <a:r>
              <a:t>- 核心命題：頂級品牌與古典音樂長情同行，讓產品在旋律裡有了身分與格調——這是四百年前王公貴族與藝術互相輝映的當代企業版。</a:t>
            </a:r>
          </a:p>
          <a:p>
            <a:r>
              <a:t>- 英國航空《Face》廣告（1989，Saatchi &amp; Saatchi 製作、Hugh Hudson 執導）採用〈Aria〉——雅尼（Yanni）與 Malcolm McLaren 改編自德利伯（Léo Delibes）歌劇《拉克美》(Lakmé, 1883) 第一幕的〈花之二重唱〉(Flower Duet)；此旋律自此成為英航長達三十五年的品牌主題，2019 年百週年還重新編曲演奏（來源：en.wikipedia.org/wiki/British_Airways_face_advertisement）。</a:t>
            </a:r>
          </a:p>
          <a:p>
            <a:r>
              <a:t>- 為什麼能相伴三十五年：一段冷門詠嘆調，被一家企業長年珍惜、反覆詠唱——這段旋律，從此與這個名字相認，世人一聽見它，便想起這家企業。一次真心的選曲，歲月只會讓它更添光采。</a:t>
            </a:r>
          </a:p>
          <a:p>
            <a:r>
              <a:t>- 古典音樂的光采，會溫柔地映照在與它同行的一切之上——就這樣，古典音樂與品牌互相輝映。</a:t>
            </a:r>
          </a:p>
          <a:p>
            <a:r>
              <a:t>- 古典樂安靜、優雅、留白多，與航空、豪車、精品、珠寶這些講究的事物，本就聲氣相通——相知因此自然。</a:t>
            </a:r>
          </a:p>
          <a:p>
            <a:r>
              <a:t>- 同樣的相知其實有據可查：Stella Artois 英國廣告用威爾第《命運之力》序曲的旋律，主打「Reassuringly Expensive（貴得有道理）」；De Beers 鑽石廣告用 Karl Jenkins 的〈Palladio〉（「A Diamond is Forever」）；飛雅特（Fiat）1979 年「Handbuilt by Robots」廣告用羅西尼《塞維亞理髮師》裡費加洛的詠嘆調——古典音樂，是廣告界最鍾愛的格調之聲。</a:t>
            </a:r>
          </a:p>
          <a:p>
            <a:r>
              <a:t>- 業界後話：這樣的選曲近年漸多，於是有些頂級品牌更進一步，委託專屬配樂（例如奧迪自製、賓士打造 Sonic DNA）——從「與名曲同行」走向「委託當代創作」，正呼應本講座稍後「當代委創」的一站。</a:t>
            </a:r>
          </a:p>
          <a:p>
            <a:r>
              <a:t>- 📖 德利伯（Léo Delibes，1836–1891）：法國作曲家，以芭蕾《柯貝莉亞》《希爾薇亞》與歌劇《拉克美》聞名；〈花之二重唱〉即出自《拉克美》，是他最廣為人知的旋律。</a:t>
            </a:r>
          </a:p>
          <a:p>
            <a:r>
              <a:t>- 📖 《拉克美》(Lakmé, 1883)：德利伯的三幕歌劇，背景設在英屬印度；第一幕的〈花之二重唱〉(Duo des fleurs／Flower Duet) 由女高音與次女高音對唱，旋律優美，日後被大量用於廣告與影視。</a:t>
            </a:r>
          </a:p>
          <a:p>
            <a:r>
              <a:t>- 📖 〈花之二重唱〉(Flower Duet)：《拉克美》中拉克美與侍女摘花時對唱的二重唱（法文首句「Sous le dôme épais」）；英航〈Aria〉即改編自此。</a:t>
            </a:r>
          </a:p>
          <a:p>
            <a:r>
              <a:t>- 📖 英國航空（British Airways）：英國國家航空公司；1989 年起以〈花之二重唱〉為品牌主題音樂，是「用古典樂替品牌定調」最長壽的案例之一。</a:t>
            </a:r>
          </a:p>
          <a:p>
            <a:r>
              <a:t>- 📖 聲音品牌／聲音商標（Sonic branding／Sound logo）：用固定的音樂或幾秒短音，讓世人一聽便認出一個名字的做法；英航與〈花之二重唱〉的三十五年，是其中最長情的一例。</a:t>
            </a:r>
          </a:p>
          <a:p>
            <a:r>
              <a:t>- 📖 光環效應（Halo effect）：心理學名詞，指對某事物的整體好印象會延伸到相關事物——美好事物的光采，自然映照在與它相伴的一切之上；古典樂與品牌的互相輝映，正是這份光采溫柔的延伸。</a:t>
            </a:r>
          </a:p>
          <a:p>
            <a:r>
              <a:t>- 📖 嚮往式行銷（Aspirational branding）：指品牌以一份美好的嚮往與人相遇——而音樂，最能在一瞬間喚醒這份嚮往。</a:t>
            </a:r>
          </a:p>
          <a:p>
            <a:r>
              <a:t>【影片操作】 播英國航空〈花之二重唱〉廣告（或德利伯〈花之二重唱〉名演）約 2–3 分鐘。播前：「注意這段旋律——英航與它同行了整整三十五年。聽聽看，一段詠嘆調如何讓飛行有了格調。」</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39｜企業與國家以藝術締造正向的形象～許文龍與奇美</a:t>
            </a:r>
          </a:p>
          <a:p/>
          <a:p>
            <a:r>
              <a:t>【講稿】（停留約 80 秒）看過了這麼多國際品牌，我特別想留一個台灣自己的例子給各位，而且是我心裡最鍾愛的一個——奇美（Chimei）。奇美的創辦人許文龍先生，做的是石化、電子；而他的心裡，始終住著音樂。他收藏了全世界數量最多的名琴，建起了一座奇美博物館。於是今天我們一想到奇美，腦海裡除了一份事業的成就，更有滿室溫潤的藝術氣息——這份氣息，從此成了世人記得奇美的容顏；藝術的光采，就這樣與奇美之名同在。這，就是台灣自己的梅迪奇。而這個例子最動人的地方，正在於它離你我這樣近：不必身在歐洲、不必出身貴族，一位台灣的企業家，就在台南，把它成就了。我們一同來看看奇美的名琴。</a:t>
            </a:r>
          </a:p>
          <a:p>
            <a:r>
              <a:t>【講義補充】</a:t>
            </a:r>
          </a:p>
          <a:p>
            <a:r>
              <a:t>- 這是全片唯一的台灣本土贊助案例，也是離在場企業家最近的一個榜樣——把「你成就音樂，音樂也成就你」命題落回台南：一位做塑膠、面板的實業家，滿室收藏的光采，從此與企業之名同在。</a:t>
            </a:r>
          </a:p>
          <a:p>
            <a:r>
              <a:t>- 許文龍（Hsu Wen-lung，另譯 Shi Wen-long；1928 年 2 月 25 日生於台南、2023 年 11 月 18 日逝世，享耆壽 95 歲）1960 年創辦奇美實業，把 ABS 塑膠做到世界第一，素有「台灣壓克力之父」與「北台塑、南奇美」之稱，晚年（約 1998 年）再跨足面板成立奇美電子；這份白手起家的實業成就，正是後文藝術故事的起點。</a:t>
            </a:r>
          </a:p>
          <a:p>
            <a:r>
              <a:t>- 奇美的贊助不是一次性捐款，而是一整套制度：1977 年設奇美文化基金會、1988 年起發獎助金給藝術家、1992 年創奇美博物館——先有基金會再有館舍，示範了企業如何把「贊助」長期化、組織化。</a:t>
            </a:r>
          </a:p>
          <a:p>
            <a:r>
              <a:t>- 奇美博物館現址位於台南市仁德區的台南都會公園，2014 年遷入新館、2015 年重新開館；據奇美官方與 Wikipedia，此館由許文龍興建後捐給台南市政府，體現「為大眾、尤其為沒機會出國看博物館的人而辦」的初衷，且常態免票或低價入場。</a:t>
            </a:r>
          </a:p>
          <a:p>
            <a:r>
              <a:t>- 建築刻意走歐洲古典宮殿路線（圓頂、古典柱式），園區更 1:1 複製凡爾賽宮的「阿波羅噴泉」——企業以古典宮殿的語彙起造，把一座典雅的殿堂，免費開放給市民。</a:t>
            </a:r>
          </a:p>
          <a:p>
            <a:r>
              <a:t>- 收藏核心是提琴：據英文維基百科逾 1,370 把（一說 1,376 把、出自 1,122 位製琴師之手），為世界最大規模的私人提琴收藏，網羅史特拉底瓦里、瓜奈里、阿瑪蒂、史坦納等名家之作。</a:t>
            </a:r>
          </a:p>
          <a:p>
            <a:r>
              <a:t>- 起家軼事：據奇美官方沿革，1990 年許文龍向小提琴家林昭亮購入第一把史特拉底瓦里名琴（據 Wikipedia 為 1707 年製、約 100 萬美元），漫漫「建國大業」自此展開。</a:t>
            </a:r>
          </a:p>
          <a:p>
            <a:r>
              <a:t>- 最關鍵、也最像「現代梅迪奇」的一步：這些動輒上億的名琴不鎖在保險箱，而是免費出借給演奏家使用——據奇美與 Wikipedia，多年來借還逾 3,000 人次、同時在外借出逾 220 把，企業讓靜態的收藏，化作扶植人才的活水。</a:t>
            </a:r>
          </a:p>
          <a:p>
            <a:r>
              <a:t>- 借琴名單星光熠熠：大提琴家馬友友（Yo-Yo Ma，1999 年借用 Pawle 史特拉底瓦里大提琴）、小提琴家林昭亮、呂思清（Lü Siqing）等名家都借過奇美的琴。</a:t>
            </a:r>
          </a:p>
          <a:p>
            <a:r>
              <a:t>- 最動人的知遇案例是曾宇謙：他 11 歲起向奇美借琴、9 年間換借 14 把，2015 年以奇美所藏 1732 年瓜奈里名琴「塔里希奧」（Tarisio）在第 15 屆柴可夫斯基國際音樂比賽奪下小提琴銀牌（首獎從缺），是台灣第一人；贊助者的名字，就這樣隨世界舞台一起被念出來。</a:t>
            </a:r>
          </a:p>
          <a:p>
            <a:r>
              <a:t>- 對企業的啟示：奇美奉獻的是收藏與維護的長情，留下的是滿室藝術氣息，與世人對奇美之名溫潤的記憶——文化的光采，就這樣長長久久映在品牌之上。</a:t>
            </a:r>
          </a:p>
          <a:p>
            <a:r>
              <a:t>- 本張搭配的影片來自奇美博物館官方頻道（已驗證）——由奇美自製、自播，影片本身就是企業長年與大眾分享藝術之美的一環。</a:t>
            </a:r>
          </a:p>
          <a:p>
            <a:r>
              <a:t>- 📖 奇美（Chimei）：品牌名取「真、善、美」之美意，許文龍 1960 年創立奇美實業所用；今泛指奇美實業、奇美電子（面板）、奇美博物館等關係企業與其贊助體系。</a:t>
            </a:r>
          </a:p>
          <a:p>
            <a:r>
              <a:t>- 📖 許文龍（Hsu Wen-lung，另譯 Shi Wen-long）：奇美集團創辦人、藝術贊助人，台南農工化工科出身，自學拉小提琴，主張「獲利是追求幸福的手段」，是本張所謂「台灣的梅迪奇」本尊。</a:t>
            </a:r>
          </a:p>
          <a:p>
            <a:r>
              <a:t>- 📖 ABS 樹脂與壓克力（ABS＝Acrylonitrile Butadiene Styrene，丙烯腈-丁二烯-苯乙烯共聚物；壓克力＝PMMA，聚甲基丙烯酸甲酯）：兩種塑膠原料，前者是家電、玩具外殼常用的工程塑膠、奇美一度為全球最大 ABS 廠，後者透明如玻璃、許文龍因此得「台灣壓克力之父」之名。</a:t>
            </a:r>
          </a:p>
          <a:p>
            <a:r>
              <a:t>- 📖 北台塑、南奇美：形容台灣石化業兩強分庭抗禮的說法——北部王永慶的台塑集團、南部許文龍的奇美。</a:t>
            </a:r>
          </a:p>
          <a:p>
            <a:r>
              <a:t>- 📖 梅迪奇（Medici）：15 至 16 世紀統治佛羅倫斯的銀行家族、文藝復興最大的藝術贊助者（呼應前段站頭）；講稿以之比喻許文龍與藝術彼此成就的風範。</a:t>
            </a:r>
          </a:p>
          <a:p>
            <a:r>
              <a:t>- 📖 史特拉底瓦里（Antonio Stradivari，約 1644 至 1737 年）：義大利克雷莫納製琴大師，其提琴（Stradivarius）被視為史上最高標竿、市價動輒上億，是奇美收藏與出借的核心珍藏。</a:t>
            </a:r>
          </a:p>
          <a:p>
            <a:r>
              <a:t>- 📖 瓜奈里（Guarneri del Gesù，本名 Bartolomeo Giuseppe Guarneri，1698 至 1744 年）：克雷莫納製琴家族代表，「耶穌·瓜奈里」名琴與史特拉底瓦里齊名；曾宇謙奪銀所用的「塔里希奧」即其 1732 年作品。</a:t>
            </a:r>
          </a:p>
          <a:p>
            <a:r>
              <a:t>- 📖 阿瑪蒂與史坦納（Amati／Jacob Stainer）：阿瑪蒂是克雷莫納製琴始祖家族、史特拉底瓦里的師承源頭，史坦納為 17 世紀奧地利名匠；都是奇美「有系統、有派別」蒐藏所網羅的名家。</a:t>
            </a:r>
          </a:p>
          <a:p>
            <a:r>
              <a:t>- 📖 林昭亮（Cho-Liang Lin，1960 年生）：台裔國際小提琴家；1990 年賣給奇美第一把史特拉底瓦里，等於替奇美的收藏按下啟動鍵。</a:t>
            </a:r>
          </a:p>
          <a:p>
            <a:r>
              <a:t>- 📖 曾宇謙（Tseng Yu-chien，1994 年生）：台灣小提琴家，2015 年第 15 屆柴可夫斯基大賽小提琴銀牌（首獎從缺），自幼長年使用奇美免費出借的名琴，是奇美贊助結出的代表性果實。</a:t>
            </a:r>
          </a:p>
          <a:p>
            <a:r>
              <a:t>- 📖 柴可夫斯基國際音樂比賽（International Tchaikovsky Competition）：1958 年創辦、每四年於莫斯科舉行的頂級古典樂賽事，與蕭邦鋼琴大賽、比利時伊莉莎白女王大賽齊名。</a:t>
            </a:r>
          </a:p>
          <a:p>
            <a:r>
              <a:t>- 📖 奇美文化基金會（Chi Mei Culture Foundation）：1977 年成立、1988 年起頒獎助金給藝術家的奇美贊助機構，是奇美博物館與名琴免費出借制度的母體。</a:t>
            </a:r>
          </a:p>
          <a:p>
            <a:r>
              <a:t>【影片操作】 播奇美博物館名琴音樂饗宴影片約 2–3 分鐘。播前：「看一家台灣的企業，如何讓名琴在世界的舞台上重新歌唱——琴音所到之處，都聽得見台灣。」</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40｜企業與國家以藝術締造正向的形象～名琴的旅行</a:t>
            </a:r>
          </a:p>
          <a:p/>
          <a:p>
            <a:r>
              <a:t>【講稿】（停留約 70 秒）奇美還有一著，我特別想與各位分享，因為它做得既動人、又有胸襟。這些價值連城的史特拉底瓦里（Stradivari，史上最頂級的小提琴）名琴，奇美沒有把它們鎖進櫃中、供人遠遠瞻仰——名琴不鎖在櫃裡，而是在一代代演奏家手中旅行：無償借予頂尖的音樂家去演奏。從台灣之光曾宇謙，到國際大師馬友友（Yo-Yo Ma），這些名家在世界各大舞台上執起的那把琴，弦上繫著的，都是「奇美」之名。琴，因演奏而重新歌唱；人，因名琴而更上層樓；而「奇美」二字，便隨著琴音，在世界最高的殿堂裡輕輕迴響。這便是企業與藝術互相成就，最雋永、也最有情的一種——無論你是否親自登台，大師與名琴，自會與你的名字、與這片土地，一同發光。</a:t>
            </a:r>
          </a:p>
          <a:p>
            <a:r>
              <a:t>【講義補充】</a:t>
            </a:r>
          </a:p>
          <a:p>
            <a:r>
              <a:t>- 奇美免費出借名琴給頂尖音樂家（曾宇謙、馬友友等）——最動人的一著不在「藏」而在「借」：名琴不鎖在櫃裡，而是在一代代演奏家手中旅行。</a:t>
            </a:r>
          </a:p>
          <a:p>
            <a:r>
              <a:t>- 幕後藝術贊助者是奇美集團創辦人許文龍（Hsu Wen-lung）：1960 年創立奇美實業，把它做成全球最大的 ABS 樹脂廠、有「台灣壓克力之父」之稱，再把畢生事業累積的財富，投入全世界規模最大的私人提琴收藏——這是一個「先有企業、才有收藏」的贊助故事。</a:t>
            </a:r>
          </a:p>
          <a:p>
            <a:r>
              <a:t>- 收藏規模傲視全球：逾 1,300 把（部分報導稱 1,376 把、出自逾 1,100 位製琴師之手）小提琴族樂器，在私人提琴機構中名列世界第一；其中不乏鎮館級名件，如阿瑪蒂 1566 年製、現存全球最古老的大提琴。</a:t>
            </a:r>
          </a:p>
          <a:p>
            <a:r>
              <a:t>- 起點在 1990 年：許文龍向旅外小提琴家林昭亮（Cho-Liang Lin）購入一把 1707 年的史特拉底瓦里（別名「杜希金／Dushkin」），從此一頭栽進名琴收藏與出借。</a:t>
            </a:r>
          </a:p>
          <a:p>
            <a:r>
              <a:t>- 基金會的信念一句話講完——好琴是要「拉」的，不是關在玻璃櫃裡展示的；據載許文龍不喜歡頂級名琴被鎖在博物館玻璃後或恆溫庫房裡，這正是「出借」策略的思想根源。</a:t>
            </a:r>
          </a:p>
          <a:p>
            <a:r>
              <a:t>- 規模化的慷慨：據 CNN／台北時報報導，自 2004 年起（舊館時期更早即開始）累計出借給逾 4,000 位（一說 3,000 餘位）音樂家；目前約 270 把琴（近全館兩成）長期借在演奏家手上，每年約收 400 件申請，約七成給旅外台灣學子、三成給島內學生與職業演奏家。</a:t>
            </a:r>
          </a:p>
          <a:p>
            <a:r>
              <a:t>- 借給誰有審查：由專門委員會依年齡、成熟度、比賽成績與用途（錄音、演出或參賽）評選，讓慷慨成為一套鄭重其事、可長可久的制度。</a:t>
            </a:r>
          </a:p>
          <a:p>
            <a:r>
              <a:t>- 招牌戰績——曾宇謙：自 11 歲起向奇美借琴，9 年間換借過 14 把；2015 年拿下柴可夫斯基國際音樂比賽小提琴銀牌（當屆金牌從缺、等於實質第一），是台灣第一人，他手上那把是 1732 年的瓜奈里名琴，也用過維奧第與瑪麗．霍爾都持有過的史特拉底瓦里「瑪麗．霍爾—維奧第」。</a:t>
            </a:r>
          </a:p>
          <a:p>
            <a:r>
              <a:t>- 名家知遇不只一人：據報導，林昭亮、呂思清、馬友友都曾以奇美典藏演奏；新生代如林品任（Richard Lin，2018 年印第安納波利斯國際小提琴大賽金牌）也是借琴受惠者——每一位在國際舞台發光，「奇美」之名便隨琴音，再一次被世界聽見。</a:t>
            </a:r>
          </a:p>
          <a:p>
            <a:r>
              <a:t>- 關於馬友友：他是大提琴家（與曾宇謙的小提琴分屬不同樂器）；據 CNN 報導，他曾在來台演出前大提琴出狀況、臨時向奇美借琴救場——奇美藏品正好也涵蓋頂級大提琴，這場關鍵時刻的相助，成了樂壇一段美談。</a:t>
            </a:r>
          </a:p>
          <a:p>
            <a:r>
              <a:t>- 這是企業與藝術互相成就最雋永的一種：一把琴在世界級的舞台上，由頂尖大師之手發出光來，「奇美」之名便與琴音同在——無論企業家是否親自登台，大師與名琴，自會為這片土地發光。</a:t>
            </a:r>
          </a:p>
          <a:p>
            <a:r>
              <a:t>- 呼應全片「你成就音樂，音樂也成就你」命題：奇美扶植提琴人才，而奇美之名，也隨人才的琴音傳向世界——彼此成就，莫逆於心；正是「對等、可持續、共融」的當代範本，也和後面「給企業五點提案」互相呼應。</a:t>
            </a:r>
          </a:p>
          <a:p>
            <a:r>
              <a:t>- 📖 許文龍（Hsu Wen-lung）：奇美集團創辦人，1928 年生於台南、2023 年 11 月 18 日辭世、享耆壽 95 歲；白手起家的實業家兼提琴收藏家與業餘小提琴愛好者，英文文獻亦作 Shi Wen-long。</a:t>
            </a:r>
          </a:p>
          <a:p>
            <a:r>
              <a:t>- 📖 奇美實業（Chi Mei Corporation）：許文龍 1960 年創立的石化集團，台灣第一家壓克力（PMMA）生產商，後成為全球最大的 ABS 樹脂製造商；提琴收藏的財源，即來自這份化工事業。</a:t>
            </a:r>
          </a:p>
          <a:p>
            <a:r>
              <a:t>- 📖 ABS 樹脂（ABS resin）：一種泛用工程塑膠，由丙烯腈、丁二烯、苯乙烯三種單體共聚而成，當時＝家電、汽車、電腦外殼最常用的塑料之一，奇美是這項產品的世界龍頭。</a:t>
            </a:r>
          </a:p>
          <a:p>
            <a:r>
              <a:t>- 📖 史特拉底瓦里（Stradivari）：義大利製琴大師安東尼奧．史特拉底瓦里（Antonio Stradivari，約 1644–1737）在克雷莫納手工製作的名琴，並非現代量產「廠牌」、而是一位巨匠畢生手作；其一生約製千餘件、存世約六百餘把，音色傳奇、極為稀少，單把在國際拍場常喊到數千萬美元，是頂級名琴的代名詞。</a:t>
            </a:r>
          </a:p>
          <a:p>
            <a:r>
              <a:t>- 📖 克雷莫納（Cremona）：義大利北部小城，16 至 18 世紀的製琴聖地，當時＝全歐洲最好的提琴產地，阿瑪蒂、史特拉底瓦里、瓜奈里三大製琴家族都在此開業。</a:t>
            </a:r>
          </a:p>
          <a:p>
            <a:r>
              <a:t>- 📖 阿瑪蒂（Amati）：克雷莫納最早的製琴世家，被視為現代小提琴形制的奠基者；奇美藏有安德烈亞．阿瑪蒂（Andrea Amati）1566 年製、現存全球最古老的大提琴。</a:t>
            </a:r>
          </a:p>
          <a:p>
            <a:r>
              <a:t>- 📖 瓜奈里（Guarneri del Gesù）：18 世紀克雷莫納製琴大師朱塞佩．瓜奈里（Giuseppe Guarneri），與史特拉底瓦里齊名的兩大頂級小提琴血統之一；曾宇謙的 1732 年名琴即出自瓜奈里之手。</a:t>
            </a:r>
          </a:p>
          <a:p>
            <a:r>
              <a:t>- 📖 名琴「別名」（instrument nickname／provenance）：頂級古琴慣以歷代著名持有者命名，如「瑪麗．霍爾—維奧第」即因名家維奧第（Viotti）與瑪麗．霍爾（Marie Hall）先後擁有而得名；別名等於一把琴的身世履歷——訴說它一路曾被哪些名家珍愛。</a:t>
            </a:r>
          </a:p>
          <a:p>
            <a:r>
              <a:t>- 📖 曾宇謙（Tseng Yu-chien）：台灣旅外小提琴家、德意志留聲機（Deutsche Grammophon，DG）簽約藝人；自幼靠奇美借琴成長，2015 年柴可夫斯基大賽小提琴銀牌是其代表戰績。</a:t>
            </a:r>
          </a:p>
          <a:p>
            <a:r>
              <a:t>- 📖 馬友友（Yo-Yo Ma）：華裔美籍大提琴巨星，1955 年生於巴黎，當代最著名的古典音樂家之一、多次葛萊美獎得主；此處＝奇美出借對象中知名度最高的國際大師。</a:t>
            </a:r>
          </a:p>
          <a:p>
            <a:r>
              <a:t>- 📖 柴可夫斯基國際音樂比賽（International Tchaikovsky Competition）：1958 年創辦、每四年於莫斯科舉行的世界頂級古典音樂賽事，與蕭邦、伊莉莎白女王大賽齊名，分小提琴、鋼琴、大提琴、聲樂等組，得獎＝一步登上國際舞台。</a:t>
            </a:r>
          </a:p>
          <a:p>
            <a:r>
              <a:t>- 📖 林昭亮（Cho-Liang Lin）：國際知名台裔小提琴家，許文龍 1990 年購下的第一把史特拉底瓦里即向他購入，可謂奇美提琴收藏的引路人。</a:t>
            </a:r>
          </a:p>
          <a:p>
            <a:r>
              <a:t>- 琴的旅行：一把琴外借＝在全球舞台上綿綿不絕的身影；名琴不鎖在櫃裡，而是在一代代演奏家手中旅行——琴與人，互相成就。</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41｜企業與國家以藝術締造正向的形象～台灣的知音企業</a:t>
            </a:r>
          </a:p>
          <a:p/>
          <a:p>
            <a:r>
              <a:t>【講稿】（停留約 65 秒）最後，我想對在座台灣的各位，說一句心底話：這一切，其實一點也不遙遠。台灣早有一批知音企業，默默與藝術同行，扮演著「現代的梅迪奇」——奇美，只是我們最熟悉的那一位。台積電的文教基金會，長年扶植著藝文與音樂教育；富邦藝術基金會，也深耕藝術推廣許多年了。再為各位添一個很動人的數字：國泰金控與雲門舞集的免費戶外公演，行之近三十年、累積超過兩百六十五萬人次入場——一家企業的名字，就這樣與「全民都能親近的藝術」，溫柔地繫在了一處。我說這些，是想讓各位安心：與藝術同行，從不是遙遠的歐洲舊事，而是台灣許多有心的知音，正在成就、各位也同樣做得到的事。今日散場之後，這件事，便可以悄悄放進各位的心上。</a:t>
            </a:r>
          </a:p>
          <a:p>
            <a:r>
              <a:t>【講義補充】</a:t>
            </a:r>
          </a:p>
          <a:p>
            <a:r>
              <a:t>- 核心視角：這一張把四百年前佛羅倫斯梅迪奇家族的角色，直接對照到今天的台灣——梅迪奇當年與藝術家彼此成就，家族之名從此鐫刻在文藝復興裡；台灣今天也有一批知音企業在做一樣的事，以贊助讓品牌名字與藝術、與全民的記憶繫在一處，奇美只是最亮的一顆，不是唯一一顆。</a:t>
            </a:r>
          </a:p>
          <a:p>
            <a:r>
              <a:t>- 奇美的模式，是「企業家個人收藏＋無償出借」這條路：奇美集團創辦人許文龍（1928—2023）1990 年從旅美小提琴家林昭亮手中購入第一把史特拉底瓦里名琴，之後系統性蒐藏，奇美博物館（Chimei Museum，1992 年創設於奇美實業廠內、2014 年遷入台南都會公園）成為全球數量與完整度居冠的提琴典藏機構（據奇美博物館，館藏逾一千三百件弦樂器）。</a:t>
            </a:r>
          </a:p>
          <a:p>
            <a:r>
              <a:t>- 奇美贊助留下什麼：不是把琴鎖進保險庫，而是「免費借給有才華、買不起的音樂家」——據報導奇美出借逾兩百二十把名琴、十餘年借還逾三千人次；2004 年前後成立出借審查委員會，音樂系學生到職業演奏家經審核都可免費借用（據自由時報、中央社）。這讓「奇美」兩個字跟每一位得獎者的舞台一起出現——琴與人，互相成就。</a:t>
            </a:r>
          </a:p>
          <a:p>
            <a:r>
              <a:t>- 最有感的案例：小提琴家曾宇謙 11 歲起與奇美結緣、9 年間借過 14 把名琴，2015 年參加莫斯科柴可夫斯基國際音樂大賽時，用的正是奇美出借的 1732 年瓜奈里名琴，奪下銀牌（該屆首獎從缺），成為台灣第一人（據自由時報、信傳媒）；大提琴家馬友友也曾受奇美之助（據中央社）。</a:t>
            </a:r>
          </a:p>
          <a:p>
            <a:r>
              <a:t>- 許文龍的贊助哲學可當企業家座右銘：他生前說「不要為我造墓，辦一場音樂會就夠了」，2023 年 11 月 18 日辭世、享耆壽 95 歲，家屬遵遺願不發訃聞、不辦公祭（據中央社、商周）——一位企業家最後的心願，仍是音樂，這正是這一站最動人的註腳。</a:t>
            </a:r>
          </a:p>
          <a:p>
            <a:r>
              <a:t>- 台積電走的是「基金會＋長期育才」路線：台積電文教基金會（TSMC Education and Culture Foundation）1998 年（民國 87 年初）成立，以「培育青年人才、推廣藝術文化、推動教育合作」三大主軸為基石；音樂面與 NSO 國家交響樂團合作「指揮大師班」「一分鐘作曲計畫」，另有京劇傳承計畫、樂無界教育計畫（據台積電文教基金會官網）。台積電讓企業之名，與一代代人才的成長長情同行。</a:t>
            </a:r>
          </a:p>
          <a:p>
            <a:r>
              <a:t>- 富邦走的是「當代藝術＋城市體驗」路線：富邦藝術基金會（Fubon Art Foundation）1997 年由蔡楊湘薰創辦、翁美慧任執行長，信念「一切從分享開始」、宗旨「藝術生活化，生活藝術化」；招牌展覽「粉樂町」2001—2019 年共辦 12 檔，累計進駐 500 個場域、邀約 550 位國內外藝術家、展出 983 件作品、逾 400 萬觀展人次（據富邦藝術基金會官網），並於 2024 年再設富邦美術館，把贊助升級為自有品牌館舍。</a:t>
            </a:r>
          </a:p>
          <a:p>
            <a:r>
              <a:t>- 國泰的模式是「冠名贊助＋全民戶外公演」，也是最親近你我的一種：國泰金控自 1996 年起連續贊助雲門舞集戶外公演（今名「國泰雲門隨行吧」），把品牌名字直接放進活動名稱。數字見證這份長情：據雲門官網早年公告已辦 62 場、走遍 17 縣市、近 200 萬人次；2024 年報導累積逾 265 萬人次（雲門官網）；2025 年報導邁入第 30 年、走遍 22 縣市、演出逾 300 場、累積逾 270 萬人次（據聯合新聞網）。</a:t>
            </a:r>
          </a:p>
          <a:p>
            <a:r>
              <a:t>- 為什麼戶外公演特別動人：它是免費、開放、全民都進得來的活動——近三十年來，「國泰」之名便與全民都能親近的藝術溫柔地繫在一處，早已是全民記憶的一部分。</a:t>
            </a:r>
          </a:p>
          <a:p>
            <a:r>
              <a:t>- 給企業家的收攏：贊助藝術不是「有財富有閒才能做」，而是可大可小、各有其路——個人收藏無償出借（奇美）、基金會長期育才（台積電）、當代藝術策展（富邦）、冠名全民公演（國泰）四條路，各家都能找到與自己相知的一條——這正是散場後，可以放進心上的事。</a:t>
            </a:r>
          </a:p>
          <a:p>
            <a:r>
              <a:t>- 📖 梅迪奇（Medici）：15—17 世紀統治佛羅倫斯的銀行與政治家族，是文藝復興最著名的藝術贊助者，出資扶植達文西、米開朗基羅等人；「現代的梅迪奇」即用來比喻今天與藝術彼此成就、名字因而傳世的企業。</a:t>
            </a:r>
          </a:p>
          <a:p>
            <a:r>
              <a:t>- 📖 許文龍：奇美集團（生產壓克力、ABS 塑膠與奇美電子等）創辦人，被稱「台灣壓克力之父」，白手起家後把大量財富投入醫療（奇美醫院）與藝術（奇美博物館），主張「獲利是追求幸福的手段」。</a:t>
            </a:r>
          </a:p>
          <a:p>
            <a:r>
              <a:t>- 📖 奇美博物館（Chimei Museum）：許文龍創辦、位於台南的私人捐建博物館，以西洋藝術、樂器、兵器、自然史為主，其中提琴收藏為全球規模最大之一；營運宗旨是「為大眾而設」，免費或低價開放。</a:t>
            </a:r>
          </a:p>
          <a:p>
            <a:r>
              <a:t>- 📖 史特拉底瓦里（Stradivari）：17—18 世紀義大利克雷莫納（Cremona）的傳奇製琴家族，安東尼奧·史特拉底瓦里所製小提琴音色與工藝被奉為極品，今日拍賣動輒上億元台幣，是頂級名琴的代名詞。</a:t>
            </a:r>
          </a:p>
          <a:p>
            <a:r>
              <a:t>- 📖 瓜奈里（Guarneri）：與史特拉底瓦里齊名的克雷莫納製琴世家，其中「耶穌·瓜奈里」（Guarneri del Gesù）所製小提琴音色宏亮、深受帕格尼尼等大師鍾愛；曾宇謙比賽用的即這一系名琴。</a:t>
            </a:r>
          </a:p>
          <a:p>
            <a:r>
              <a:t>- 📖 林昭亮（Cho-Liang Lin）：台灣出身、活躍國際的小提琴演奏家與教育家；奇美的第一把史特拉底瓦里名琴即 1990 年向他購入。</a:t>
            </a:r>
          </a:p>
          <a:p>
            <a:r>
              <a:t>- 📖 曾宇謙：台灣小提琴家，2015 年柴可夫斯基國際音樂大賽（Tchaikovsky Competition，四年一屆、全球最具份量的古典音樂賽事之一）小提琴組銀牌（首獎從缺）得主，長年借用奇美名琴。</a:t>
            </a:r>
          </a:p>
          <a:p>
            <a:r>
              <a:t>- 📖 文教／藝術基金會：企業依法捐資成立的財團法人，把公益與藝術贊助制度化、長期化；相較一次性捐款，基金會能持續運作專案、也讓企業之名與藝術長情同行，台積電文教基金會、富邦藝術基金會皆屬此類。</a:t>
            </a:r>
          </a:p>
          <a:p>
            <a:r>
              <a:t>- 📖 NSO 國家交響樂團（National Symphony Orchestra）：台灣代表性的職業交響樂團，隸屬國家表演藝術中心；台積電文教基金會與其合作辦「指揮大師班」等育才計畫。</a:t>
            </a:r>
          </a:p>
          <a:p>
            <a:r>
              <a:t>- 📖 粉樂町（Very Fun Park）：富邦藝術基金會的招牌「無牆美術館」當代藝術展，讓藝術作品進駐台北東區店家、街角等非典型空間，把逛街人潮變成看展人潮。</a:t>
            </a:r>
          </a:p>
          <a:p>
            <a:r>
              <a:t>- 📖 雲門舞集（Cloud Gate Dance Theatre）：林懷民 1973 年創立的台灣第一個職業現代舞團，名字取自中國最古老的舞蹈名「雲門」，是台灣最具國際知名度的表演團體之一；國泰長年贊助的戶外公演即由其演出。</a:t>
            </a:r>
          </a:p>
          <a:p>
            <a:r>
              <a:t>- 📖 冠名贊助：贊助商把自己的名字放進活動或場館名稱（如「國泰雲門隨行吧」），讓品牌與活動同名同行的贊助方式——企業之名，因此與藝術長情同行。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42｜第七樣態：企業與藝術共同締造財富</a:t>
            </a:r>
          </a:p>
          <a:p/>
          <a:p>
            <a:r>
              <a:t>【講稿】（停留約 30 秒）前面，我們一同走過了六種樣態——地位、影像、不朽之名、聖地、人才、形象，樁樁件件，關乎榮光與聲名。而最後這第七樣，我想留給最踏實的一個故事：藝術與企業並肩同行，實實在在地，共同創造了財富。一首歌，與一家企業，彼此成全，整整一百年。且聽我慢慢道來。</a:t>
            </a:r>
          </a:p>
          <a:p>
            <a:r>
              <a:t>【講義補充】</a:t>
            </a:r>
          </a:p>
          <a:p>
            <a:r>
              <a:t>- 全片壓軸的第七樣態是「共同締造財富」——最踏實、最看得見的一樣：一家企業成全了一段音樂，一段音樂也成全了一家企業——真真切切的客人與跨世代的聲名，隨歌聲一同到來；收束前六樣（地位、影像、不朽、聖地、人才、形象）之後，落在最踏實之處的一幅圖景。</a:t>
            </a:r>
          </a:p>
          <a:p>
            <a:r>
              <a:t>- 招牌案例＝維蘇威纜車公司與《Funiculì, Funiculà》：1880 年義大利那不勒斯（Naples）近郊的維蘇威火山（Mount Vesuvius）啟用第一條登山纜索鐵路，但據載通車初期乘客稀少——民眾與遊客怕危險，寧可沿用騎驢、騎馬上山（據義大利語資料 tizianasavarese.it），一首歌便在此時應運而生，與這條纜車從此同行。</a:t>
            </a:r>
          </a:p>
          <a:p>
            <a:r>
              <a:t>- 這首「廣告歌」由那不勒斯記者佩皮諾·圖爾科（Peppino Turco，本名 Giuseppe Turco）填詞、作曲家路易吉·丹薩（Luigi Denza，1846–1922）譜曲，1880 年為紀念纜車通車而作；同年在那不勒斯的皮耶迪格羅塔歌謠節（Piedigrotta）首度公開亮相——一項交通建設與一首歌自此同行，此曲也因此常被視為史上最早的商業廣告歌（jingle）之一（據義大利語資料）。</a:t>
            </a:r>
          </a:p>
          <a:p>
            <a:r>
              <a:t>- 迴響有多大：樂譜由米蘭里柯第（Casa Ricordi）出版社印行，一年內售出逾百萬份（據 Wikipedia），迅速紅遍義大利與海外——一首為纜車而寫的歌，自此跨國、跨世代，傳唱不歇。</a:t>
            </a:r>
          </a:p>
          <a:p>
            <a:r>
              <a:t>- 更關鍵的對比（呼應本站纜車公司的故事）：纜車本體命運多舛，數度毀於火山噴發（1906、1944 年）、幾度易主（原始開發者奧布利希特（Ernesto Emanuele Oblieght）財務吃緊，1886 年轉予法國公司，1887 年由英國旅行社湯瑪斯·庫克父子（Thomas Cook &amp;amp; Son）的約翰·梅森·庫克（John Mason Cook）購入整修，1889 年重新開張），最終於 1945 年低價出售；纜車設施早已不在，那首歌卻至今仍被傳唱——這正是本張要說的：一段音樂的生命，可以比一家公司還長。</a:t>
            </a:r>
          </a:p>
          <a:p>
            <a:r>
              <a:t>- 📖 共同締造財富（本站站名）：本片的第七樣、也是最後一個樣態，指企業與藝術攜手，實實在在創造出看得見的客源與營收——相對於前六樣偏重榮光與聲名，這一樣落在最踏實之處。</a:t>
            </a:r>
          </a:p>
          <a:p>
            <a:r>
              <a:t>- 📖 《Funiculì, Funiculà》（拿波里語，字面意為「纜車上、纜車下」，可譯〈登山纜車之歌〉）：1880 年為維蘇威纜車通車而作的拿波里歌曲，也是本場講座定案的全場「帶動唱」曲目。</a:t>
            </a:r>
          </a:p>
          <a:p>
            <a:r>
              <a:t>- 📖 纜索鐵路／登山纜車（funicular）：以纜繩牽引、兩節車廂一上一下互為配重、專走陡坡的軌道交通；維蘇威這條 1880 年 6 月通車，長約 800 公尺、爬升約 390 公尺（據湯瑪斯·庫克 Thomas Cook 相關史料）。</a:t>
            </a:r>
          </a:p>
          <a:p>
            <a:r>
              <a:t>- 📖 皮耶迪格羅塔歌謠節（Festa di Piedigrotta）：那不勒斯每年 9 月在皮耶迪格羅塔聖母教堂一帶舉辦的宗教慶典兼新歌發表競賽，19 世紀起成為拿波里歌曲（canzone napoletana）最重要的發表舞台，《Funiculì, Funiculà》即在此一炮而紅。</a:t>
            </a:r>
          </a:p>
          <a:p>
            <a:r>
              <a:t>- 📖 里柯第（Casa Ricordi）：1808 年創立於米蘭的義大利大型樂譜出版社，握有威爾第等作曲家的歌劇版權（呼應浪漫站「里柯第×威爾第」一張），讓《Funiculì, Funiculà》的樂譜傳遍全球。</a:t>
            </a:r>
          </a:p>
          <a:p>
            <a:r>
              <a:t>- 📖 廣告歌（jingle）：專為推介產品或服務、用好記旋律與重複短句讓人琅琅上口的商業歌曲；《Funiculì, Funiculà》以反覆的擬聲短句「Funiculì…Funiculà…」琅琅上口、一聽難忘，被視為這類手法的早期範例。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43｜企業與藝術共同締造財富～《Funiculì, Funiculà》</a:t>
            </a:r>
          </a:p>
          <a:p/>
          <a:p>
            <a:r>
              <a:t>【講稿】（停留約 70 秒）1880 年，義大利拿坡里的維蘇威火山上，一條登山纜車落成、通車了。可通車之初，卻是門前冷清——人人畏懼火山，不敢乘坐；客人寧可騎驢、騎馬，慢慢上山，也不肯坐這新奇的纜車。就在這時，一家纜車公司與一位作曲家，共同寫下了一首讓全世界跟著唱的歌。由記者圖爾科（Peppino Turco）填詞、作曲家丹薩（Denza）譜曲，歌名就叫《Funiculì, Funiculà》——「纜車上山、纜車下山」。這首歌，後來被譽為「史上最早的廣告歌」之一：自落筆的第一刻起，它的名字便與這條纜車繫在一起——同年誕生，同行百年。而它留下的，說來只有一件，卻何等溫柔——把人心裡的「畏」，一點一點，化作了「嚮往」。</a:t>
            </a:r>
          </a:p>
          <a:p>
            <a:r>
              <a:t>【講義補充】</a:t>
            </a:r>
          </a:p>
          <a:p>
            <a:r>
              <a:t>- 舞台：1880 年義大利拿坡里（Napoli／Naples）近郊的維蘇威火山（Monte Vesuvio）。這座火山正是西元 79 年埋掉龐貝城（Pompeii）的那一座；對當時遊客而言它既是必看奇景、也是「會不會又爆」的恐懼來源——而化開這份恐懼的，正是一首歌（承本站纜車公司的故事）。</a:t>
            </a:r>
          </a:p>
          <a:p>
            <a:r>
              <a:t>- 產品本身：這條登山纜車據載於 1880 年 6 月 6 日通車，由米蘭工程商奧利維耶里（E. Olivieri）承建；幕後推手是匈牙利籍軌道交通商奧布利希特（Ernesto Emanuele Oblieght），並由羅馬銀行（Banco di Roma）出資背書，1879 年以約 16,000 英鎊發包（據日本鐵道史刊 JRTR 整理的 Thomas Cook 檔案）。</a:t>
            </a:r>
          </a:p>
          <a:p>
            <a:r>
              <a:t>- 規格：全長約 806 公尺、爬升約 391 公尺、最陡坡度約 63%，兩節車廂分別取名「維蘇威」（Vesuvio）與「埃特納」（Etna，義大利另一座名火山），單程各載約 15 人——運量有限——而讓世人記住這條纜車的，是接下來的一首歌。</a:t>
            </a:r>
          </a:p>
          <a:p>
            <a:r>
              <a:t>- 真正的知音與手筆：經營纜車的維蘇威纜車鐵道股份公司（法文原名 Société anonyme du chemin de fer funiculaire du Vésuve）把新歌安排在拿坡里最大的歌謠節「皮耶迪格羅塔節」上首演——讓這首歌，一亮相便站上當年最大的舞台（據 tizianasavarese.it 等整理）。</a:t>
            </a:r>
          </a:p>
          <a:p>
            <a:r>
              <a:t>- 歌詞的妙筆：歌詞把火山口寫成情人約會的浪漫終點，「怕火山」在歌裡成了「想帶心上人一起搭纜車上去」；遊客自此不再騎驢、騎馬慢慢上山，改坐纜車——正對應本張講稿說的「把人心裡的畏，化作嚮往」。</a:t>
            </a:r>
          </a:p>
          <a:p>
            <a:r>
              <a:t>- 迴響驚人：里柯第出版社（Casa Ricordi）發行的樂譜，據 Wikipedia／Ricordi 所載「一年內賣破百萬份」；歌名與旋律紅遍義大利與海外。一次委創（或首演之託），孕育出一首跨國、跨世紀、至今仍在傳唱的歌。</a:t>
            </a:r>
          </a:p>
          <a:p>
            <a:r>
              <a:t>- 一個常被引用的定位：這是「史上最早的廣告歌／廣告神曲」之一。短短的動機一再迴旋、「Funiculì…Funiculà」的呼喊一聽難忘——後世廣告神曲（jingle）琅琅上口的種種手法，都能在這首歌裡找到最早的影子。</a:t>
            </a:r>
          </a:p>
          <a:p>
            <a:r>
              <a:t>- 史實小提醒（相傳）：也有一說是記者圖爾科「半開玩笑」向丹薩提議、為慶祝纜車通車而寫，未必有公司白紙黑字的正式委託；但無論哪個版本，公司出資讓這首歌站上皮耶迪格羅塔的大舞台、替纜車揚名，這一段是站得住的（據 Wikipedia）。</a:t>
            </a:r>
          </a:p>
          <a:p>
            <a:r>
              <a:t>- 紅到被誤當民謠：1886 年德國作曲家理察·史特勞斯（Richard Strauss）遊義大利時聽到此曲，誤以為是拿坡里民謠，寫進交響幻想曲《義大利》（Aus Italien）。丹薩打官司勝訴，史特勞斯得付版稅——一首為纜車而寫的歌，竟被大作曲家當成流傳已久的民謠。</a:t>
            </a:r>
          </a:p>
          <a:p>
            <a:r>
              <a:t>- 一百四十多年前，一家纜車公司便已與音樂同行——歌聲所到之處，人心先亮了。</a:t>
            </a:r>
          </a:p>
          <a:p>
            <a:r>
              <a:t>- 📖 維蘇威火山（Monte Vesuvio／Mount Vesuvius）：拿坡里灣東側的活火山，西元 79 年大爆發掩埋龐貝城。19 世紀是歐洲「壯遊」（Grand Tour）行程必看奇景，遊客想登頂俯瞰火山口。</a:t>
            </a:r>
          </a:p>
          <a:p>
            <a:r>
              <a:t>- 📖 拿坡里（Napoli／Naples）：義大利南部第一大港與文化重鎮；19 世紀拿坡里歌謠（canzone napoletana）風行全歐，是這類讓一座城市揚名世界的歌謠的溫床。</a:t>
            </a:r>
          </a:p>
          <a:p>
            <a:r>
              <a:t>- 📖 纜索鐵路／纜車（funicolare／funicular）：靠鋼纜牽引、上下兩車對拉以爬陡坡的軌道交通。歌名「Funiculì, Funiculà」即由此字變化而來，可理解為「纜車上山、纜車下山」的擬聲呼喊。</a:t>
            </a:r>
          </a:p>
          <a:p>
            <a:r>
              <a:t>- 📖 皮耶迪格羅塔節（Festa di Piedigrotta）：拿坡里每年 9 月圍繞「皮耶迪格羅塔聖母」節慶舉辦的歌謠盛會，是當時新歌首度亮相、一炮而紅的最大舞台，地位約等於今天最盛大的音樂節慶。</a:t>
            </a:r>
          </a:p>
          <a:p>
            <a:r>
              <a:t>- 📖 里柯第出版社（Casa Ricordi）：1808 年創於米蘭的義大利音樂出版巨頭（威爾第、普契尼歌劇的東家），掌握樂譜印行通路；由它發行，歌聲便走遍全國的沙龍與街頭（呼應本片講里柯第×威爾第的段落）。</a:t>
            </a:r>
          </a:p>
          <a:p>
            <a:r>
              <a:t>- 📖 路易吉·丹薩（Luigi Denza, 1846–1922）：出身拿坡里近郊斯塔比亞海堡（Castellammare di Stabia）的作曲家，本曲作曲者，晚年赴倫敦皇家音樂院任教。</a:t>
            </a:r>
          </a:p>
          <a:p>
            <a:r>
              <a:t>- 📖 佩皮諾·圖爾科（Peppino Turco，本名 Giuseppe Turco）：拿坡里記者兼作詞人，以拿坡里方言寫下本曲歌詞。</a:t>
            </a:r>
          </a:p>
          <a:p>
            <a:r>
              <a:t>- 📖 拿坡里語（napoletano）：拿坡里及義大利南部通用的地方語言（非標準義大利語）；本曲原詞即以拿坡里語寫成，濃厚鄉土味是其魅力之一。</a:t>
            </a:r>
          </a:p>
          <a:p>
            <a:r>
              <a:t>- 📖 股份公司（Société anonyme，法文）：字面意為「匿名（股份）公司」，相當於英文 joint-stock company、今日的股份有限公司；纜車經營方即以這種現代企業型態運作，才有足夠的資本與格局，成全這樣一首歌。</a:t>
            </a:r>
          </a:p>
          <a:p>
            <a:r>
              <a:t>- 📖 廣告神曲（jingle）：專為推介某項產品或品牌而寫、靠好記重複的短句旋律讓人朗朗上口的音樂，本曲被視為其極早期範例。</a:t>
            </a:r>
          </a:p>
          <a:p>
            <a:r>
              <a:t>- 📖 《義大利》交響幻想曲（Aus Italien）：史特勞斯 1886 年的四樂章管弦樂作品，末樂章因引用本曲旋律而引發前述版權訴訟。</a:t>
            </a:r>
          </a:p>
          <a:p>
            <a:r>
              <a:t>【影片操作】 無（壓軸帶動唱時才播伴唱）。</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44｜企業與藝術共同締造財富～一首歌，把客人唱上山</a:t>
            </a:r>
          </a:p>
          <a:p/>
          <a:p>
            <a:r>
              <a:t>【講稿】（停留約 70 秒）這首為纜車而生的歌，迴響大到什麼地步？樂譜一年之內便賣破一百萬份，歌聲傳遍全歐洲的沙龍與街巷，「去拿坡里、乘纜車上維蘇威」，成了整個歐洲人心底的旅遊夢。各位細想，何等奇妙：一首短短三分鐘的歌，竟把眾人心裡那份「畏」，一句一句，唱成了「嚮往」。而歌聲響起，客人便一年一年上了山：1888 年，旅行社的老祖宗、英國的湯瑪斯·庫克公司（Thomas Cook），將這條纜車編入了國際觀光行程，世界各地的旅人循著行程一路上山，運量一年勝過一年。各位會發現，這一年勝過一年的上山人潮，源頭正是當年那一首歌。真真切切的客人，真真切切的收穫——藝術與企業攜手，實實在在，共同創造了財富。</a:t>
            </a:r>
          </a:p>
          <a:p>
            <a:r>
              <a:t>【講義補充】</a:t>
            </a:r>
          </a:p>
          <a:p>
            <a:r>
              <a:t>- 這張講的是「一首歌，如何把客人唱上山」：與這首歌結緣的維蘇威火山（Mount Vesuvius）纜車公司，迎來的不只是掌聲，更是數十年真真切切的觀光客流。</a:t>
            </a:r>
          </a:p>
          <a:p>
            <a:r>
              <a:t>- 這首歌本是纜車的「通車賀禮」：1880 年 6 月維蘇威纜車落成通車，同年拿坡里記者佩皮諾·圖爾科（Peppino Turco）填詞、路易吉·丹薩（Luigi Denza）譜曲，把「坐纜車直上火山口」寫成一首輕快的拿坡里歌，為通車之喜獻聲（據英文維基百科，此曲為紀念纜車開幕而作）。</a:t>
            </a:r>
          </a:p>
          <a:p>
            <a:r>
              <a:t>- 幕後知音的來龍去脈：這條纜車最早由金融家歐布利耶特（Ernest Emmanuel Oblieght）於 1870 年代發想、1878 年取得三十年土地租約，工程師奧利維耶里（Olivieri）設計，用約 45 匹馬力蒸汽機拉動鋼纜、每節車廂重約 5000 公斤，1880 年 6 月 6 日揭幕、6 月 10 日正式對外營運（據義大利地方史料）。</a:t>
            </a:r>
          </a:p>
          <a:p>
            <a:r>
              <a:t>- 首演不在音樂廳，而在觀光現場：歌曲先在山腳卡斯特拉馬雷（Castellammare di Stabia）的 Quisisana 大飯店唱出，接著被推上同年的皮迪格羅塔歌謠節（Festa di Piedigrotta）打響——這首為纜車而寫的歌，就這樣登上了全拿坡里最大的舞台。</a:t>
            </a:r>
          </a:p>
          <a:p>
            <a:r>
              <a:t>- 把歌聲送往全歐的，是里柯第（Casa Ricordi）的發行網——它正是投影片前面扶植威爾第（Giuseppe Verdi）的那家米蘭樂譜出版巨頭；靠著這張網，樂譜一年賣破百萬份（據 Treccani《義大利人物傳記辭典》，另英文維基百科亦記「一年售出逾百萬份」），纜車客人還沒排隊上山，這首歌與維蘇威的名字，已先傳遍全歐洲的沙龍與街頭。</a:t>
            </a:r>
          </a:p>
          <a:p>
            <a:r>
              <a:t>- 最動人的軼事：這首歌紅到德國作曲家理查·史特勞斯（Richard Strauss）1886 年在交響幻想曲《義大利》（Aus Italien）引用時，誤以為它是拿坡里民謠，丹薩打官司求償並勝訴、拿到版稅；俄國作曲家林姆斯基-高沙可夫（Rimsky-Korsakov）1907 年也犯同樣的錯——一首為纜車而寫的歌，紅到被當成幾百年的老民謠，全世界都在替它傳唱。</a:t>
            </a:r>
          </a:p>
          <a:p>
            <a:r>
              <a:t>- 讓名氣化作客流的關鍵人物是庫克父子：纜車開幕後幾年經營困難，1882 年約翰·梅森·庫克（John Mason Cook）首度搭乘，1886 年他先墊付財富維持營運，1887 至 1888 年間乾脆把整條纜車（及其特許經營權）接下，納入自家旅行社麾下（不同來源記為 1887 年購入／1888 年取得特許，故此處採區間）。</a:t>
            </a:r>
          </a:p>
          <a:p>
            <a:r>
              <a:t>- 接手之後怎麼經營：庫克廢掉當地導遊層層抽佣的亂象，改成「一價全包」的套裝行程，把拿坡里到火山口的來回全包票定在 20 先令（合 1 英鎊，在當年是相當高的價位，據日本鐵道誌 JRTR 史料），再把纜車編進湯瑪斯·庫克父子公司（Thomas Cook &amp; Son）的國際觀光行程表，旅客照著行程表上山，運量一路翻倍。</a:t>
            </a:r>
          </a:p>
          <a:p>
            <a:r>
              <a:t>- 贊助長成產業鏈：庫克過世（1899）後，公司接手瑞士 SLM 與布朗·包法利（Brown, Boveri）的合約，1903 年 9 月把登山段改建成 7.7 公里電氣鐵路、上山縮進一小時內；1904 年更在半山蓋了 25 間房的「隱廬」（Hermitage）旅館，把一首歌帶來的人潮，一路延展成一整片觀光事業。</a:t>
            </a:r>
          </a:p>
          <a:p>
            <a:r>
              <a:t>- 收束即本站主題「企業與藝術共同締造財富」：不只是名聲與掌聲，更是實實在在買票上山的客人；一首與纜車同生的歌，正是這一切的起點。</a:t>
            </a:r>
          </a:p>
          <a:p>
            <a:r>
              <a:t>- 📖 維蘇威火山纜車（Funicolare del Vesuvio）：1880 年通車、直上維蘇威火山口的登山纜車，是本張的「贊助主體」；1944 年 3 月維蘇威噴發時被摧毀，之後未再重建。</a:t>
            </a:r>
          </a:p>
          <a:p>
            <a:r>
              <a:t>- 📖 「委創廣告歌」的定位（宜留彈性）：這首歌廣泛被稱作「史上第一首商業廣告歌」、傳為纜車公司為通車委託之作；但據英文維基百科，並無直接證據證明它由纜車公司正式出資委託，較穩妥的說法是「為纜車開幕而作、與新路線同年亮相」（相傳／傳說成分請保留彈性）。</a:t>
            </a:r>
          </a:p>
          <a:p>
            <a:r>
              <a:t>- 📖 佩皮諾·圖爾科（Peppino Turco，1846–1907）：拿坡里記者兼作詞人，本曲填詞者；相傳是他起鬨慫恿丹薩把曲子寫出來。</a:t>
            </a:r>
          </a:p>
          <a:p>
            <a:r>
              <a:t>- 📖 路易吉·丹薩（Luigi Denza，1846–1922）：生於卡斯特拉馬雷的作曲家，本曲作曲者；後半生移居倫敦，1922 年於當地過世（曲子的版權由他持有，才有後來向史特勞斯求償成功一事）。</a:t>
            </a:r>
          </a:p>
          <a:p>
            <a:r>
              <a:t>- 📖 皮迪格羅塔歌謠節（Festa di Piedigrotta）：拿坡里每年在皮迪格羅塔聖母教堂周邊舉行的宗教節慶兼歌謠競賽，是十九世紀拿坡里新歌最大的發表舞台；本曲在此一炮而紅。</a:t>
            </a:r>
          </a:p>
          <a:p>
            <a:r>
              <a:t>- 📖 里柯第（Casa Ricordi）：1808 年創於米蘭的樂譜出版巨頭，握有威爾第等人版權（呼應前面「里柯第×威爾第」那張）；本曲由它出版，一年之內賣破百萬份。</a:t>
            </a:r>
          </a:p>
          <a:p>
            <a:r>
              <a:t>- 📖 湯瑪斯·庫克父子公司（Thomas Cook &amp; Son）：由湯瑪斯·庫克（Thomas Cook，1808–1892）於 1841 年創立、被視為近代套裝旅遊與旅行社鼻祖的英國企業；由其子擴張為橫跨歐洲的觀光帝國。</a:t>
            </a:r>
          </a:p>
          <a:p>
            <a:r>
              <a:t>- 📖 約翰·梅森·庫克（John Mason Cook，1834–1899）：湯瑪斯·庫克之子、公司實際經營者；1880 年代出手購入維蘇威纜車，把它變成庫克行程的獨家景點。</a:t>
            </a:r>
          </a:p>
          <a:p>
            <a:r>
              <a:t>- 📖 一價全包／套裝行程（inclusive tour）：把交通、門票、導遊、餐食綁成單一價格一次賣出的旅遊模式，是庫克的招牌打法；他用它取代原本導遊沿途各自喊價、層層抽佣的亂象。</a:t>
            </a:r>
          </a:p>
          <a:p>
            <a:r>
              <a:t>- 📖 先令與英鎊（shilling / pound）：當時英國貨幣，20 先令＝1 英鎊；庫克把拿坡里到火山口的來回全包票定在 1 英鎊，在當年是不算便宜的價位（據 JRTR 史料）。</a:t>
            </a:r>
          </a:p>
          <a:p>
            <a:r>
              <a:t>- 📖 卡斯特拉馬雷（Castellammare di Stabia）：拿坡里灣沿岸城鎮、丹薩的故鄉，本曲首唱地 Quisisana 大飯店的所在。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45｜企業與藝術共同締造財富～百年傳唱</a:t>
            </a:r>
          </a:p>
          <a:p/>
          <a:p>
            <a:r>
              <a:t>【講稿】（停留約 75 秒）這條纜車日後的命運，歷經了一場大概是史上最嚴酷的試煉。1906 年，維蘇威火山大噴發，車站、車廂盡數埋進二、三十公尺深的火山灰裡——照理說，故事至此該畫上句點了吧？可三年之後，1909 年，纜車重建、重新復駛；1911 年山崩再停，翌年 1912 年，它又通車了。一次又一次，人們捨不得放手。歌聲未歇，山下上山的人，也從未斷過。直到 1944 年，維蘇威再度噴發，纜車終究走入了歷史。可各位請聽：纜車會老，鐵軌會鏽，歌聲不會。火山噴發毀得了纜車，卻毀不了那首 1880 年的歌——它至今仍活在世界各地的電影、廣告與音樂會裡，為維蘇威、為拿坡里，唱了一百四十多年。產品會有老去的一日，而一件用心成就的作品，能陪一家企業，跨越一個又一個世紀。好，聽罷了它的身世，待會兒，就換我們自己，一同將這首歌唱上一回。</a:t>
            </a:r>
          </a:p>
          <a:p>
            <a:r>
              <a:t>【講義補充】</a:t>
            </a:r>
          </a:p>
          <a:p>
            <a:r>
              <a:t>- 這張延續前面「Funiculì, Funiculà」四張的收尾，把鏡頭從「那首歌」拉回到「出資蓋纜車、又一次次出資重建的業主」身上：主角不是作曲家，而是與這首歌相知相守百年的企業。</a:t>
            </a:r>
          </a:p>
          <a:p>
            <a:r>
              <a:t>- 舞台是維蘇威登山纜車（Funicolare del Vesuvio），1880 年 6 月 6 日通車，位於拿坡里（Napoli）近郊的活火山維蘇威（Vesuvio）南坡，是全世界最早用機械把觀光客送上活火山口的設施之一；路線約 806 公尺、爬升約 391 公尺，最陡處坡度可達 63%。</a:t>
            </a:r>
          </a:p>
          <a:p>
            <a:r>
              <a:t>- 誰出的財富：發起人是匈牙利企業家歐布利特（Ernesto Emanuele Oblieght），背後由羅馬銀行（Banco di Roma）提供資金；1879 年以約 16,000 英鎊發包給米蘭的奧利維耶里（Emilio Olivieri）承建（金額據 JRTR／Thomas Cook 史料）。最初只有兩節 8 人座車廂，分別取名「Etna」（埃特納火山）與「Vesuvio」（維蘇威火山）。</a:t>
            </a:r>
          </a:p>
          <a:p>
            <a:r>
              <a:t>- 委創的那首歌：通車同年，Funiculì, Funiculà 與纜車一同亮相——一首為通車之喜而生的歌，從此與這條纜車同名同行；這是全片「一次委創、傳唱跨世紀」的最動人案例。</a:t>
            </a:r>
          </a:p>
          <a:p>
            <a:r>
              <a:t>- 一夕傳開：該曲 1880 年在拿坡里的皮耶迪格羅塔音樂節（Festa di Piedigrotta）首演，由米蘭的里柯第出版社（Casa Ricordi）發行樂譜，一年內賣破一百萬份（據 Wikipedia／Britannica）；一次開幕委創，歌聲便替纜車傳遍了全國。</a:t>
            </a:r>
          </a:p>
          <a:p>
            <a:r>
              <a:t>- 英國知音接手：纜車早年並不獲利，英國旅行社湯瑪士·庫克父子公司（Thomas Cook &amp; Son）的小庫克（John Mason Cook）1882 年首度搭乘，1886 年起先墊付財富救急，1887 至 1888 年間乾脆把纜車特許權整個購入，1889 年 5 月以翻新設備重新開幕。</a:t>
            </a:r>
          </a:p>
          <a:p>
            <a:r>
              <a:t>- 接手後怎麼經營：庫克掃除了當地嚮導對觀光客的敲詐陋習，1903 年再自普利亞諾（Pugliano）蓋電氣化登山鐵路接駁，並在山腰蓋了 25 間客房的「隱廬飯店」（Hermitage Hotel），把一首歌帶來的名氣，串成「鐵路→纜車→飯店」一整條觀光風景線。</a:t>
            </a:r>
          </a:p>
          <a:p>
            <a:r>
              <a:t>- 第一次歸零（1906 大噴發）：1906 年 4 月 7 至 8 日維蘇威大噴發，上下站房、機房、纜線與兩節車廂全被埋進 20 至 30 公尺深的火山灰（據 pompeiiinpictures），照商業常理，故事到這裡就該結束。</a:t>
            </a:r>
          </a:p>
          <a:p>
            <a:r>
              <a:t>- 一次又一次重建：重建工程 1909 年完工、1910 年正式復駛（由工程師特萊伯（Enrico Treiber）主持），新纜車還加了架空電線、車燈、電鈴與電話，甚至開辦夜間登山班次；1911 年山崩再停、1912 年又開——那首歌還在傳唱，山下的人潮也未曾斷過——人們便一次又一次，捨不得放手。</a:t>
            </a:r>
          </a:p>
          <a:p>
            <a:r>
              <a:t>- 第二次歸零（1944）：1944 年 3 月維蘇威再度噴發、又逢二戰戰火，上段纜車再次被毀；庫克公司評估後決定不再重建，1945 年 12 月以 310 萬里拉把整條線賣給義大利南方次要鐵路公司（SFSM），自己保留 120 萬里拉股份（據 JRTR／Thomas Cook 史料）。</a:t>
            </a:r>
          </a:p>
          <a:p>
            <a:r>
              <a:t>- 轉型吊椅：新業主放棄重建軌道纜車，1951 年改找瑞士伯恩的 Von Roll 公司蓋吊椅（chair-lift），造價僅重建纜車的三分之一，1953 年起載客，這套吊椅一路營運到 1984 年才走入歷史。</a:t>
            </a:r>
          </a:p>
          <a:p>
            <a:r>
              <a:t>- 硬體與歌聲的對照，正是本張金句的骨架：纜車、電氣鐵路、飯店、吊椅——四代硬體全被天災、戰火或時代淘汰；唯一沒被淘汰的，是那首 1880 年一次委創的歌。</a:t>
            </a:r>
          </a:p>
          <a:p>
            <a:r>
              <a:t>- 「歌比硬體長壽」還有鐵證：這首歌紅到讓後世大作曲家「誤當民謠」——德國作曲家理查·史特勞斯（Richard Strauss）約 1886 年遊義大利聽到，以為是拿坡里民謠，把旋律寫進管弦作品《Aus Italien》（義大利之旅），被鄧札告上法院、判賠版稅；1907 年俄國作曲家林姆斯基-高沙可夫（Rimsky-Korsakov）也犯同樣的錯。一首委創之歌，竟紅到讓兩位大作曲家都誤當了百年民謠。</a:t>
            </a:r>
          </a:p>
          <a:p>
            <a:r>
              <a:t>- 到今天仍在傳唱：Funiculì, Funiculà 至今活在全球電影、廣告、音樂會與教科書裡，替維蘇威、替拿坡里唱了一百四十多年（該曲 1993 年 1 月 1 日進入公共領域）；硬體的生命週期以年計，這首歌的迴響，以世紀計。</a:t>
            </a:r>
          </a:p>
          <a:p>
            <a:r>
              <a:t>- 📖 維蘇威登山纜車（Funicolare del Vesuvio）：義大利拿坡里維蘇威火山上的鋼纜牽引陡坡鐵道，1880 年通車、1944 年後改為吊椅、1984 年停用；它的開幕催生了 Funiculì, Funiculà 這首歌。</a:t>
            </a:r>
          </a:p>
          <a:p>
            <a:r>
              <a:t>- 📖 Funiculì, Funiculà：拿坡里方言歌名，字面約為「纜車上、纜車下」，「Funiculì」就是方言的「纜車」；它是為維蘇威纜車開幕而寫、與纜車同年誕生的歌，被視為近代拿坡里歌謠的開端。</a:t>
            </a:r>
          </a:p>
          <a:p>
            <a:r>
              <a:t>- 📖 委創（commission，委託創作）：出資者指定題目、出資請人量身創作作品的模式；當時＝藝術贊助者為一件盛事或一座場館量身訂做傳世之作，本張的歌就是纜車業主委創的傳世之作。</a:t>
            </a:r>
          </a:p>
          <a:p>
            <a:r>
              <a:t>- 📖 不可抗力（force majeure）：源自法律與商業合約的用語，指地震、火山、戰爭等人力無法防止的重大事故，常被寫進合約當免責條款；本張借它形容火山噴發對這家企業的極限考驗。</a:t>
            </a:r>
          </a:p>
          <a:p>
            <a:r>
              <a:t>- 📖 產品生命週期（product life cycle）：行銷學名詞，指產品從導入、成長、成熟到衰退的必然歷程；本張用它點出「硬體會過時、會被淘汰」，與能跨世紀傳唱的一首歌形成對比。</a:t>
            </a:r>
          </a:p>
          <a:p>
            <a:r>
              <a:t>- 📖 百年迴響：一首歌跨越世紀、在世界各地傳唱不歇的生命力，無法以任何數字衡量——正是本張「纜車會老、歌聲不會」的註腳。</a:t>
            </a:r>
          </a:p>
          <a:p>
            <a:r>
              <a:t>- 📖 傳世之歌：能為一地、一事留下跨越百年的聲名、且歲月只會讓它更添光采的作品；本張主張，一首真心成就的委創之歌，便是跨世紀的傳世之歌。</a:t>
            </a:r>
          </a:p>
          <a:p>
            <a:r>
              <a:t>- 📖 湯瑪士·庫克父子公司（Thomas Cook &amp; Son）：19 世紀英國創立、世界最早的大型旅行社之一，當時＝套裝行程與觀光票務的開創者，購入並經營維蘇威纜車數十年，讓歌帶來的名氣，化作源源客流。</a:t>
            </a:r>
          </a:p>
          <a:p>
            <a:r>
              <a:t>- 📖 約翰·梅森·庫克（John Mason Cook）：旅行社創辦人湯瑪士·庫克（Thomas Cook）之子，實際出手購入維蘇威纜車、整頓嚮導亂象並擴建鐵路與飯店的人。</a:t>
            </a:r>
          </a:p>
          <a:p>
            <a:r>
              <a:t>- 📖 里柯第出版社（Casa Ricordi）：1808 年創立於米蘭的義大利大型樂譜出版商，威爾第（Verdi）歌劇也由它出版；當時＝掌握樂譜印製與版權的音樂出版龍頭，Funiculì 的樂譜就由它發行、一年破百萬份。</a:t>
            </a:r>
          </a:p>
          <a:p>
            <a:r>
              <a:t>- 📖 皮耶迪格羅塔音樂節（Festa di Piedigrotta）：拿坡里每年 9 月的宗教兼歌謠慶典，當時＝拿坡里新歌一年一度的官方發表會，Funiculì 在此首演一炮而紅。</a:t>
            </a:r>
          </a:p>
          <a:p>
            <a:r>
              <a:t>- 📖 吊椅（chair-lift）／Von Roll：吊椅是以鋼纜懸掛座椅、把乘客凌空送上山的纜索設施，比軌道纜車便宜；Von Roll 是承建維蘇威 1953 年吊椅的瑞士伯恩纜索工程公司。</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46｜共融與共榮：企業與藝術相互成就的四個面向</a:t>
            </a:r>
          </a:p>
          <a:p/>
          <a:p>
            <a:r>
              <a:t>【講稿】（停留約 80 秒）行至此處，讓我把這四百年的故事，收攏成企業與藝術共融共榮的四樣果實。其一，聲望的輝映——一如卡內基、一如拜羅伊特，名字鐫入了文化史，一座聖地，便令世人世世代代遠道朝聖。其二，知音的相聚——一如英國航空、一如奇美，以藝術會友，與最珍惜你的那群貴賓，在同一段旋律裡彼此相知。其三，人才的滋養——一如埃斯特哈齊，近三十年的長情相伴，滋養出一位交響曲之父，也凝聚起一份由衷的認同。其四，實實在在的共創——一如普契尼的歌劇之鄉年年湧入的人潮，一如那條纜車與一首歌並肩同行的百年運量：企業與藝術攜手，也能共同締造看得見的豐收。而這四樣果實，四百年來結在每一位知音企業的枝頭；今晚，也同樣屬於在座的各位。</a:t>
            </a:r>
          </a:p>
          <a:p>
            <a:r>
              <a:t>【講義補充】</a:t>
            </a:r>
          </a:p>
          <a:p>
            <a:r>
              <a:t>- 這張是收尾綜整頁：把前面走過的七種樣態，收攏成企業與藝術共融共榮的四樣果實——①聲望的輝映（卡內基／拜羅伊特）②知音的相聚（英航／賓士／奇美）③人才的滋養（埃斯特哈齊）④實實在在的共創（普契尼的觀光人潮、纜車的百年運量）；每一項都對應本片前面出現過的贊助者實例。</a:t>
            </a:r>
          </a:p>
          <a:p>
            <a:r>
              <a:t>- 面向①「聲望的輝映」的兩個範本：鋼鐵大王卡內基把姓氏刻上紐約最頂級的音樂廳、巴伐利亞王室與華格納樂迷把拜羅伊特打造成朝聖地——一座建築落成，一個世紀以上的迴響至今不息。</a:t>
            </a:r>
          </a:p>
          <a:p>
            <a:r>
              <a:t>- 📖 卡內基音樂廳（Carnegie Hall）：位於紐約曼哈頓第七大道與 57 街口的頂級音樂廳，1890 年動工、1891 年 5 月 5 日正式開幕，開幕週由俄國作曲家柴可夫斯基（Pyotr Ilyich Tchaikovsky）親自登台指揮、完成其美國首演；全案約 110 萬美元幾乎由卡內基一人獨資（據 Carnegie Hall 官方與 Wikipedia）。</a:t>
            </a:r>
          </a:p>
          <a:p>
            <a:r>
              <a:t>- 📖 安德魯·卡內基（Andrew Carnegie，1835–1919）：蘇格蘭裔美國鋼鐵大亨、十九世紀末美國首富之一。此案罕見地未套用他平時要求他人配捐的「卡內基公式」，而是獨力補足音樂廳虧損直到 1919 年過世；家族的姓氏，自此永久懸於世界最具聲望的舞台之上，與音樂同在。</a:t>
            </a:r>
          </a:p>
          <a:p>
            <a:r>
              <a:t>- 📖 拜羅伊特節慶劇院／音樂節（Bayreuth Festspielhaus／Festspiele）：德國巴伐利亞拜羅伊特專為華格納（Richard Wagner）歌劇量身打造的劇院，1872 年 5 月 22 日（華格納 59 歲生日）奠基，1876 年 8 月 13 日以《尼伯龍根的指環》（Der Ring des Nibelungen）全本首演揭幕，至今仍是全球樂迷朝聖地與德國的文化名片。</a:t>
            </a:r>
          </a:p>
          <a:p>
            <a:r>
              <a:t>- 📖 路德維希二世（Ludwig II of Bavaria，1845–1886）：巴伐利亞國王、華格納最關鍵的藝術贊助者。民間認股募資不順時，他於 1874 年 1 月撥款十萬塔勒（Thaler，當時德語區通行的銀幣單位）以信貸方式挹注，工程才得以加速、音樂節才辦得成——王室的這份慷慨，讓一座聖地得以誕生。</a:t>
            </a:r>
          </a:p>
          <a:p>
            <a:r>
              <a:t>- 📖 華格納協會（Wagner Societies）：在華格納友人海克爾（Emil Heckel）建議下，於萊比錫、柏林、維也納等地成立的支持者社團，透過集體認股分攤劇院經費——一群企業與仕紳同心協力，名字從此與拜羅伊特的榮光長相輝映。</a:t>
            </a:r>
          </a:p>
          <a:p>
            <a:r>
              <a:t>- 面向②「知音的相聚」：當代的英國航空（British Airways）、豪華車廠賓士、台灣奇美，都與藝文長年同行、以樂會友，與最懂得欣賞的那群知音彼此珍惜。</a:t>
            </a:r>
          </a:p>
          <a:p>
            <a:r>
              <a:t>- 📖 賓士（Mercedes-Benz）：德國高級汽車品牌，源出戴姆勒（Daimler）體系，品牌名結合早期經銷商顧問女兒 Mercedes 之名與汽車先驅卡爾·賓士（Karl Benz）之姓。品牌長期以藝術與音樂贊助（如 Mercedes-Benz 藝術收藏、擔任表演藝術中心與音樂活動的季度贊助商）與藝文界長年同行、貼近最珍惜它的知音（據 Mercedes-Benz 官方與 The Marketing Society）。</a:t>
            </a:r>
          </a:p>
          <a:p>
            <a:r>
              <a:t>- 📖 奇美博物館／許文龍（Chimei Museum／Shi Wen-long，1928– ）：台南奇美實業創辦人許文龍以企業之力創建的私人博物館，自 1990 年起大量蒐藏西洋名琴，藏量逾一千把，為全球最大的提琴典藏機構（據奇美博物館官網與中央社）；一份文化收藏，讓企業之名與名琴之聲自此長相輝映。</a:t>
            </a:r>
          </a:p>
          <a:p>
            <a:r>
              <a:t>- 📖 史特拉底瓦里（Stradivari）：十七至十八世紀義大利克雷莫納（Cremona）製琴大師安東尼奧·史特拉底瓦里所製名琴的統稱，被視為小提琴工藝巔峰、拍賣價動輒上億台幣。奇美 1990 年購入的第一把即史氏 1709 年巔峰期名琴「瑪麗·霍爾」（Marie Hall），曾被權威提琴雜誌評為音色最佳的史氏名琴之一。</a:t>
            </a:r>
          </a:p>
          <a:p>
            <a:r>
              <a:t>- 面向③「人才的滋養」的古典範本：埃斯特哈齊家族用近三十年的穩定雇用與專屬樂團場館，把海頓（Joseph Haydn）從一名樂師養成「交響曲之父」——這是最早、也最動人的「以長情滋養人才」典範。</a:t>
            </a:r>
          </a:p>
          <a:p>
            <a:r>
              <a:t>- 📖 埃斯特哈齊家族（Esterházy）：匈牙利最富有的貴族世家。尼古勞斯一世親王（Nikolaus I，人稱「輝煌者」）自 1761 年起雇用海頓，1766 年升任其為樂長，前後任職近三十年；親王在自家宮殿埃斯特哈薩（Eszterháza，號稱「匈牙利的凡爾賽宮」）設歌劇院與常設樂團，供海頓創作、排練與演出。</a:t>
            </a:r>
          </a:p>
          <a:p>
            <a:r>
              <a:t>- 📖 樂長（Kapellmeister）：德語意為「樂團／樂隊長」，指宮廷或教會的音樂總負責人，統籌作曲、排練、演出與樂手管理——相當於贊助者延請入府、安穩供養的「音樂總監」，職位穩定，才有餘裕長期深耕與大量創作。</a:t>
            </a:r>
          </a:p>
          <a:p>
            <a:r>
              <a:t>- 面向④「實實在在的共創」：普契尼讓故鄉成為世人年年造訪的歌劇之鄉、纜車與一首歌並肩同行百年——企業與藝術攜手，也能共同締造看得見的豐收。</a:t>
            </a:r>
          </a:p>
          <a:p>
            <a:r>
              <a:t>- 📖 普契尼（Giacomo Puccini，1858–1924）：義大利歌劇作曲家，1858 年生於盧卡（Lucca），代表作《波希米亞人》《托斯卡》《蝴蝶夫人》。他長居托雷德爾拉戈（Torre del Lago），當地自 1930 年起每年夏天舉辦全球唯一的普契尼歌劇節（Festival Puccini），露天劇場每季約吸引四萬名觀眾（據 Wikipedia／Visit Tuscany）；盧卡與托雷德爾拉戈整條「普契尼路線」則長年替地方帶來觀光財（講稿所稱「兩百萬觀光客」為本片前述引用之數字，確切口徑待查證）。</a:t>
            </a:r>
          </a:p>
          <a:p>
            <a:r>
              <a:t>- 📖 《Funiculì, Funiculà》：1880 年由作曲家盧伊吉·丹薩（Luigi Denza）作曲、佩皮諾·圖爾科（Peppino Turco）填詞的拿波里歌謠，為慶祝維蘇威火山纜車開通而寫，堪稱史上最早的「企業主題曲／廣告歌」；樂譜由里柯第（Ricordi）出版，一年內售出逾百萬份，歌聲所至，纜車之名隨之傳遍世界。</a:t>
            </a:r>
          </a:p>
          <a:p>
            <a:r>
              <a:t>- 📖 維蘇威火山纜車（Funicolare del Vesuvio）：1880 年 6 月 6 日通車的登山纜車。初期經營困難、幾乎倒閉，1887 年後由英國旅遊業者湯瑪士·庫克（Thomas Cook）之子約翰·梅森·庫克（John Mason Cook）接手整修，並於 1888 年取得特許經營權，靠自家觀光客源把它救活——一首帶動唱的歌加上一條纜車路線，撐起橫跨百年的運量與聲名（詳見本站纜車公司的故事）。</a:t>
            </a:r>
          </a:p>
          <a:p>
            <a:r>
              <a:t>- 核心金句：你成就音樂，音樂也成就你——建築掛名、名琴收藏、育才養團、觀光人潮，四百年來，皆是企業與藝術彼此成就、共同締造的果實。</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47｜企業家最適合聽的音樂</a:t>
            </a:r>
          </a:p>
          <a:p/>
          <a:p>
            <a:r>
              <a:t>【講稿】（停留約 60 秒）在正式向各位提案之前，容我先奉上一份行家的小清單——企業家最適合聆聽的四首音樂，按場合分列，算是主人家的一點貼心。其一，伏案沉思、需要一室清明的時候，聽今日的《郭德堡變奏曲》——它規律而清澈，正是靜心時最相宜的一位良伴。其二，尾牙、開工、團隊誓師，想凝聚人心的時候，就放貝多芬的〈歡樂頌〉，我敢說，整個場子都會隨之堂皇起來。其三，同歡同樂、想帶動全場，就用我們今日的壓軸，那首輕快又順口的《Funiculì》。其四，一個人靜靜獨處、或是款待你看重的客人，需要一縷安靜而有品味的背景音，就放德布西的《月光》。以樂相佐場合，原是行家待己待客最風雅的一份講究——也是各位身為主人，最自然、也最動人的一份氣度。</a:t>
            </a:r>
          </a:p>
          <a:p>
            <a:r>
              <a:t>【講義補充】</a:t>
            </a:r>
          </a:p>
          <a:p>
            <a:r>
              <a:t>- 這四首都是全片走過的案例回訪——多數背後都連著贊助者、題獻對象或出資企業；選它們相伴企業家的日常，是讓四百年共融共榮的果實，走進各位的生活。</a:t>
            </a:r>
          </a:p>
          <a:p>
            <a:r>
              <a:t>- 📖 郭德堡變奏曲（Goldberg Variations，BWV 988）：巴赫（Johann Sebastian Bach）1741 年出版的鍵盤名作，一段詠嘆調（Aria，抒情主題）加 30 段變奏；曲名取自演奏者哥德堡（Johann Gottlieb Goldberg）。相傳由前俄國駐薩克森宮廷大使凱瑟林伯爵（Count Hermann Karl von Keyserlingk）委託，供他失眠長夜聆聽（此說為傳說，出自 1802 年福克爾（Johann Nikolaus Forkel）所寫的巴赫傳記，距事發逾六十年、真偽有爭議）；正是「貴族級私人訂製」的典型，呼應「不朽之名」一站的私人委託。場合：需要專注、沉澱、靜心。</a:t>
            </a:r>
          </a:p>
          <a:p>
            <a:r>
              <a:t>- 📖 〈歡樂頌〉（Ode to Joy，德文原題 An die Freude）：貝多芬（Ludwig van Beethoven）第九號交響曲（作品 125）末樂章的合唱主題，歌詞改編自席勒（Friedrich Schiller）1785 年寫、1803 年修訂的同名詩；1824 年 5 月 7 日在維也納首演。全曲題獻給普魯士國王腓特烈．威廉三世（Friedrich Wilhelm III），呼應「不朽之名」一站的題獻故事——一紙題獻，讓贊助者之名與作品一同傳世。場合：尾牙、開工、團隊誓師，凝聚人心、鼓舞士氣。</a:t>
            </a:r>
          </a:p>
          <a:p>
            <a:r>
              <a:t>- 📖 《Funiculì, Funiculà》（拿坡里方言，意為「纜車上、纜車下」）：1880 年的拿坡里歌曲，鄧扎（Luigi Denza）作曲、圖爾科（Peppino Turco）作詞，為慶祝維蘇威火山（Mount Vesuvius）第一條纜車（1879 年建、1880 年通車）啟用而寫；朗朗上口，歌聲所至令纜車之名傳遍世界，後世視為與企業並肩同行最早的歌曲之一。當年於皮耶迪格洛塔（Piedigrotta）音樂節首演，由里柯第（Casa Ricordi）出版，一年內賣出上百萬份樂譜（據 Wikipedia）；這正是第七樣態「企業與藝術共同締造財富」的主角。場合：炒熱氣氛、帶動全場。</a:t>
            </a:r>
          </a:p>
          <a:p>
            <a:r>
              <a:t>- 📖 《月光》（Clair de lune，法文即「月光」）：德布西（Claude Debussy）《貝加馬斯克組曲》（Suite bergamasque）的第三樂章，約 1890 年寫成、1905 年修訂後出版；曲名取自象徵派詩人魏爾倫（Paul Verlaine）詩集《風流慶典》（Fêtes galantes，1869）中的同名詩。它是鋼琴獨奏曲、不能帶動唱，全片用作暖場與散場的墊樂。場合：獨處沉澱、招待貴客時安靜有品味的背景音。</a:t>
            </a:r>
          </a:p>
          <a:p>
            <a:r>
              <a:t>- 📖 軟實力（soft power）：美國政治學者奈伊（Joseph Nye）1990 年提出的概念，指不靠強制、財富或命令，而靠吸引力、品味與認同去影響他人的能力。講席所取僅「美自有分量」一層：領導者的品味與音樂，自然流露，即成氣度——美不為謀。</a:t>
            </a:r>
          </a:p>
          <a:p>
            <a:r>
              <a:t>- 場合對照（延續現有講義）：郭德堡＝專注／靜心、〈歡樂頌〉＝凝聚／士氣、Funiculì＝炒熱氣氛、月光＝沉澱／招待；四首各司其職，按場合點播即可。</a:t>
            </a:r>
          </a:p>
          <a:p>
            <a:r>
              <a:t>- 以樂相佐情緒與場合，是領導者最自然的一份風雅；以上皆為場合相配的聆賞建議，屬個人品味與待客的講究。</a:t>
            </a:r>
          </a:p>
          <a:p>
            <a:r>
              <a:t>【影片操作】 無（可輕放《月光》當背景）。</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48｜給企業的五點提案（一）</a:t>
            </a:r>
          </a:p>
          <a:p/>
          <a:p>
            <a:r>
              <a:t>【講稿】（停留約 60 秒）故事說到這裡，各位心中想必已浮起一個問題：那麼今日的我們，究竟能從何做起？我把它凝成五點，珍重地留給各位。第一點，如埃斯特哈齊——以長年而安穩的守候，相伴一位藝術家，再以一座場館，予他一個能安心創作的家。第二點，如佛瑞的女伯爵——不必將心力遍灑於百人；一旦遇見那位對的藝術家，便誠心相伴，陪他一路走到被世界看見的那一天。誠心成全一個人，往往比把心力遍灑百處，更為動人，也更為長久。</a:t>
            </a:r>
          </a:p>
          <a:p>
            <a:r>
              <a:t>【講義補充】</a:t>
            </a:r>
          </a:p>
          <a:p>
            <a:r>
              <a:t>- 提案 1「像埃斯特哈齊」：長期、穩定的資助＋一座自家場館，等於給藝術家一個能安心創作的「家」——埃斯特哈齊家族 1761 年起聘海頓（Joseph Haydn，先任副樂長），1762 年繼位的尼古拉斯親王（Prince Nikolaus Esterházy，1714–1790，綽號「輝煌者」the Magnificent）1766 年把他升為正樂長，一路留用到 1790 年親王過世，海頓將近三十年只服務同一位藝術贊助者。</a:t>
            </a:r>
          </a:p>
          <a:p>
            <a:r>
              <a:t>- 這位藝術贊助者留下的不只是幾首曲子，而是「與家族之名長相輝映的整支樂團與整個劇季」：埃斯特哈齊宮（Eszterháza，號稱「匈牙利的凡爾賽宮」）據 Wikipedia／H. C. Robbins Landon 有 126 個房間、造價約 1,300 萬奧地利盾（gulden）；宮內 1768 年落成的歌劇院可容 400 人（1779 年焚毀後重建），另有 1773 年的木偶劇院，海頓在此一年常辦逾百場演出、並為親王樂團寫下他大半的交響曲——場館是創作的家，家族之名則與這些作品一同傳世。</a:t>
            </a:r>
          </a:p>
          <a:p>
            <a:r>
              <a:t>- 對企業的啟示：與其一時的錦上添花，不如以「薪俸＋居所＋樂團＋舞台」的整套安穩相待，讓人才不必為生計分心，傳世傑作才孕育得出來；埃斯特哈齊家族偏居一隅的宮殿，就因海頓的音樂成了世界文化地標。</a:t>
            </a:r>
          </a:p>
          <a:p>
            <a:r>
              <a:t>- 提案 2「像佛瑞的女伯爵」：與其把心力遍灑一百個人，不如誠心相伴一位「對的」藝術家、長情相隨，陪他走到成名——葛雷菲勒女伯爵（Comtesse Élisabeth Greffulhe，1860–1952）1886 年經表兄孟德斯鳩（Robert de Montesquiou）引介，認識當時尚未被世人聽見的佛瑞（Gabriel Fauré，1845–1924），此後傾心成全、長情相隨。</a:t>
            </a:r>
          </a:p>
          <a:p>
            <a:r>
              <a:t>- 她如何相伴、留下什麼：1890 年主持成立「法國大型音樂會協會」（Société des Grandes Auditions Musicales de France）把冷門與新作搬上舞台，替佛瑞爭取演出，並於 1909 年替他運作角逐法蘭西學會（Institut de France）院士；佛瑞則把《帕凡舞曲》（Pavane，作品 50）題獻給她，完整合唱版首演就辦在她布洛涅森林（Bois de Boulogne）的花園派對——她的名字，自此永久留在傳世名曲與一整段沙龍史裡。</a:t>
            </a:r>
          </a:p>
          <a:p>
            <a:r>
              <a:t>- 誠心成全一個人的迴響：這位女伯爵同時是普魯斯特（Marcel Proust）筆下蓋爾芒特公爵夫人（duchesse de Guermantes）的原型、狄亞吉列夫（Sergei Diaghilev）俄羅斯芭蕾舞團的藝術贊助者——把心意集中在成全一個人，最後讓她自己成了一個時代的文化座標。</a:t>
            </a:r>
          </a:p>
          <a:p>
            <a:r>
              <a:t>- 📖 宮廷樂長（Kapellmeister）：德語「樂隊隊長」，統籌一個宮廷所有音樂事務的最高職位；當時＝領主延請入府、託付全部音樂事務的音樂總監，海頓 1766 年老樂長去世後接任此職。</a:t>
            </a:r>
          </a:p>
          <a:p>
            <a:r>
              <a:t>- 📖 埃斯特哈齊親王（Prince Nikolaus Esterházy）：匈牙利最顯赫貴族之一的當家親王，1714–1790，愛樂成痴、傾其所有，人稱「輝煌者」；當時＝把整支宮廷樂團與歌劇院視作自家日常、又願意長年供養作曲家的超級藝術贊助者。</a:t>
            </a:r>
          </a:p>
          <a:p>
            <a:r>
              <a:t>- 📖 埃斯特哈齊宮（Eszterháza）：親王 1760 年代在匈牙利平原上蓋的洛可可宮殿，內含歌劇院與木偶劇院，因排場而號稱「匈牙利的凡爾賽宮」；當時＝贊助者以重金築起的一座「藝術家園」。</a:t>
            </a:r>
          </a:p>
          <a:p>
            <a:r>
              <a:t>- 📖 葛雷菲勒女伯爵（Comtesse Élisabeth Greffulhe）：巴黎「美好年代」（Belle Époque）最有影響力的貴族沙龍女主人，1860–1952，全名 Marie Anatole Louise Élisabeth Greffulhe（née de Riquet de Caraman-Chimay）；當時＝巴黎樂壇一言九鼎的沙龍女主人，多少傑作因她而被世人聽見，也贊助羅丹、居禮夫人的鐳研究院等。</a:t>
            </a:r>
          </a:p>
          <a:p>
            <a:r>
              <a:t>- 📖 法國大型音樂會協會（Société des Grandes Auditions Musicales de France）：女伯爵 1890 年成立並主持的音樂贊助組織，專演冷門與新作（含華格納、白遼士等），1913 年停辦；當時＝由藝術贊助者出資、把「還沒被世人聽見的傑作」推上舞台的殿堂。</a:t>
            </a:r>
          </a:p>
          <a:p>
            <a:r>
              <a:t>- 📖 法蘭西學會（Institut de France）：法國最高學術榮譽機構，轄下有法蘭西學術院、美術院等五院；當時＝藝文界的「終身成就殿堂」，入選等於國家級蓋章，女伯爵 1909 年替佛瑞出力運作。</a:t>
            </a:r>
          </a:p>
          <a:p>
            <a:r>
              <a:t>- 📖 帕凡舞曲（Pavane）：佛瑞 1887 年的作品 50，取名自 16 世紀莊重緩步的宮廷舞；此曲題獻給葛雷菲勒女伯爵，等於把贊助者的名字永久寫進樂譜扉頁，是題獻傳統最典雅的範例。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49｜給企業的五點提案（二）</a:t>
            </a:r>
          </a:p>
          <a:p/>
          <a:p>
            <a:r>
              <a:t>【講稿】（停留約 60 秒）第三點，如拜羅伊特、如卡內基——把你的場館，或你所辦的一場音樂節，用心經營成一處令人念念不忘、此生非親往朝聖一回不可的地方，把你的名字留在其上。第四點，如那家維蘇威纜車公司——與作曲家共同孕育一支真正屬於你的作品，或一首主題曲。這樣一支作品，會與你的名字一同傳唱、娓娓道來；一次用心的委創，迴響足以綿延百年。</a:t>
            </a:r>
          </a:p>
          <a:p>
            <a:r>
              <a:t>【講義補充】</a:t>
            </a:r>
          </a:p>
          <a:p>
            <a:r>
              <a:t>- 提案 3＝冠名，提案 4＝委創；兩者共通的心法，是讓一份用心的贊助，化作掛著你名字、與歲月同行的存在——一座場館聚攏世人一百年，一首主題曲傳唱一百年。</a:t>
            </a:r>
          </a:p>
          <a:p>
            <a:r>
              <a:t>- 提案 3 造聖地／冠名，經典案例拜羅伊特（Bayreuth）：華格納（Richard Wagner）自建的節慶劇院，原想靠「認股眾籌」募款卻失敗，最後全靠巴伐利亞國王路德維希二世（Ludwig II）一筆約 40 萬馬克的信貸才蓋成（總造價約 42.8 萬馬克，據 Wikipedia），1876 年 8 月首演《尼伯龍根的指環》（Der Ring des Nibelungen）；一座只為一位大師的作品而存在的劇院，至今仍讓全球樂迷每年非去朝聖不可。</a:t>
            </a:r>
          </a:p>
          <a:p>
            <a:r>
              <a:t>- 提案 3 冠名另一經典案例卡內基音樂廳（Carnegie Hall）：鋼鐵大王安德魯·卡內基（Andrew Carnegie）獨資約 110 萬美元（據 Carnegie Hall 官方）興建，1891 年開幕，破例不套用他慣常「你出一半我出一半」的配捐公式、獨力補貼虧損到 1919 年過世；紐約最高規格的表演殿堂自此永遠冠著他的姓，「Carnegie」四個字如今等於音樂界最高的殿堂之名。</a:t>
            </a:r>
          </a:p>
          <a:p>
            <a:r>
              <a:t>- 提案 4 委創傳世，經典案例維蘇威纜車（第七樣態的實例）：1880 年 6 月維蘇威火山首條登山纜車通車，一首《Funiculì, Funiculà》與它同年誕生，樂譜首年賣破百萬份、紅了一百多年；纜車雖在 1944 年火山爆發中毀掉，主題曲卻讓「搭纜車上維蘇威」這件事被永遠記得——一次委創，迴響能綿延百年。</a:t>
            </a:r>
          </a:p>
          <a:p>
            <a:r>
              <a:t>- 📖 冠名（naming rights，名稱權）：企業或個人的名字懸於場館、活動、獎項之上，與之長相連結；當時＝卡內基把姓氏永久刻上一座音樂廳。</a:t>
            </a:r>
          </a:p>
          <a:p>
            <a:r>
              <a:t>- 📖 iconic（標誌性的）：一提到就代表某事物、地位無可取代的；當時＝把場館或音樂節經營成後人非親往一回不可的文化地標。</a:t>
            </a:r>
          </a:p>
          <a:p>
            <a:r>
              <a:t>- 📖 拜羅伊特節慶劇院（Bayreuth Festspielhaus）：德國拜羅伊特一座 1876 年落成、專為演出華格納歌劇而建的劇院；每年夏天的拜羅伊特音樂節（Bayreuth Festival）是華格納樂迷的朝聖地，也是「讓一位大師的作品自成聖地」的樣板。</a:t>
            </a:r>
          </a:p>
          <a:p>
            <a:r>
              <a:t>- 📖 卡內基音樂廳（Carnegie Hall）：紐約 1891 年開幕的頂級音樂廳，由鋼鐵鉅子安德魯·卡內基出資並冠名；開幕演出由俄國作曲家柴可夫斯基（Pyotr Ilyich Tchaikovsky）親自指揮，也是他的美國首演。</a:t>
            </a:r>
          </a:p>
          <a:p>
            <a:r>
              <a:t>- 📖 委創／委託創作（commission）：贊助者出資、指定作曲家為某場合或某品牌量身寫一部新作品；當時＝纜車通車，就催生出與它並肩同行的《Funiculì, Funiculà》。</a:t>
            </a:r>
          </a:p>
          <a:p>
            <a:r>
              <a:t>- 📖 《Funiculì, Funiculà》：義大利拿坡里語，意近「纜車上、纜車下」，1880 年鄧扎（Luigi Denza）作曲、記者圖爾科（Peppino Turco）作詞，為慶祝維蘇威火山首條登山纜車通車而作，由里柯第（Ricordi）出版、首年售出逾百萬份樂譜；嚴格說它並非白紙黑字的商業委託（相傳由圖爾科起意、一說當玩笑而作），卻成了纜車事實上的百年主題曲——提案 4 所嚮往的，正是這樣的百年迴響。</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50｜給企業的五點提案（三）</a:t>
            </a:r>
          </a:p>
          <a:p/>
          <a:p>
            <a:r>
              <a:t>【講稿】（停留約 65 秒）第五點，我格外想說給在座諸位聽——如梅迪奇，卻也如《夜巡》中那群同心的商賈：一人可以成為藝術贊助者，眾人更可以。你我都不必獨力承擔，喚上你的公會、你的交流會，同心協力，留下的，便是眾人的名字並列在同一件傳世之作上的榮光。最後，請將三個字帶回家，這是所有提案真正的靈魂：對等、可持續、共融。不是施捨，是並肩的合作；不是一時的煙火，是一段慢慢養成的長情；不是高踞其上，而是願與藝術家、與這片土地彼此靠近。做到這三個字，美便會長長久久地，與各位的事業同行。</a:t>
            </a:r>
          </a:p>
          <a:p>
            <a:r>
              <a:t>【講義補充】</a:t>
            </a:r>
          </a:p>
          <a:p>
            <a:r>
              <a:t>- 提案 5 的核心：成為藝術贊助者，「一個人來」或「揪公會、揪交流會眾人同行」都行——眾人分擔、眾人同榮，集體的名字一同留在作品上；兩個歷史範本一是個人／家族藝術贊助者的梅迪奇，二是集體合資藝術贊助者的《夜巡》民兵連。</a:t>
            </a:r>
          </a:p>
          <a:p>
            <a:r>
              <a:t>- 梅迪奇模式（個人藝術贊助者）：把銀行歲入年年投於文化，家族聲望與城市榮光相互輝映；此風範連對手都起而效法、擴散到全義大利（據 Palladium／Wikipedia）；梅迪奇也是本片巴洛克段落「歌劇藝術贊助者」的同一個家族，前後呼應。</a:t>
            </a:r>
          </a:p>
          <a:p>
            <a:r>
              <a:t>- 《夜巡》模式（集體藝術贊助者）：關鍵是沒有人獨扛、也不必獨扛——一群商賈同儕合資把自己畫進同一幅傑作，讓「連隊」這個團體被四百年後的人記得；據載各人出資份額不一（每人約 100 荷蘭盾上下浮動），各盡其力，同在一幅傳世之作裡。</a:t>
            </a:r>
          </a:p>
          <a:p>
            <a:r>
              <a:t>- 📖 梅迪奇家族（House of Medici）：15 世紀翡冷翠（Florence，今譯佛羅倫斯）的銀行世家，梅迪奇銀行（1397–1494）一度是全歐最富、最受信賴的金融機構，家族亦曾是全歐首富；他們是唐納太羅（Donatello）、波提切利（Botticelli）、米開朗基羅（Michelangelo）、達文西（Leonardo da Vinci）的藝術贊助者——當時＝把商業獲利投進藝術、與家族聲望相互輝映的「贊助教科書」。</a:t>
            </a:r>
          </a:p>
          <a:p>
            <a:r>
              <a:t>- 📖《夜巡》（The Night Watch，1642）：荷蘭畫家林布蘭（Rembrandt van Rijn）的巨幅團體肖像，正式名稱是「班寧．柯克隊長麾下第二區民兵連」；當時＝阿姆斯特丹一群城市民兵合資、每人約 100 荷蘭盾、合計約 1,600 荷蘭盾委製（據載），原本掛在火槍手會館（Kloveniersdoelen）大廳，今藏於荷蘭國家博物館（Rijksmuseum）。</a:t>
            </a:r>
          </a:p>
          <a:p>
            <a:r>
              <a:t>- 📖 城市民兵／火槍手公會（schutterij／kloveniers）：荷蘭城市裡由市民（多為商人、工匠）組成的自衛兼社交團體；當時＝有財富有地位的商賈結社，既維持治安，也彼此往來、更以一幅共同的畫像把同袍情誼留給後世——正是那個年代的「跨業交流會」，也正好呼應本片講給企業聽的眾人同行、共同成為藝術贊助者。</a:t>
            </a:r>
          </a:p>
          <a:p>
            <a:r>
              <a:t>- 📖 荷蘭盾（guilder／gulden）：17 世紀荷蘭黃金時代的通用貨幣單位；當時＝阿姆斯特丹商人日常記帳的財富，一位民兵出資 100 盾參與一幅團體畫像，是一位市民力所能及、體體面面的風雅之舉。</a:t>
            </a:r>
          </a:p>
          <a:p>
            <a:r>
              <a:t>- 三個記憶點是所有提案的靈魂：對等（不是施捨，是對等的合作）、可持續（不是一次的煙火，是一段慢慢養成的長情）、共融（不是高高在上，是與藝術家、與社群共融）——做到這三點，美便會與贊助者的事業長久同行、彼此成就。</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51｜當代委創：今天，輪到你與藝術家共創</a:t>
            </a:r>
          </a:p>
          <a:p/>
          <a:p>
            <a:r>
              <a:t>【講稿】（停留約 50 秒）各位看這一頁樂譜，它仍是一片空白——因為它尚未被寫下。從梅迪奇，到路德維希二世，到卡內基，每一位願意委託新作的藝術贊助者，都把自己的名字，輕輕寫進了未來的文化史。而今日，輪到你了。你不必諳於作曲，只需做一個決定：與這個時代的作曲家，共同孕育一部屬於你們的新作。或許三百年後，仍會有人記得——是你，在今日成全了它。</a:t>
            </a:r>
          </a:p>
          <a:p>
            <a:r>
              <a:t>【講義補充】</a:t>
            </a:r>
          </a:p>
          <a:p>
            <a:r>
              <a:t>- 這一頁樂譜刻意留白（佔位代號 d2-modern-piano）：它還沒被寫出來，因為與它相知的藝術贊助者還沒出現——講者把「決定權」交回台下的企業家手上，全場的藝術贊助者故事到這裡收束成一句邀請：你不必諳於作曲，只需要做一個決定，與作曲家共同孕育，剩下的交給他。</a:t>
            </a:r>
          </a:p>
          <a:p>
            <a:r>
              <a:t>- 一部新作因委創而誕生，委託者之名便與作品同在，隨它流傳幾百年——留下的不是一場演出，而是一部自己會走進未來的作品；這是本張把四百年贊助史收攏到企業家眼前的核心邀請。</a:t>
            </a:r>
          </a:p>
          <a:p>
            <a:r>
              <a:t>- 三位藝術贊助者、三段傳奇——梅迪奇的一場婚慶，催生了「歌劇之城」的永久聲望；路德維希二世的一份慷慨，成就了拜羅伊特的劇院神話；卡內基的一棟建築，把姓氏刻進世界舞台；共同點是：他們的名字，都與作品一同傳世。</a:t>
            </a:r>
          </a:p>
          <a:p>
            <a:r>
              <a:t>- 📖 委創（commission，委託創作）：指出資者出資請作曲家為特定場合或目的寫一部全新的原創作品，不是取用現成樂譜，而是「從無到有」把作品喚到世上；委託者可以是個人、品牌、樂團或機構，出資的一方名字就跟著這部作品進入音樂史，這是本場全片「藝術贊助者視角」的最終行動呼籲。</a:t>
            </a:r>
          </a:p>
          <a:p>
            <a:r>
              <a:t>- 📖 梅迪奇家族（House of Medici）：十五到十八世紀統治佛羅倫斯（Florence，義大利中部城市）的銀行世家與藝術贊助者；1600 年瑪麗亞．德．梅迪奇（Maria de' Medici）下嫁法王亨利四世（Henry IV of France）的婚慶場合，催生了佩里（Jacopo Peri）的歌劇《尤麗狄茜》（Euridice，據載為現存最早的一部歌劇）——一場皇室婚禮，就這樣替人類催生了「歌劇」這門全新的藝術，呼應開場巴洛克站的梅迪奇／歌劇一頁。</a:t>
            </a:r>
          </a:p>
          <a:p>
            <a:r>
              <a:t>- 📖 路德維希二世（Ludwig II of Bavaria，1845–1886）：巴伐利亞國王，人稱「天鵝王」；1864 年即位後立刻召見負債累累的華格納（Richard Wagner），替他還清債務、贊助《崔斯坦與伊索德》（Tristan und Isolde）與《紐倫堡的名歌手》（Die Meistersinger）首演，據載更以三萬弗羅林（Florin，當時金幣）委託華格納完成《尼伯龍根的指環》（Der Ring des Nibelungen，四聯劇），並借出約十萬塔勒（Taler，約佔預算三分之一）促成拜羅伊特節慶劇院（Bayreuth Festspielhaus）落成，呼應浪漫站的拜羅伊特一頁。</a:t>
            </a:r>
          </a:p>
          <a:p>
            <a:r>
              <a:t>- 📖 卡內基（Andrew Carnegie，1835–1919）：蘇格蘭裔美國「鋼鐵大王」、十九世紀首富之一；他出資約一百一十萬美元（總造價約一百二十五萬美元，據 Wikipedia）在紐約蓋了一座音樂廳，1891 年 5 月 5 日開幕，開幕音樂會請到俄國作曲家柴可夫斯基（Pyotr Tchaikovsky）親自指揮自己的作品完成美國首演，這座廳從此就叫「卡內基音樂廳」（Carnegie Hall），一百三十多年後全世界仍在替他念這個姓氏。</a:t>
            </a:r>
          </a:p>
          <a:p>
            <a:r>
              <a:t>- 📖 樂譜佔位 d2-modern-piano：本張採用的空白樂譜版面代號（d2 為投影片樣式、modern 指全片最後的「現代橋接」站、piano 為鋼琴譜），刻意不放任何譜例，象徵「一部尚未被委託出來的當代新作」，把譜上的空白留給下一位願意出資的品牌。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52｜重點回顧：企業與藝術共同締造的七種樣態</a:t>
            </a:r>
          </a:p>
          <a:p/>
          <a:p>
            <a:r>
              <a:t>【講稿】（停留約 60 秒）讓我們把今日的地圖，再輕輕走過一遍。四百年來，企業與藝術共同締造了七種樣態的傳奇。一、企業與藝術締造的地位傳奇——梅迪奇。二、藝術與企業締造的永恆影像——《夜巡》裡那群公會的商賈，其實正是各位。三、藝術與企業締造的不朽之名——貝多芬的三位知音、佛瑞與郭德堡的知音，還有梵谷的弟弟。四、企業締造的聖地與冠名——拜羅伊特、卡內基、三得利、迪士尼。五、企業以藝術締造人才與向心力——埃斯特哈齊。六、企業與國家以藝術締造正向的形象——拿破崙、威爾第、普契尼、賓士、奇美。七、企業與藝術共同締造財富——那家憑一首歌傳唱百年的纜車公司。不論你的公司是大是小，你都當得起藝術贊助者這個名字。請把今日唯一的這句話帶走：你成就音樂，音樂也成就你。</a:t>
            </a:r>
          </a:p>
          <a:p>
            <a:r>
              <a:t>【講義補充】</a:t>
            </a:r>
          </a:p>
          <a:p>
            <a:r>
              <a:t>- 這張是全片的總覽地圖——把四百年間企業與藝術共同締造的傳奇收攏成七種樣態：地位傳奇、永恆影像、不朽之名、聖地與冠名、人才與向心力、正向的形象、共同締造的財富；聽眾要帶走的不只是音樂史，更是「企業與藝術彼此成就」這幅活生生的地圖。</a:t>
            </a:r>
          </a:p>
          <a:p>
            <a:r>
              <a:t>- 七種樣態的代表藝術贊助者一次對位：地位傳奇＝梅迪奇（Medici，佛羅倫斯銀行世家）；永恆影像＝林布蘭（Rembrandt）《夜巡》裡合資入畫的阿姆斯特丹民兵連商紳（各盡其力，正是「眾人同心也能當藝術贊助者」的原型——一如今日的公會與交流會）；不朽之名＝與貝多芬、佛瑞、巴赫、梵谷相知相伴的貴族與親人；聖地與冠名＝拜羅伊特、卡內基、三得利、迪士尼四座以出資者命名的殿堂；人才與向心力＝養整支宮廷樂團的埃斯特哈齊（Esterházy）親王家；正向的形象＝拿破崙、威爾第、普契尼與賓士、奇美；共同締造的財富＝靠一首歌傳唱百年的維蘇威纜車公司。</a:t>
            </a:r>
          </a:p>
          <a:p>
            <a:r>
              <a:t>- 保留原點：豪門（梅迪奇）與集體合資（《夜巡》公會）都可以是藝術贊助者，規模不是門檻——關鍵是願不願意入列同行。</a:t>
            </a:r>
          </a:p>
          <a:p>
            <a:r>
              <a:t>- 📖 葛雷菲勒女伯爵（Élisabeth, comtesse Greffulhe，1860–1952）：美好年代（Belle Époque，法國十九世紀末的太平繁榮期）巴黎最著名的沙龍名媛；她出資支持並要求把佛瑞（Gabriel Fauré）的《帕凡舞曲》（Pavane, Op. 50）加上合唱與舞蹈，1891 年搬進自家布洛涅森林（Bois de Boulogne）花園派對盛大搬演；當時＝用私人財力把一首管弦小品升級成大型製作、名字自此與傳世名曲長相輝映的藝術贊助者。</a:t>
            </a:r>
          </a:p>
          <a:p>
            <a:r>
              <a:t>- 📖 凱瑟林伯爵（Hermann Karl von Keyserlingk）：俄國駐薩克森選帝侯宮廷大使；相傳（傳說性質）他長期失眠，出資請巴赫（Johann Sebastian Bach）寫一套供家中大鍵琴手郭德堡（Johann Gottlieb Goldberg）夜間彈奏的變奏曲，即《郭德堡變奏曲》；當時＝把作品「私人訂製」而讓自己名字與名曲永遠綁在一起的藝術贊助者（呼應投影片 18–19）。</a:t>
            </a:r>
          </a:p>
          <a:p>
            <a:r>
              <a:t>- 📖 貝多芬的三位貴族（Beethoven's three noble patrons）：1809 年魯道夫大公（Archduke Rudolph）、洛布科維茨親王（Prince Lobkowitz）、金斯基親王（Prince Kinsky）三方簽約，合力每年給貝多芬（Ludwig van Beethoven）四千弗羅林（florin，當時奧地利的貨幣單位；據 Beethoven-Haus 分別出 1500／700／1800）年金，三位知音唯一的心願，是維也納不失去他；當時＝三位知音合力相守、只求維也納不失去他的藝術贊助者。</a:t>
            </a:r>
          </a:p>
          <a:p>
            <a:r>
              <a:t>- 📖 西奧·梵谷（Theo van Gogh，1857–1891）：畫家文森·梵谷（Vincent van Gogh）的弟弟、巴黎畫商；他長年按月接濟、供顏料與畫布，供哥哥安心作畫；當時＝以親情長年供養一位生前幾乎賣不出畫的創作者的私人藝術贊助者；他的這份相信，後來被整部美術史證明。</a:t>
            </a:r>
          </a:p>
          <a:p>
            <a:r>
              <a:t>- 📖 奇美（Chimei，奇美實業／奇美博物館）：台灣企業家許文龍（Shi Wen-long）1992 年創立於台南的私人博物館，藏有世界最大的提琴收藏（史特拉底瓦里（Stradivari）、瓜奈里（Guarneri）等名琴），並據館方逾三千位台灣裔年輕演奏家免費借用（含馬友友（Yo-Yo Ma）、曾宇謙）；當時＝以「借琴」讓名琴不再沉睡、讓年輕演奏家與企業之名彼此成就的在地藝術贊助者，也是離我們最近的一位。</a:t>
            </a:r>
          </a:p>
          <a:p>
            <a:r>
              <a:t>- 📖 維蘇威纜車公司（Vesuvius Funicular）：1880 年 6 月 10 日通車、造價據載約 43.5 萬里拉（lire，當時義大利貨幣）的登山纜車；纜車通車之年，丹薩（Luigi Denza）與圖爾科（Peppino Turco）為它寫下《Funiculì, Funiculà》，樂譜由里柯第（Ricordi）出版、據載一年賣破百萬份，歌聲所至，纜車之名隨之傳遍世界；當時＝與一首傳世之歌並肩同行的企業，也是本片「共同締造財富」一站的招牌案例（呼應本站纜車公司的故事）。</a:t>
            </a:r>
          </a:p>
          <a:p>
            <a:r>
              <a:t>- 收束句「你成就音樂，音樂也成就你」是這幅地圖的結論：不論公司規模大小，你都當得起藝術贊助者這個名字；此頁重點，在四百年來企業與藝術彼此成就、共同締造傳奇，從未失手。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53｜行動呼籲：成為下一個梅迪奇</a:t>
            </a:r>
          </a:p>
          <a:p/>
          <a:p>
            <a:r>
              <a:t>【講稿】（停留約 45 秒）你不必是國王，也不必是鋼鐵大王。梅迪奇可以是一個顯赫的銀行王朝，也可以是《夜巡》裡同心協力的一群商賈，甚至，只是一位願意相信哥哥的弟弟。你所需做的，其實只是一件「對等、可持續、共融」的事。或許今日回去，你便能起步：尋一位你打從心底欣賞的、對的藝術家，或喚上你的公會、你的交流會，同提一件小小的委託創作。別忘了，梅迪奇當年，也不過是從一場婚禮上的一齣歌劇，緩緩開始的。</a:t>
            </a:r>
          </a:p>
          <a:p>
            <a:r>
              <a:t>【講義補充】</a:t>
            </a:r>
          </a:p>
          <a:p>
            <a:r>
              <a:t>- 行動清單（今天回去就能起步）：（1）找一位你真心欣賞、方向對的藝術家；（2）或揪上你的公會、跨業交流會、商圈同業，合資提一個小型「委託創作」；（3）先把彼此的名分談得清清楚楚——如何署名、首演之夜如何同席為賓——並約定細水長流的節奏，讓它不是放一次就沒的煙火。</a:t>
            </a:r>
          </a:p>
          <a:p>
            <a:r>
              <a:t>- 三種贊助者原型，對應你不同的量能：一個人／一個家族撐起全部（梅迪奇、卡內基）、一群商賈合資分攤（《夜巡》）、一位相信家人的親人默默供養（梵谷兄弟）——重點從來不是財力厚薄，是願不願意做那位長年相伴、不離不棄的人。</a:t>
            </a:r>
          </a:p>
          <a:p>
            <a:r>
              <a:t>- 全片記憶點、也是給你自己的驗收標準：對等（藝術家是並肩的夥伴，以禮相待）、可持續（一年固定一檔，細水長流勝過一次熱鬧）、共融（把員工、客戶、社區一起涵蓋進這件事）。</a:t>
            </a:r>
          </a:p>
          <a:p>
            <a:r>
              <a:t>- 📖 梅迪奇家族（Medici）：十五世紀起主宰佛羅倫斯的銀行世家，靠「梅迪奇銀行」放款給教廷與王室起家，再以家族之力成全藝術——委託建築、延請藝術家入府長年供養、在自家婚禮上讓一門全新的藝術首度登台。藝術贊助者不必是國王，銀行世家、布商、商會都能是梅迪奇。</a:t>
            </a:r>
          </a:p>
          <a:p>
            <a:r>
              <a:t>- 📖 《夜巡》（The Night Watch／De Nachtwacht，1642）：林布蘭（Rembrandt van Rijn）為阿姆斯特丹一支民兵連隊畫的巨幅團體肖像。畫中約十八名民兵各自出資，每人約一百荷蘭盾（guilder）、合計約一千六百盾，據載各人出資份額不一，各盡其力，同在一幅傳世之作裡——一張眾人同心、名字並列的委託，正是公會合資委創的四百年前版本。</a:t>
            </a:r>
          </a:p>
          <a:p>
            <a:r>
              <a:t>- 📖 鋼鐵大王卡內基（Andrew Carnegie）與卡內基音樂廳（Carnegie Hall）：白手起家的鋼鐵鉅子，出資約一百一十萬美元（據 Carnegie Hall）在紐約蓋起這座音樂廳，1891 年 5 月開幕、由俄國作曲家柴可夫斯基（Pyotr Ilyich Tchaikovsky）親自登台指揮。這是「一位大藝術贊助者蓋一座場館、造福整座城市」的模式；講稿說的「鋼鐵大王」即指他。</a:t>
            </a:r>
          </a:p>
          <a:p>
            <a:r>
              <a:t>- 📖 梵谷兄弟（van Gogh）：史上最著名的「家人即贊助人」案例；是身為畫商的弟弟西奧（Theo van Gogh，任職 Goupil、後併入 Boussod Valadon 畫廊）按月接濟、供給顏料，養著畫家哥哥文森（Vincent），文森生前幾乎全靠這筆家用作畫。贊助不必轟轟烈烈，一份穩定的月供也算數。</a:t>
            </a:r>
          </a:p>
          <a:p>
            <a:r>
              <a:t>- 📖 委託創作（commission，簡稱委創）：出資者出資請藝術家「為某個場合、量身新創一部作品」，作品因這筆財富而誕生。梅迪奇當年正是「從一場婚禮的一齣歌劇開始」——1600 年瑪麗亞·德·梅迪奇（Maria de' Medici）下嫁法王亨利四世（Henri IV）的婚禮上，於彼提宮（Palazzo Pitti）演出佩里（Jacopo Peri）的《尤莉迪絲》（Euridice），這是現存最早的歌劇；一場婚禮的一筆委託，開啟了延續四百年的藝術形式。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54｜全場帶動唱：Funiculì, Funiculà</a:t>
            </a:r>
          </a:p>
          <a:p/>
          <a:p>
            <a:r>
              <a:t>【講稿】（停留約 15–20 分鐘，全場帶動唱）此刻，輪到各位親自開口——我們一同唱起那家纜車公司、一百四十年前的那首歌。別緊張，其實只需學會兩句。第一句：「Jamme, jamme, 'ncoppa jamme jà!」意思是「走吧走吧，一起上山去」——中文，我們就唱：「揚眉、揚眉、揚眉吐氣吧」。第二句更簡單：「Funiculì, funiculà!」——中文就唱：「福臨庫裡、福進庫啦」，唱著唱著，福氣便進了各位的門。我先唱一遍給各位聽；接著我們全場一同來兩回；第三回，請各位加上拍手。不必唱準，唱得開心便好。（帶動唱進行，可反覆多輪、分組合唱、加拍手）……唱得真好！各位方才所唱的，是一支 1880 年為一條纜車而寫的歌。一百四十年過去，纜車早已走入歷史，這首歌卻仍讓滿滿一整個場子的人，唱得眉開眼笑——這，便是企業與藝術共同締造的財富，最溫柔的模樣。也是我今日最想贈予各位的一句話：你成就音樂，音樂也成就你。</a:t>
            </a:r>
          </a:p>
          <a:p>
            <a:r>
              <a:t>【講義補充】</a:t>
            </a:r>
          </a:p>
          <a:p>
            <a:r>
              <a:t>- 副歌歌詞：Jamme, jamme, 'ncoppa jamme jà!（走吧走吧，一起上山去）——中文唱「揚眉 揚眉 揚眉吐氣吧」／Funiculì, funiculà!（纜車上山、纜車下山）——中文唱「福臨庫裡 福進庫啦」。</a:t>
            </a:r>
          </a:p>
          <a:p>
            <a:r>
              <a:t>- 流程（保留原註）：講師領唱 1 次→全場 2 次→第 3 次加拍手，可再分組合唱。</a:t>
            </a:r>
          </a:p>
          <a:p>
            <a:r>
              <a:t>- 段落定位（保留原註）：這一段即「歌曲教唱 20 分鐘」，與 90 分鐘主體分開計時。</a:t>
            </a:r>
          </a:p>
          <a:p>
            <a:r>
              <a:t>- 收尾金句（保留原註）：你成就音樂，音樂也成就你。</a:t>
            </a:r>
          </a:p>
          <a:p>
            <a:r>
              <a:t>- 一句話定性這張投影片：各位剛剛全場合唱、還加了拍手的，是一支 1880 年為纜車而寫的廣告歌；它替一家早已消失的纜車公司，傳唱了一百四十多年——一首歌，讓一段企業的故事永遠活著。</a:t>
            </a:r>
          </a:p>
          <a:p>
            <a:r>
              <a:t>- 這首歌為慶祝新開幕的維蘇威火山（Mount Vesuvius）登山纜車而生：作詞作曲於 1880 年，正對應那條纜車在同年 6 月 6 日通車。當年觀光客與那不勒斯人還寧可騎驢、騎馬上山，一首朗朗上口的歌，卻讓「搭纜車上山」從此成了浪漫時髦的事，世人也因它記住了這座山。</a:t>
            </a:r>
          </a:p>
          <a:p>
            <a:r>
              <a:t>- 這也是歌比鐵石長久的明證：纜車會被天災摧毀、會停業；但當年誕生的這一首好歌，一唱就是四個世代，至今全球婚禮、球場、廣告、卡通仍在傳唱——歌聲，比纜車走得更遠。</a:t>
            </a:r>
          </a:p>
          <a:p>
            <a:r>
              <a:t>- 呼應第七樣態（Funiculì 系列與纜車公司的故事）：纜車本身在 1906、1944 兩度被火山爆發掩埋摧毀、最終停駛走入歷史，公司沒了，歌卻活著——鋼索有盡時，歌聲無絕期。</a:t>
            </a:r>
          </a:p>
          <a:p>
            <a:r>
              <a:t>- 傳唱力的極致證明：這支「廣告歌」流行到連理查·史特勞斯（Richard Strauss）都以為它是那不勒斯民謠，1886 年遊義大利時把旋律寫進自己的交響詩《來自義大利》（Aus Italien）；作曲家丹薩提告並勝訴，史特勞斯得付版稅。一支廣告歌紅到被誤認成「無名氏民謠」，正是傳唱入心最深的證明。</a:t>
            </a:r>
          </a:p>
          <a:p>
            <a:r>
              <a:t>- 銷售數字（據 Wikipedia／Casa Ricordi）：樂譜由里柯第（Casa Ricordi，即本片浪漫站「里柯第×威爾第」的同一家出版巨頭）發行，一年內賣破一百萬份——在沒有電台、唱片的年代，這是驚人的擴散。</a:t>
            </a:r>
          </a:p>
          <a:p>
            <a:r>
              <a:t>- 首演場合的軼事：這首歌最早不是在大劇院，而是 1880 年在史塔比亞海堡（Castellammare di Stabia）的奎西薩納飯店（Quisisana Hotel）唱出，同年再搬上那不勒斯的皮耶迪格羅塔歌謠節（Festa di Piedigrotta）——等於在當年最盛大的歌謠慶典上首發，一鳴驚人。</a:t>
            </a:r>
          </a:p>
          <a:p>
            <a:r>
              <a:t>- 出資與經營這條纜車的「企業方」值得記住：最初由企業家奧布利赫特（Ernesto Emanuele Oblieght）推動、羅馬銀行（Banco di Roma）支持、米蘭的奧利維耶里（Emilio Olivieri）承建；1888 年英國旅行社湯瑪斯·庫克父子公司（Thomas Cook &amp; Son）的小庫克（John Mason Cook）取得經營權，把它納入自家觀光路線——一首歌、一條纜車、一家旅行社，共同寫成這段百年故事。</a:t>
            </a:r>
          </a:p>
          <a:p>
            <a:r>
              <a:t>- 📖 Funiculì, funiculà（拿坡里方言）：字面就是「纜車往上、纜車往下」，用纜車上下行的動作當歡呼；當時＝人人朗朗上口的一聲歡呼，纜車之名隨著它傳遍了世界。</a:t>
            </a:r>
          </a:p>
          <a:p>
            <a:r>
              <a:t>- 📖 廣告神曲／jingle（英文，廣告歌）：為推銷特定商品或服務而寫、刻意好記好唱的短曲；當時＝「Funiculì, Funiculà」常被後世舉為此類歌曲最早的例子之一，歌中的主角正是那條纜車。</a:t>
            </a:r>
          </a:p>
          <a:p>
            <a:r>
              <a:t>- 📖 登山纜索鐵路（funicular，纜車）：靠鋼索牽引、兩節車廂一上一下互為配重、行駛陡坡的鐵道；當時＝1880 年新開通、要把遊客載上維蘇威火山口的觀光設施，也是歌中邀請世人一同登臨的主角。</a:t>
            </a:r>
          </a:p>
          <a:p>
            <a:r>
              <a:t>- 📖 維蘇威火山（Mount Vesuvius）：義大利那不勒斯灣旁的活火山，公元 79 年曾埋掉龐貝城；當時＝纜車與這首歌共同的舞台，遊客遠道而來，正是為了登上這座火山、一望火山口。</a:t>
            </a:r>
          </a:p>
          <a:p>
            <a:r>
              <a:t>- 📖 路易吉·丹薩（Luigi Denza，1846–1922）：本曲作曲者，那不勒斯出身的作曲家；當時＝把委託題材寫成傳世旋律的人，日後長居倫敦、任教皇家音樂學院，正是他出面告贏史特勞斯、確立這首「廣告歌」的版權財產權。</a:t>
            </a:r>
          </a:p>
          <a:p>
            <a:r>
              <a:t>- 📖 佩皮諾·圖爾科（Peppino Turco，本名 Giuseppe Turco）：本曲作詞者，那不勒斯記者兼詩人；當時＝據載起意（一說半開玩笑）借纜車通車寫歌的那位詩人——一句妙筆，讓纜車從此入了歌。</a:t>
            </a:r>
          </a:p>
          <a:p>
            <a:r>
              <a:t>- 📖 皮耶迪格羅塔歌謠節（Festa di Piedigrotta）：那不勒斯每年 9 月的宗教節慶兼新歌發表盛會，近代拿坡里歌謠多在此打響；當時＝這首歌初次唱響之處，等於當年最盛大的新歌首演舞台。</a:t>
            </a:r>
          </a:p>
          <a:p>
            <a:r>
              <a:t>- 📖 里柯第（Casa Ricordi）：1808 年創立於米蘭的義大利音樂出版龍頭，也出版威爾第（Giuseppe Verdi）等大師作品；當時＝把這首歌印成樂譜、送進千家萬戶的出版名門，呼應本片浪漫站「里柯第×威爾第」的出版產業主線。</a:t>
            </a:r>
          </a:p>
          <a:p>
            <a:r>
              <a:t>- 📖 交響詩（tone poem／symphonic poem）：以管弦樂描繪故事、風景或意念、通常單樂章的樂曲；當時＝史特勞斯《來自義大利》就是這種形式，他把誤認為民謠的本曲旋律放了進去。</a:t>
            </a:r>
          </a:p>
          <a:p>
            <a:r>
              <a:t>- 📖 版稅（royalty）：使用他人受著作權保護的作品時，須按約定付給權利人的款項；當時＝丹薩告贏史特勞斯後依法所得，這首歌的名分，自此受法律與歷史共同承認。</a:t>
            </a:r>
          </a:p>
          <a:p>
            <a:r>
              <a:t>- 📖 湯瑪斯·庫克父子公司（Thomas Cook &amp; Son）：十九世紀英國最大的旅行社、近代團體旅遊的開創者；當時＝1888 年取得維蘇威纜車經營權、把它納入自家觀光路線的英國旅遊業者——與這首歌並肩同行數十年的企業同行者。</a:t>
            </a:r>
          </a:p>
          <a:p>
            <a:r>
              <a:t>【影片操作】 以 Pavarotti 版當示範與伴唱底：先放副歌段讓大家聽一次，帶動唱時音量壓低當伴奏。播前：「聽聽歌王怎麼唱，等一下換我們。」播後：「你們剛剛唱的，和一百四十年來全世界唱的，是同一首歌——歌聲就是這樣一代一代傳下去的。」</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55｜揚眉吐氣歌．簡譜（一）主歌上</a:t>
            </a:r>
          </a:p>
          <a:p/>
          <a:p>
            <a:r>
              <a:t>【講稿】（帶動唱進行中）主歌先由我來領唱；各位請看大字譜面，先聽一遍旋律——待會兒副歌，就輪到各位登場。</a:t>
            </a:r>
          </a:p>
          <a:p>
            <a:r>
              <a:t>【講義補充】</a:t>
            </a:r>
          </a:p>
          <a:p>
            <a:r>
              <a:t>- 簡譜投影片共四張（主歌上下、副歌、副歌再與結尾）；完整兩頁歌單（含四行歌詞與反覆記號）可於講座網站下載〈揚眉吐氣歌〉簡譜 PDF。</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56｜揚眉吐氣歌．簡譜（二）主歌下</a:t>
            </a:r>
          </a:p>
          <a:p/>
          <a:p>
            <a:r>
              <a:t>【講稿】（帶動唱進行中）主歌下半——「好運擋不住，漲得就像爐火越燒越旺」。聽我唱，也歡迎輕輕跟著哼。</a:t>
            </a:r>
          </a:p>
          <a:p>
            <a:r>
              <a:t>【講義補充】</a:t>
            </a:r>
          </a:p>
          <a:p>
            <a:r>
              <a:t>- 主歌共唱三遍、每遍歌詞不同；回主歌時照譜上「2.時／3.哎」接唱。</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57｜揚眉吐氣歌．簡譜（三）副歌</a:t>
            </a:r>
          </a:p>
          <a:p/>
          <a:p>
            <a:r>
              <a:t>【講稿】（帶動唱進行中）副歌來了——「揚眉、揚眉、揚眉吐氣吧；福臨庫裡、福進庫啦」。我領唱一次、全場跟唱兩次、第三次請加上拍手！</a:t>
            </a:r>
          </a:p>
          <a:p>
            <a:r>
              <a:t>【講義補充】</a:t>
            </a:r>
          </a:p>
          <a:p>
            <a:r>
              <a:t>- 副歌中文與拿坡里原文對照；「揚眉吐氣」與「福進庫」正是這首歌要送給各位的祝福。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58｜揚眉吐氣歌．簡譜（四）副歌與結尾</a:t>
            </a:r>
          </a:p>
          <a:p/>
          <a:p>
            <a:r>
              <a:t>【講稿】（帶動唱進行中）副歌再來一遍——唱到反覆記號就回主歌；最後一遍走「3.」房，「福進庫——啦——」收在最高音，掌聲送給各位自己！</a:t>
            </a:r>
          </a:p>
          <a:p>
            <a:r>
              <a:t>【講義補充】</a:t>
            </a:r>
          </a:p>
          <a:p>
            <a:r>
              <a:t>- 反覆結構：一、二房回主歌接唱下一節；第三遍唱三房收尾，末音為高音 do 的長音。</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59｜Q&amp;A 與延伸聆聽</a:t>
            </a:r>
          </a:p>
          <a:p/>
          <a:p>
            <a:r>
              <a:t>【講稿】（停留約 60 秒）接下來，是屬於我們暢談的時光。容我先反問各位一個問題暖暖身：你的品牌，最像今日哪一位藝術贊助者呢？是願做獨自出手的梅迪奇，是願築一座聖地的拜羅伊特，還是願喚一群摯友同行的《夜巡》公會？也歡迎把今日聽到的曲子帶回家、細細地聽：巴赫《郭德堡變奏曲》、貝多芬〈歡樂頌〉、丹薩《Funiculì》、佛瑞《帕凡舞曲》、威爾第〈Va, pensiero〉，還有德布西《月光》。哪日有緣遠行，也有幾座場館，很值得各位親自走上一趟：紐約卡內基音樂廳、德國拜羅伊特節慶劇院、東京三得利音樂廳，還有就在台南、離我們最近的奇美博物館。好，此刻，便把時間交予各位。</a:t>
            </a:r>
          </a:p>
          <a:p>
            <a:r>
              <a:t>【講義補充】</a:t>
            </a:r>
          </a:p>
          <a:p>
            <a:r>
              <a:t>- 這頁把全片的贊助者原型收攏成三條可選路徑，讓在座企業各自認出最合心性的一條路：獨力成全（梅迪奇）、蓋一座專屬聖殿（拜羅伊特）、或揪一群人合資冠名（《夜巡》公會）。三種都被四百年史實驗證過，差別只在你想走多深、想與幾位同好同行。</a:t>
            </a:r>
          </a:p>
          <a:p>
            <a:r>
              <a:t>- 📖 梅迪奇模式（Medici）：文藝復興時期佛羅倫斯（Florence）的銀行世家，以家族財富長期獨力供養藝術家與音樂家，並在開場一站促成了歌劇的誕生；當時＝「一位藝術贊助者獨力成全一位人才或一間機構」，是最專注的一種風範，家族聲望與城市榮光因此相互輝映。</a:t>
            </a:r>
          </a:p>
          <a:p>
            <a:r>
              <a:t>- 📖 拜羅伊特模式（Bayreuth／拜羅伊特節慶劇院 Bayreuth Festspielhaus）：作曲家華格納（Richard Wagner）為自己作品量身打造的專屬歌劇院，位於德國巴伐利亞小鎮拜羅伊特，1876 年 8 月落成、首演全本《尼貝龍指環》。原想靠各地「華格納協會」眾籌，卻募款不足，最後由巴伐利亞國王路德維希二世（Ludwig II）以貸款補足；據載總造價約 42.8 萬馬克、國王借款約 40 萬馬克。當時＝「不只成就一個人、更築起一整座場館」的宏大之路。</a:t>
            </a:r>
          </a:p>
          <a:p>
            <a:r>
              <a:t>- 📖 《夜巡》公會模式（The Night Watch）：林布蘭（Rembrandt van Rijn）1642 年為阿姆斯特丹民兵隊（射手公會，schutterij）繪製的巨幅團體肖像，掛在公會宴會廳；全隊約 18 名成員合資，據載每人約付 100 荷蘭盾、合計約 1,600 盾。當時＝一群人按份出資、名字並列於同一件傳世之作的同行之路。</a:t>
            </a:r>
          </a:p>
          <a:p>
            <a:r>
              <a:t>- 📖 卡內基音樂廳（Carnegie Hall）：紐約地標音樂廳，由鋼鐵大亨安德魯．卡內基（Andrew Carnegie）出資興建，1891 年 5 月 5 日開幕（開幕週邀來柴可夫斯基（Tchaikovsky）客席指揮），據載造價約 110 萬美元。冠名即傳世——一座頂級場館把出資者的姓氏，永久刻進了世界音樂史。</a:t>
            </a:r>
          </a:p>
          <a:p>
            <a:r>
              <a:t>- 📖 三得利音樂廳（Suntory Hall）：東京赤坂 Ark Hills 園區內的葡萄園式音樂廳，由日本飲料集團三得利（Suntory）興建，1986 年 10 月 12 日開幕，適逢該公司威士忌釀造 60 週年紀念（指揮家卡拉揚（Herbert von Karajan）讚為「聲音的珠寶盒」）。當時＝企業以文化場館與城市長久相伴的教科書級案例。</a:t>
            </a:r>
          </a:p>
          <a:p>
            <a:r>
              <a:t>- 📖 奇美博物館（Chimei Museum）：位於台南都會公園，是奇美實業（Chimei，以 ABS 塑膠原料起家）創辦人許文龍跨越八十年的圓夢之作；2015 年新館開幕、館舍捐給政府後取得 50 年經營權，並擁有全球數量最完整的名琴（史特拉底瓦里 Stradivari 等）收藏。就在台南，是本地企業把獲利化為永久文化風景的活例。</a:t>
            </a:r>
          </a:p>
          <a:p>
            <a:r>
              <a:t>- 收束一句：四座朝聖場館裡有三座直接冠上出資者的姓名或企業名（卡內基、三得利、奇美），名字與廳堂同壽——場館，是歲月替贊助者寫下的最長情的一筆；六首延伸聆聽（巴赫《郭德堡變奏曲》、貝多芬〈歡樂頌〉、丹薩《Funiculì》、佛瑞《帕凡舞曲》、威爾第〈Va, pensiero〉、德布西《月光》）則各自對應片中一位藝術贊助者，帶回家細聽時不妨想想：是誰的成全，才讓它得以誕生。</a:t>
            </a:r>
          </a:p>
          <a:p>
            <a:r>
              <a:t>【影片操作】 Q&amp;A 期間輕放《月光》當背景墊樂。播前：「讓音樂陪我們聊天。」</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60｜謝謝：願你與音樂，彼此成就</a:t>
            </a:r>
          </a:p>
          <a:p/>
          <a:p>
            <a:r>
              <a:t>【講稿】（停留約 40 秒）從梅迪奇到你——四百年來，故事說的原是同一件事：企業與藝術相知相伴，便共同締造了輝煌的傳奇。願各位今日離席時，把這句話帶在身上：你成就音樂，音樂也成就你。願美與各位的事業，彼此成就、共榮共好。謝謝各位今日，願意坐下來，聽我把這些故事一一說完。我的聯絡方式就在螢幕上；而我心底最深的盼望，是有朝一日能親耳聽見，那部由你們與作曲家共同孕育的新作。謝謝大家。</a:t>
            </a:r>
          </a:p>
          <a:p>
            <a:r>
              <a:t>【講義補充】</a:t>
            </a:r>
          </a:p>
          <a:p>
            <a:r>
              <a:t>- 收尾金句（保留）：你成就音樂，音樂也成就你；願美與各位的事業，彼此成就、共榮共好。</a:t>
            </a:r>
          </a:p>
          <a:p>
            <a:r>
              <a:t>- 全片主軸回收：從梅迪奇（Medici）到今天在座的你，四百年來，企業與藝術彼此成就，留下的始終是同一樣——「不朽署名」；贊助者的名字，隨著他出資成就的那部作品，被後人一路記到今天。</a:t>
            </a:r>
          </a:p>
          <a:p>
            <a:r>
              <a:t>- 📖 梅迪奇家族（House of Medici）：十五至十八世紀佛羅倫斯（Florence）的銀行世家，靠梅迪奇銀行（Medici Bank）致富後成為文藝復興「教父級」贊助者，出資對象含達文西（Leonardo da Vinci）、米開朗基羅（Michelangelo）等；音樂上，歌劇的誕生與梅迪奇宮廷密切相關（1600 年佩里（Jacopo Peri）的《尤麗迪絲》（Euridice）在梅迪奇婚禮上演出），其宮廷更供養了鋼琴發明人克里斯托福里（Bartolomeo Cristofori）——今天全世界的鋼琴，源頭正是一位藝術贊助者的宮廷。</a:t>
            </a:r>
          </a:p>
          <a:p>
            <a:r>
              <a:t>- 呼應前面各站的贊助者：埃斯特哈齊親王（Esterházy）供養海頓（Joseph Haydn）近 30 年，「交響曲之父」為家族寫下上百部作品；貝多芬（Ludwig van Beethoven）1809 年獲三位維也納貴族合資的終身年金，唯一的心願，是他留在維也納作曲；這些贊助者今天被記住，靠的正是他們出資成就的音樂。</a:t>
            </a:r>
          </a:p>
          <a:p>
            <a:r>
              <a:t>- 📖 委託／委創（commission）：贊助者出資請作曲家為特定場合或特定人「量身訂做」一部新作品；當時＝出資者之名署於樂譜扉頁，與作品一同傳世。這正是講師在收尾邀請在座企業家去做的事——與作曲家共同孕育、成為某部新作的「第一位藝術贊助者」。</a:t>
            </a:r>
          </a:p>
          <a:p>
            <a:r>
              <a:t>- 📖 題獻（dedication）：作曲家把作品「獻給」某位贊助者，將其名字印在樂譜開頭；當時＝最高規格的公開致謝，使贊助者之名自此與作品同在、隨作品流傳（貝多芬多部作品即題獻給資助他的親王與大公）。</a:t>
            </a:r>
          </a:p>
          <a:p>
            <a:r>
              <a:t>- 講師資訊與聯絡方式（保留）：投影片保留講師姓名、Email／電話與委託洽詢窗口，方便有意贊助或委創的企業於會後接洽。</a:t>
            </a:r>
          </a:p>
          <a:p>
            <a:r>
              <a:t>【影片操作】 散場時循環輕放《月光》，與開場呼應。播前（散場）：「慢走，把這份月光帶回家。」</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yf2rbcrZzDQ"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chQ7cbSUU-s" TargetMode="Externa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uyQsekYvhpk"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xeRwBiu4wfQ"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hyperlink" Target="https://www.youtube.com/watch?v=q8iTTRG-h3w" TargetMode="Externa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vA0wLGb92fs" TargetMode="Externa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mGpdvdNRSiY" TargetMode="Externa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Wkt8CsZR8bY" TargetMode="Externa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RVi6GgQBkwE" TargetMode="Externa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hyperlink" Target="https://www.youtube.com/watch?v=plEnfABwsSQ" TargetMode="Externa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f5d86xl4qHg" TargetMode="Externa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Wkt8CsZR8bY" TargetMode="Externa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6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t="22504" b="22504"/>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241A11">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880360"/>
            <a:ext cx="12191695" cy="3977639"/>
          </a:xfrm>
          <a:prstGeom prst="rect">
            <a:avLst/>
          </a:prstGeom>
          <a:solidFill>
            <a:srgbClr val="1A1109">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19" y="2011680"/>
            <a:ext cx="9997135" cy="3840480"/>
          </a:xfrm>
          <a:prstGeom prst="rect">
            <a:avLst/>
          </a:prstGeom>
          <a:noFill/>
        </p:spPr>
        <p:txBody>
          <a:bodyPr wrap="square" anchor="t" lIns="0" rIns="0" tIns="0" bIns="0">
            <a:noAutofit/>
          </a:bodyPr>
          <a:lstStyle/>
          <a:p>
            <a:pPr algn="l">
              <a:lnSpc>
                <a:spcPct val="115000"/>
              </a:lnSpc>
              <a:spcBef>
                <a:spcPts val="0"/>
              </a:spcBef>
              <a:spcAft>
                <a:spcPts val="1000"/>
              </a:spcAft>
            </a:pPr>
            <a:r>
              <a:rPr sz="1500" b="1">
                <a:solidFill>
                  <a:srgbClr val="F2D7A6"/>
                </a:solidFill>
                <a:latin typeface="Microsoft JhengHei"/>
                <a:ea typeface="Microsoft JhengHei"/>
                <a:cs typeface="Microsoft JhengHei"/>
              </a:rPr>
              <a:t>四百年來，企業與藝術如何彼此成就、共同締造傳奇</a:t>
            </a:r>
          </a:p>
          <a:p>
            <a:pPr algn="l">
              <a:lnSpc>
                <a:spcPct val="102000"/>
              </a:lnSpc>
              <a:spcBef>
                <a:spcPts val="0"/>
              </a:spcBef>
              <a:spcAft>
                <a:spcPts val="1200"/>
              </a:spcAft>
            </a:pPr>
            <a:r>
              <a:rPr sz="5000" b="1">
                <a:solidFill>
                  <a:srgbClr val="FFFFFF"/>
                </a:solidFill>
                <a:latin typeface="Microsoft JhengHei"/>
                <a:ea typeface="Microsoft JhengHei"/>
                <a:cs typeface="Microsoft JhengHei"/>
              </a:rPr>
              <a:t>音樂與企業：企業與藝術共同締造的四百年傳奇</a:t>
            </a:r>
          </a:p>
          <a:p>
            <a:pPr algn="l">
              <a:lnSpc>
                <a:spcPct val="120000"/>
              </a:lnSpc>
              <a:spcBef>
                <a:spcPts val="0"/>
              </a:spcBef>
              <a:spcAft>
                <a:spcPts val="500"/>
              </a:spcAft>
            </a:pPr>
            <a:r>
              <a:rPr sz="1700" b="0">
                <a:solidFill>
                  <a:srgbClr val="FBE6C2"/>
                </a:solidFill>
                <a:latin typeface="Microsoft JhengHei"/>
                <a:ea typeface="Microsoft JhengHei"/>
                <a:cs typeface="Microsoft JhengHei"/>
              </a:rPr>
              <a:t>你成就音樂，音樂也成就你</a:t>
            </a:r>
          </a:p>
          <a:p>
            <a:pPr algn="l">
              <a:lnSpc>
                <a:spcPct val="120000"/>
              </a:lnSpc>
              <a:spcBef>
                <a:spcPts val="0"/>
              </a:spcBef>
              <a:spcAft>
                <a:spcPts val="500"/>
              </a:spcAft>
            </a:pPr>
            <a:r>
              <a:rPr sz="1700" b="0">
                <a:solidFill>
                  <a:srgbClr val="EADFC8"/>
                </a:solidFill>
                <a:latin typeface="Microsoft JhengHei"/>
                <a:ea typeface="Microsoft JhengHei"/>
                <a:cs typeface="Microsoft JhengHei"/>
              </a:rPr>
              <a:t>此刻耳畔這曲《月光》，正是 Chanel No.5「史上最貴香水廣告」的音樂</a:t>
            </a:r>
          </a:p>
        </p:txBody>
      </p:sp>
      <p:sp>
        <p:nvSpPr>
          <p:cNvPr id="6" name="Rounded Rectangle 5"/>
          <p:cNvSpPr/>
          <p:nvPr/>
        </p:nvSpPr>
        <p:spPr>
          <a:xfrm>
            <a:off x="7162495" y="5166360"/>
            <a:ext cx="4480560" cy="1078992"/>
          </a:xfrm>
          <a:prstGeom prst="roundRect">
            <a:avLst>
              <a:gd name="adj" fmla="val 10000"/>
            </a:avLst>
          </a:prstGeom>
          <a:solidFill>
            <a:srgbClr val="3F2A1C"/>
          </a:solidFill>
          <a:ln w="12700">
            <a:solidFill>
              <a:srgbClr val="8A5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63663" y="5422392"/>
            <a:ext cx="566928" cy="566928"/>
          </a:xfrm>
          <a:prstGeom prst="ellipse">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63663" y="5404104"/>
            <a:ext cx="566928" cy="566928"/>
          </a:xfrm>
          <a:prstGeom prst="rect">
            <a:avLst/>
          </a:prstGeom>
          <a:noFill/>
        </p:spPr>
        <p:txBody>
          <a:bodyPr wrap="square" anchor="ctr" lIns="0" rIns="0" tIns="0" bIns="0">
            <a:noAutofit/>
          </a:bodyPr>
          <a:lstStyle/>
          <a:p>
            <a:pPr algn="ctr">
              <a:lnSpc>
                <a:spcPct val="115000"/>
              </a:lnSpc>
              <a:spcBef>
                <a:spcPts val="0"/>
              </a:spcBef>
              <a:spcAft>
                <a:spcPts val="600"/>
              </a:spcAft>
            </a:pPr>
            <a:r>
              <a:rPr sz="1600" b="1">
                <a:solidFill>
                  <a:srgbClr val="FFFFFF"/>
                </a:solidFill>
                <a:latin typeface="Microsoft JhengHei"/>
                <a:ea typeface="Microsoft JhengHei"/>
                <a:cs typeface="Microsoft JhengHei"/>
              </a:rPr>
              <a:t>▶</a:t>
            </a:r>
          </a:p>
        </p:txBody>
      </p:sp>
      <p:sp>
        <p:nvSpPr>
          <p:cNvPr id="9" name="TextBox 8"/>
          <p:cNvSpPr txBox="1"/>
          <p:nvPr/>
        </p:nvSpPr>
        <p:spPr>
          <a:xfrm>
            <a:off x="8131759" y="5276088"/>
            <a:ext cx="3282696" cy="859536"/>
          </a:xfrm>
          <a:prstGeom prst="rect">
            <a:avLst/>
          </a:prstGeom>
          <a:noFill/>
        </p:spPr>
        <p:txBody>
          <a:bodyPr wrap="square" anchor="ctr" lIns="0" rIns="0" tIns="0" bIns="0">
            <a:noAutofit/>
          </a:bodyPr>
          <a:lstStyle/>
          <a:p>
            <a:pPr algn="l">
              <a:lnSpc>
                <a:spcPct val="105000"/>
              </a:lnSpc>
              <a:spcBef>
                <a:spcPts val="0"/>
              </a:spcBef>
              <a:spcAft>
                <a:spcPts val="200"/>
              </a:spcAft>
            </a:pPr>
            <a:r>
              <a:rPr sz="1000" b="1">
                <a:solidFill>
                  <a:srgbClr val="AF8230"/>
                </a:solidFill>
                <a:latin typeface="Microsoft JhengHei"/>
                <a:ea typeface="Microsoft JhengHei"/>
                <a:cs typeface="Microsoft JhengHei"/>
              </a:rPr>
              <a:t>YouTube　</a:t>
            </a:r>
            <a:r>
              <a:rPr sz="1350" b="1">
                <a:solidFill>
                  <a:srgbClr val="F5EBD8"/>
                </a:solidFill>
                <a:latin typeface="Microsoft JhengHei"/>
                <a:ea typeface="Microsoft JhengHei"/>
                <a:cs typeface="Microsoft JhengHei"/>
              </a:rPr>
              <a:t>Chanel No.5《The Film》——Nicole Kidman（Ba…</a:t>
            </a:r>
          </a:p>
          <a:p>
            <a:pPr algn="l">
              <a:lnSpc>
                <a:spcPct val="100000"/>
              </a:lnSpc>
              <a:spcBef>
                <a:spcPts val="0"/>
              </a:spcBef>
              <a:spcAft>
                <a:spcPts val="200"/>
              </a:spcAft>
            </a:pPr>
            <a:r>
              <a:rPr sz="1050" b="0">
                <a:solidFill>
                  <a:srgbClr val="C9B492"/>
                </a:solidFill>
                <a:latin typeface="Microsoft JhengHei"/>
                <a:ea typeface="Microsoft JhengHei"/>
                <a:cs typeface="Microsoft JhengHei"/>
              </a:rPr>
              <a:t>入場播放，讓觀眾「看到」這段《月光》就是史上最貴的香水廣告（不只是單聽音樂）</a:t>
            </a:r>
          </a:p>
          <a:p>
            <a:pPr algn="l">
              <a:lnSpc>
                <a:spcPct val="100000"/>
              </a:lnSpc>
              <a:spcBef>
                <a:spcPts val="0"/>
              </a:spcBef>
              <a:spcAft>
                <a:spcPts val="600"/>
              </a:spcAft>
            </a:pPr>
            <a:r>
              <a:rPr sz="1000" b="0">
                <a:solidFill>
                  <a:srgbClr val="AF8230"/>
                </a:solidFill>
                <a:latin typeface="Microsoft JhengHei"/>
                <a:ea typeface="Microsoft JhengHei"/>
                <a:cs typeface="Microsoft JhengHei"/>
              </a:rPr>
              <a:t>https://www.youtube.com/watch?v=0hcaaKhGL00</a:t>
            </a:r>
          </a:p>
        </p:txBody>
      </p:sp>
      <p:sp>
        <p:nvSpPr>
          <p:cNvPr id="10" name="TextBox 9"/>
          <p:cNvSpPr txBox="1"/>
          <p:nvPr/>
        </p:nvSpPr>
        <p:spPr>
          <a:xfrm>
            <a:off x="731519" y="6126480"/>
            <a:ext cx="7315200" cy="365760"/>
          </a:xfrm>
          <a:prstGeom prst="rect">
            <a:avLst/>
          </a:prstGeom>
          <a:noFill/>
        </p:spPr>
        <p:txBody>
          <a:bodyPr wrap="square" anchor="t" lIns="0" rIns="0" tIns="0" bIns="0">
            <a:noAutofit/>
          </a:bodyPr>
          <a:lstStyle/>
          <a:p>
            <a:pPr algn="l">
              <a:lnSpc>
                <a:spcPct val="115000"/>
              </a:lnSpc>
              <a:spcBef>
                <a:spcPts val="0"/>
              </a:spcBef>
              <a:spcAft>
                <a:spcPts val="600"/>
              </a:spcAft>
            </a:pPr>
            <a:r>
              <a:rPr sz="1200" b="0">
                <a:solidFill>
                  <a:srgbClr val="E8D5B0"/>
                </a:solidFill>
                <a:latin typeface="Microsoft JhengHei"/>
                <a:ea typeface="Microsoft JhengHei"/>
                <a:cs typeface="Microsoft JhengHei"/>
              </a:rPr>
              <a:t>音樂與企業：從巴洛克到印象派</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開場提問：一首曲子，能成就多少？</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今天不談音符，只想陪各位思量一件事：一首曲子，能成就多少？</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一個家族、一座殿堂、一段四百年的傳奇——皆可自一首曲子說起</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各位這樣的經營者，與三百年前與音樂同行的銀行家、親王，走在同一條路上</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為什麼最頂尖的企業，都與藝術同行？</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四百年來，與藝術同行的企業，留下了什麼？</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最頂端的文化圈裡，始終有他們的身影</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歲月留下的，是品味、高度與恆久的敬重</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他們的名字，被寫進文化史，被人傳誦數百年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他們的品牌，帶著一份別人學不來的氣質</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他們的廳堂，成了風雅與盛事交會的所在</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歸根究柢：與藝術同行，本身就是一種高貴</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企業如何與藝術共融與共榮</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如下七種樣態——四百年來，企業與藝術彼此成就、共同締造的傳奇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一、企業與藝術締造的地位傳奇（梅迪奇）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二、藝術與企業締造的永恆影像（林布蘭《夜巡》——你們的公會）</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三、藝術與企業締造的不朽之名（貝多芬的知音、郭德堡、佛瑞、梵谷）</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四、企業締造的聖地與冠名（拜羅伊特、卡內基、三得利、迪士尼）</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五、企業以藝術締造人才與向心力（埃斯特哈齊與海頓）</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六、企業與國家以藝術締造正向的形象（拿破崙、威爾第、Chanel、英航、奇美）</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七、企業與藝術共同締造財富（Funiculì 與纜車公司）</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l="8175" r="8175"/>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第一樣態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企業與藝術締造的地位傳奇</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當財富遇見藝術——歷史記住的，不再只是財富，而是地位與分量</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巴洛克宮廷內景——金碧輝煌的廳堂，藝術與威儀在此相互輝映</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銀行世家的嚮往</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梅迪奇（Medici）＝文藝復興佛羅倫斯的「銀行王朝」：連教宗、國王都是座上客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十五世紀的佛羅倫斯：銀行、羊毛與全歐最繁盛的商路在此交會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而這個家族真心嚮往的，是美、是格調</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接下來，他們便以一生的慷慨，與藝術寫下一段共同的傳奇</a:t>
            </a:r>
          </a:p>
        </p:txBody>
      </p:sp>
      <p:sp>
        <p:nvSpPr>
          <p:cNvPr id="5" name="Rectangle 4"/>
          <p:cNvSpPr/>
          <p:nvPr/>
        </p:nvSpPr>
        <p:spPr>
          <a:xfrm>
            <a:off x="7754015" y="1728216"/>
            <a:ext cx="2947304"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giovanni-dibicci.jpg"/>
          <p:cNvPicPr>
            <a:picLocks noChangeAspect="1"/>
          </p:cNvPicPr>
          <p:nvPr/>
        </p:nvPicPr>
        <p:blipFill>
          <a:blip r:embed="rId2"/>
          <a:stretch>
            <a:fillRect/>
          </a:stretch>
        </p:blipFill>
        <p:spPr>
          <a:xfrm>
            <a:off x="7808879" y="1783080"/>
            <a:ext cx="2837576"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喬凡尼·迪·比奇·德·梅迪奇——梅迪奇銀行創辦人（Cristofano dell'Altissimo 繪，烏菲茲美術館）</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與大師彼此成就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他們把財富慷慨投入藝術：將十來歲的米開朗基羅接進家中悉心栽培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出資託付波提切利畫下《東方三博士的朝拜》，畫裡藏著一整排家族的面容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歷史為這個家族寫下的，遠比誰能想像的都輝煌：兩位羅馬教宗、實質統治佛羅倫斯</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一個銀行世家，從此與文藝復興的榮光相互輝映，成為左右歐洲的核心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請各位記住這個名字：今天最後，我會邀請各位，成為下一個梅迪奇</a:t>
            </a:r>
          </a:p>
        </p:txBody>
      </p:sp>
      <p:sp>
        <p:nvSpPr>
          <p:cNvPr id="5" name="Rectangle 4"/>
          <p:cNvSpPr/>
          <p:nvPr/>
        </p:nvSpPr>
        <p:spPr>
          <a:xfrm>
            <a:off x="6917063" y="1728216"/>
            <a:ext cx="4621208"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botticelli-adoration.jpg"/>
          <p:cNvPicPr>
            <a:picLocks noChangeAspect="1"/>
          </p:cNvPicPr>
          <p:nvPr/>
        </p:nvPicPr>
        <p:blipFill>
          <a:blip r:embed="rId2"/>
          <a:stretch>
            <a:fillRect/>
          </a:stretch>
        </p:blipFill>
        <p:spPr>
          <a:xfrm>
            <a:off x="6971927" y="1783080"/>
            <a:ext cx="4511480"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波提切利《東方三博士的朝拜》（約1475，烏菲茲美術館）——畫中人物多為梅迪奇家族成員</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兩位法國王后</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這段傳奇裡最動人的一章——家族的女兒，先後登上法國王后之位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凱瑟琳·德·梅迪奇（Catherine de' Medici）1533 年下嫁後來的法王亨利二世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六十餘年後，瑪麗·德·梅迪奇（Marie de' Medici）1600 年再嫁法王亨利四世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這位王后日後更為幼子攝政——藝術一路相伴，把家族的名字寫進最高的殿堂</a:t>
            </a:r>
          </a:p>
        </p:txBody>
      </p:sp>
      <p:sp>
        <p:nvSpPr>
          <p:cNvPr id="5" name="Rectangle 4"/>
          <p:cNvSpPr/>
          <p:nvPr/>
        </p:nvSpPr>
        <p:spPr>
          <a:xfrm>
            <a:off x="7747127" y="1728216"/>
            <a:ext cx="2961081"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catherine-clouet.jpg"/>
          <p:cNvPicPr>
            <a:picLocks noChangeAspect="1"/>
          </p:cNvPicPr>
          <p:nvPr/>
        </p:nvPicPr>
        <p:blipFill>
          <a:blip r:embed="rId2"/>
          <a:stretch>
            <a:fillRect/>
          </a:stretch>
        </p:blipFill>
        <p:spPr>
          <a:xfrm>
            <a:off x="7801991" y="1783080"/>
            <a:ext cx="2851353"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凱瑟琳·德·梅迪奇（法國王后），弗朗索瓦·克盧埃繪（Walters Art Museum）</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歌劇《尤麗狄切》</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瑪麗·德·梅迪奇 1600 年的婚禮，端出當時最新的藝術——後世稱之為「歌劇」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《尤麗狄切》（Euridice）由作曲家佩里（Jacopo Peri）譜曲並親自登台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於佛羅倫斯皮蒂宮首演，被視為現存最早的一部歌劇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一場全歐矚目的婚禮，把一門全新的藝術端上歷史舞台</a:t>
            </a:r>
          </a:p>
        </p:txBody>
      </p:sp>
      <p:sp>
        <p:nvSpPr>
          <p:cNvPr id="5" name="Rectangle 4"/>
          <p:cNvSpPr/>
          <p:nvPr/>
        </p:nvSpPr>
        <p:spPr>
          <a:xfrm>
            <a:off x="7795031" y="1728216"/>
            <a:ext cx="2865272"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pera-peri-arion.jpg"/>
          <p:cNvPicPr>
            <a:picLocks noChangeAspect="1"/>
          </p:cNvPicPr>
          <p:nvPr/>
        </p:nvPicPr>
        <p:blipFill>
          <a:blip r:embed="rId2"/>
          <a:stretch>
            <a:fillRect/>
          </a:stretch>
        </p:blipFill>
        <p:spPr>
          <a:xfrm>
            <a:off x="7849895" y="1783080"/>
            <a:ext cx="2755544"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雅各布·佩里（Jacopo Peri）飾阿里翁（1589，Buontalenti 設計）——《尤麗狄切》作曲家</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企業與藝術締造的地位傳奇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最風雅的相知之道</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藝術讓同好自然相聚——愛樂的雅士，因一場音樂會同處一堂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席間談的，是品味、格調，與心中共同珍惜的價值</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最深厚的緣分，往往在共同聆賞的樂音裡結下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這是四百年來最風雅的一種語言——不必言明，彼此自然相知</a:t>
            </a:r>
          </a:p>
        </p:txBody>
      </p:sp>
      <p:sp>
        <p:nvSpPr>
          <p:cNvPr id="5" name="Rectangle 4"/>
          <p:cNvSpPr/>
          <p:nvPr/>
        </p:nvSpPr>
        <p:spPr>
          <a:xfrm>
            <a:off x="7685371" y="1728216"/>
            <a:ext cx="3084591"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lorenzo-vasari.jpg"/>
          <p:cNvPicPr>
            <a:picLocks noChangeAspect="1"/>
          </p:cNvPicPr>
          <p:nvPr/>
        </p:nvPicPr>
        <p:blipFill>
          <a:blip r:embed="rId2"/>
          <a:stretch>
            <a:fillRect/>
          </a:stretch>
        </p:blipFill>
        <p:spPr>
          <a:xfrm>
            <a:off x="7740235" y="1783080"/>
            <a:ext cx="2974863"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羅倫佐·德·梅迪奇（「偉大的羅倫佐」），瓦薩里繪（烏菲茲美術館）——把梅迪奇宅邸經營成全歐最頂級沙龍</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rembrandt-selfportrait.jpg"/>
          <p:cNvPicPr>
            <a:picLocks noChangeAspect="1"/>
          </p:cNvPicPr>
          <p:nvPr/>
        </p:nvPicPr>
        <p:blipFill>
          <a:blip r:embed="rId2"/>
          <a:srcRect l="708" r="70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第二樣態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藝術與企業締造的永恆影像</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不必是梅迪奇——一群同儕與一位大師，也能共同留下一幅永恆的影像</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林布蘭·范·萊因 自畫像（Kenwood House）——下一張《夜巡》的作者</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藝術與企業締造的永恆影像</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林布蘭《夜巡》</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出資的不是國王、不是教會——是阿姆斯特丹一個「火槍手民兵公會」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16 位夥伴同心出資，平均每人約 100 盾（guilder，當時荷蘭的貨幣）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職分最重的人，站在光的中央——這份雅正，四百年不曾更改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四百年後，這 16 張臉仍懸於鎮館之寶上，每年幾百萬人專程來看</a:t>
            </a:r>
          </a:p>
        </p:txBody>
      </p:sp>
      <p:sp>
        <p:nvSpPr>
          <p:cNvPr id="5" name="Rectangle 4"/>
          <p:cNvSpPr/>
          <p:nvPr/>
        </p:nvSpPr>
        <p:spPr>
          <a:xfrm>
            <a:off x="6868656" y="1728216"/>
            <a:ext cx="4718023"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8167773994070041575.jpg"/>
          <p:cNvPicPr>
            <a:picLocks noChangeAspect="1"/>
          </p:cNvPicPr>
          <p:nvPr/>
        </p:nvPicPr>
        <p:blipFill>
          <a:blip r:embed="rId2"/>
          <a:stretch>
            <a:fillRect/>
          </a:stretch>
        </p:blipFill>
        <p:spPr>
          <a:xfrm>
            <a:off x="6923520" y="1783080"/>
            <a:ext cx="4608295"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林布蘭《夜巡》（1642），阿姆斯特丹國家博物館——16 位民兵合資委製的團體像</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藝術與企業締造的永恆影像</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這就是你們的公會</a:t>
            </a:r>
          </a:p>
        </p:txBody>
      </p:sp>
      <p:sp>
        <p:nvSpPr>
          <p:cNvPr id="4" name="TextBox 3"/>
          <p:cNvSpPr txBox="1"/>
          <p:nvPr/>
        </p:nvSpPr>
        <p:spPr>
          <a:xfrm>
            <a:off x="640080" y="1783080"/>
            <a:ext cx="9082735" cy="45262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火槍手民兵公會，本是一群志同道合的朋友——與今日的跨業交流會一脈相承</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一個人成全不了的美事，一群人齊心便能成全；榮光同沐</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不必獨自成為梅迪奇——邀上一群同好，便能共同締造一段傳奇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且想一想：倘若我們的公會，齊心成全一場音樂會、一件作品，會留下什麼迴響？</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第三樣態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藝術與企業締造的不朽之名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財富會用盡，一時的名聲會過去；唯有繫進傳世之作的名字，永遠與「不朽」同在</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貝多芬與三位知音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1809年維也納，三位知音聯手獻上終身年金，只盼一句：「請留在維也納」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金斯基（Kinsky）、洛布科維茨（Lobkowitz）、魯道夫大公（Archduke Rudolph）</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兩百年後世人談起《第九號交響曲》，便會談起當年成全它的三個名字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這不是施捨、也不是慈善，而是一份簽下長約、彼此託付的相知</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留給各位的一句話：真心的贊助，值得白紙黑字，也值得長長久久</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貝多芬《第九號交響曲》終樂章〈歡樂頌〉合唱精華——BBC Proms 2015（CBSO／Andr…</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主打聆聽②，一份成全孕育的兩百年迴響　｜　建議 00:00–04:16</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一紙終身之約</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1808年，拿破崙之弟開出年薪，欲延攬貝多芬前往卡塞爾</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維也納三位知音不忍天才遠行，1809年聯手立下一紙終身之約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年金4,000弗洛林：金斯基1,800、魯道夫大公1,500、洛布科維茨700</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魯道夫大公：《皇帝》協奏曲、《大公三重奏》、《莊嚴彌撒》皆題獻於他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洛布科維茨：《英雄》交響曲於其府邸首演並題獻——名字隨傑作傳世</a:t>
            </a:r>
          </a:p>
        </p:txBody>
      </p:sp>
      <p:sp>
        <p:nvSpPr>
          <p:cNvPr id="5" name="Rectangle 4"/>
          <p:cNvSpPr/>
          <p:nvPr/>
        </p:nvSpPr>
        <p:spPr>
          <a:xfrm>
            <a:off x="7760508" y="1728216"/>
            <a:ext cx="293431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eethoven-archduke-rudolph.jpg"/>
          <p:cNvPicPr>
            <a:picLocks noChangeAspect="1"/>
          </p:cNvPicPr>
          <p:nvPr/>
        </p:nvPicPr>
        <p:blipFill>
          <a:blip r:embed="rId2"/>
          <a:stretch>
            <a:fillRect/>
          </a:stretch>
        </p:blipFill>
        <p:spPr>
          <a:xfrm>
            <a:off x="7815372" y="1783080"/>
            <a:ext cx="282459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魯道夫大公（Archduke Rudolph，Lampi 繪）——貝多芬唯一的作曲學生兼最大的藝術贊助者，《皇帝》《大公》《莊嚴彌撒》都題獻給他</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兩百年的迴響</a:t>
            </a:r>
          </a:p>
        </p:txBody>
      </p:sp>
      <p:sp>
        <p:nvSpPr>
          <p:cNvPr id="4" name="TextBox 3"/>
          <p:cNvSpPr txBox="1"/>
          <p:nvPr/>
        </p:nvSpPr>
        <p:spPr>
          <a:xfrm>
            <a:off x="640080" y="1783080"/>
            <a:ext cx="9082735" cy="45262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〈歡樂頌〉（Ode to Joy），1985年成為歐盟盟歌——唱進整個歐洲的心裡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在日本，歲末幾萬人齊唱「第九」，已是溫暖的全民儀式</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大阪「萬人第九」，至今仍由企業冠名相伴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三位知音兩百年前的那份心意，時至今日，仍年年替他們的名字迴響</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你留下的不是一時的掌聲，而是一個世紀、乃至兩個世紀的迴響</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《郭德堡變奏曲》</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俄國公使凱瑟林克伯爵（Count Keyserlingk），長年為失眠所苦</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相傳他託巴赫寫一組安撫長夜的鍵盤曲——為一個人的需要，量身而寫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曲成之後，兩百多年來世人親暱喚它「郭德堡」——伯爵身邊樂師之名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當年只在伯爵寢室裡響起的私人訂製，今晚為各位而奏</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一份私人的託付，留下三百年的相伴——今日主打聆聽①</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巴赫《郭德堡變奏曲》開頭詠嘆調（Aria）——Netherlands Bach Society（A…</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主打聆聽①，「為領導者靜心而生的音樂」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郭德堡其人</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出資的是凱瑟林克伯爵——俄國駐薩克森公使；相傳託巴赫寫安眠之曲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作品卻以「郭德堡」為名——伯爵府中約十四歲的年輕鍵盤手、巴赫的學生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出資的伯爵未曾留名；他身邊的樂師，因這部作品被世界記了兩百多年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（委託故事出自福克爾1802年巴赫傳、屬「相傳」；首版扉頁並無題獻）</a:t>
            </a:r>
          </a:p>
        </p:txBody>
      </p:sp>
      <p:sp>
        <p:nvSpPr>
          <p:cNvPr id="5" name="Rectangle 4"/>
          <p:cNvSpPr/>
          <p:nvPr/>
        </p:nvSpPr>
        <p:spPr>
          <a:xfrm>
            <a:off x="7677873" y="1728216"/>
            <a:ext cx="3099587"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ldberg-keyserlingk.jpg"/>
          <p:cNvPicPr>
            <a:picLocks noChangeAspect="1"/>
          </p:cNvPicPr>
          <p:nvPr/>
        </p:nvPicPr>
        <p:blipFill>
          <a:blip r:embed="rId2"/>
          <a:stretch>
            <a:fillRect/>
          </a:stretch>
        </p:blipFill>
        <p:spPr>
          <a:xfrm>
            <a:off x="7732737" y="1783080"/>
            <a:ext cx="2989859"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凱瑟林克伯爵（Count Keyserlingk，1753 Hagelgans 繪）——出資委託的藝術贊助者，名字反而沒留在曲名上</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凱瑟林伯爵的知遇</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凱瑟林克伯爵給巴赫的，不只是一紙委託——更是一份長長的知遇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1736年，因伯爵從中斡旋，巴赫獲頒王室「宮廷作曲家」（Hofcompositeur）名銜</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一紙王室名銜，讓巴赫的名字自此更添鄭重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頂級知音最珍貴的，往往不是那筆財富，而是願意為你敞開的每一扇門</a:t>
            </a:r>
          </a:p>
        </p:txBody>
      </p:sp>
      <p:sp>
        <p:nvSpPr>
          <p:cNvPr id="5" name="Rectangle 4"/>
          <p:cNvSpPr/>
          <p:nvPr/>
        </p:nvSpPr>
        <p:spPr>
          <a:xfrm>
            <a:off x="7865745" y="1728216"/>
            <a:ext cx="2723844"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ldberg-title-page.jpg"/>
          <p:cNvPicPr>
            <a:picLocks noChangeAspect="1"/>
          </p:cNvPicPr>
          <p:nvPr/>
        </p:nvPicPr>
        <p:blipFill>
          <a:blip r:embed="rId2"/>
          <a:stretch>
            <a:fillRect/>
          </a:stretch>
        </p:blipFill>
        <p:spPr>
          <a:xfrm>
            <a:off x="7920609" y="1783080"/>
            <a:ext cx="2614116"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《郭德堡變奏曲》1741 年初版扉頁——一段知遇，留給世界一部傳世之作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葛雷夫勒女伯爵</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佛瑞尚在困頓之時，葛雷夫勒女伯爵（Comtesse Greffulhe）向他敞開大門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她牽著佛瑞走進巴黎最高的社交圈，請他出任自家沙龍的音樂總監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夫家為法國最富有的銀行世家之一；她以品味與眼光成為巴黎社交圈的「女王」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佛瑞感念稱她「我的巴伐利亞國王」——那位傾心供養華格納的君主</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她的溫暖遍及各處：引華格納入法國、贊助俄羅斯芭蕾、資助居禮夫人</a:t>
            </a:r>
          </a:p>
        </p:txBody>
      </p:sp>
      <p:sp>
        <p:nvSpPr>
          <p:cNvPr id="5" name="Rectangle 4"/>
          <p:cNvSpPr/>
          <p:nvPr/>
        </p:nvSpPr>
        <p:spPr>
          <a:xfrm>
            <a:off x="8085975" y="1728216"/>
            <a:ext cx="2283383"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reffulhe-portrait.jpg"/>
          <p:cNvPicPr>
            <a:picLocks noChangeAspect="1"/>
          </p:cNvPicPr>
          <p:nvPr/>
        </p:nvPicPr>
        <p:blipFill>
          <a:blip r:embed="rId2"/>
          <a:stretch>
            <a:fillRect/>
          </a:stretch>
        </p:blipFill>
        <p:spPr>
          <a:xfrm>
            <a:off x="8140839" y="1783080"/>
            <a:ext cx="2173655"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葛雷夫勒女伯爵（Comtesse Greffulhe，Otto Wegener 1899 攝）——巴黎沙龍「女王」，普魯斯特筆下蓋爾芒特公爵夫人的原型</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佛瑞《帕凡舞曲》</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葛雷夫勒女伯爵（Comtesse Greffulhe）把尚未成名的佛瑞（Fauré）引進沙龍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佛瑞最美的《帕凡舞曲》（Pavane），正為她的沙龍而寫、題獻於她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她敞開了門、給了舞台；作品與普魯斯特的小說，讓她永遠被記得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出資的人，因藝術，被世界溫柔地記住——名字與樂曲同傳</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佛瑞《帕凡舞曲 Pavane, Op.50》——法國國家管弦樂團（Orchestre Nation…</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贊助者不朽段，沙龍優雅意象　｜　建議 00:00–02:00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普魯斯特筆下的不朽</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佛瑞以《帕凡》題獻於她；普魯斯特再以一整部小說，將她封存</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她成了《追憶似水年華》裡的「蓋爾芒特公爵夫人」——文學史的經典</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1891年湖上夜宴，她親手為《帕凡》添上「看不見的合唱團」與舞者</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知音，也能是共同的創作者</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被題獻、被小說封存的名字，永遠奪不走——因藝術而不朽</a:t>
            </a:r>
          </a:p>
        </p:txBody>
      </p:sp>
      <p:sp>
        <p:nvSpPr>
          <p:cNvPr id="5" name="Rectangle 4"/>
          <p:cNvSpPr/>
          <p:nvPr/>
        </p:nvSpPr>
        <p:spPr>
          <a:xfrm>
            <a:off x="7666913" y="1728216"/>
            <a:ext cx="312150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oust-portrait.jpg"/>
          <p:cNvPicPr>
            <a:picLocks noChangeAspect="1"/>
          </p:cNvPicPr>
          <p:nvPr/>
        </p:nvPicPr>
        <p:blipFill>
          <a:blip r:embed="rId2"/>
          <a:stretch>
            <a:fillRect/>
          </a:stretch>
        </p:blipFill>
        <p:spPr>
          <a:xfrm>
            <a:off x="7721777" y="1783080"/>
            <a:ext cx="301178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馬塞爾·普魯斯特（Otto Wegener 約1895 攝）——以葛雷夫勒女伯爵為原型，寫出《追憶似水年華》的蓋爾芒特公爵夫人</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梵谷與西奧</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梵谷（Van Gogh）生前幾乎賣不出一幅畫，撐住他的，是弟弟西奧（Theo）</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一位巴黎畫商，自1882年起月月匯款，默默守著哥哥</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西奧說：「我把給他的，看作他以工作掙得的」——不是施捨，是敬重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一個人長年不張揚的守候，成就了一位定義時代的大師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知音未必是豪門——梅迪奇，也可以只是一個深信家人的尋常人</a:t>
            </a:r>
          </a:p>
        </p:txBody>
      </p:sp>
      <p:sp>
        <p:nvSpPr>
          <p:cNvPr id="5" name="Rectangle 4"/>
          <p:cNvSpPr/>
          <p:nvPr/>
        </p:nvSpPr>
        <p:spPr>
          <a:xfrm>
            <a:off x="6848856" y="1762338"/>
            <a:ext cx="4757623" cy="3790522"/>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4214148154051902210.jpg"/>
          <p:cNvPicPr>
            <a:picLocks noChangeAspect="1"/>
          </p:cNvPicPr>
          <p:nvPr/>
        </p:nvPicPr>
        <p:blipFill>
          <a:blip r:embed="rId2"/>
          <a:stretch>
            <a:fillRect/>
          </a:stretch>
        </p:blipFill>
        <p:spPr>
          <a:xfrm>
            <a:off x="6903720" y="1817202"/>
            <a:ext cx="4647895" cy="3680794"/>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梵谷《星夜》（1889），紐約現代藝術博物館——弟弟西奧十年如一日的守候所孕育的傑作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第四樣態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企業締造的聖地與冠名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出資築一座殿堂，把名字，輕輕刻進一座城市的天際線</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拜羅伊特音樂節</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1864 年，巴伐利亞國王路德維希二世（Ludwig II）與華格納（Wagner）相知</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出資自建拜羅伊特節慶劇院（Bayreuth Festspielhaus）：連隱藏式的下沉樂池，都為作品量身而設</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1876 首屆音樂節，全歐洲名流一同朝聖——把一座無名小鎮，化作樂迷心中的「麥加」</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一位國王與一位作曲家，共同築起一座傳世的聖地（對應提案第 3 點）</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華格納〈女武神的騎行 Ride of the Valkyries〉——Metropolitan O…</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一座「聖地」蓋出來的震撼力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卡內基音樂廳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1891 年，紐約卡內基音樂廳（Carnegie Hall）落成，出資的是鋼鐵大王卡內基（Andrew Carnegie）</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開幕那一夜，登台的是大作曲家柴可夫斯基——氣派傳誦至今</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百餘年後，「卡內基」三字，已等同全世界音樂家最嚮往的頂級殿堂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一位企業家的名字，與一座殿堂、與每一個登台的夜晚同在</a:t>
            </a:r>
          </a:p>
        </p:txBody>
      </p:sp>
      <p:pic>
        <p:nvPicPr>
          <p:cNvPr id="5" name="Picture 4" descr="q8iTTRG-h3w.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柴可夫斯基《慶典加冕進行曲（Marche Solennelle）》——The Orchestra …</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冠名場館段，一座殿堂的開幕之聲</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三得利音樂廳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1986 年，日本三得利（Suntory）——一家釀威士忌的企業——在東京築起三得利音樂廳</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指揮大師卡拉揚（Herbert von Karajan）親口譽為「音之寶石盒」</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自此，「三得利」三個字，既是一杯佳釀，也是滿室世界一流的樂音</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這正是亞洲企業版的卡內基：一座殿堂，與一個名字彼此輝映</a:t>
            </a:r>
          </a:p>
        </p:txBody>
      </p:sp>
      <p:sp>
        <p:nvSpPr>
          <p:cNvPr id="5" name="Rectangle 4"/>
          <p:cNvSpPr/>
          <p:nvPr/>
        </p:nvSpPr>
        <p:spPr>
          <a:xfrm>
            <a:off x="6848856" y="2053824"/>
            <a:ext cx="4757623" cy="320755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untory-hall.jpg"/>
          <p:cNvPicPr>
            <a:picLocks noChangeAspect="1"/>
          </p:cNvPicPr>
          <p:nvPr/>
        </p:nvPicPr>
        <p:blipFill>
          <a:blip r:embed="rId2"/>
          <a:stretch>
            <a:fillRect/>
          </a:stretch>
        </p:blipFill>
        <p:spPr>
          <a:xfrm>
            <a:off x="6903720" y="2108688"/>
            <a:ext cx="4647895" cy="3097822"/>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東京三得利音樂廳——卡拉揚譽為「音之寶石盒」（攝影：Wikimedia Commons，CC BY-SA）</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迪士尼音樂廳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洛杉磯迪士尼音樂廳（Walt Disney Concert Hall，2003）：迪士尼遺孀莉莉安（Lillian Disney）1987 年捐 5,000 萬美元起建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由建築大師蓋瑞（Frank Gehry）設計，成了洛杉磯的城市地標與觀光名片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這份「冠名」的雅意，一路傳到今日各大藝文中心與球場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共通之處：一份捐贈，成就一座城市地標；名字鐫進天際線與文化史</a:t>
            </a:r>
          </a:p>
        </p:txBody>
      </p:sp>
      <p:sp>
        <p:nvSpPr>
          <p:cNvPr id="5" name="Rectangle 4"/>
          <p:cNvSpPr/>
          <p:nvPr/>
        </p:nvSpPr>
        <p:spPr>
          <a:xfrm>
            <a:off x="6848856" y="2483755"/>
            <a:ext cx="4757623" cy="2347689"/>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isney-concert-hall.jpg"/>
          <p:cNvPicPr>
            <a:picLocks noChangeAspect="1"/>
          </p:cNvPicPr>
          <p:nvPr/>
        </p:nvPicPr>
        <p:blipFill>
          <a:blip r:embed="rId2"/>
          <a:stretch>
            <a:fillRect/>
          </a:stretch>
        </p:blipFill>
        <p:spPr>
          <a:xfrm>
            <a:off x="6903720" y="2538619"/>
            <a:ext cx="4647895" cy="2237961"/>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洛杉磯華特迪士尼音樂廳（蓋瑞設計，2003）——一份捐贈，成就一座城市地標（攝影 J.J. Harrison，CC BY-SA）</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esterhaza-haydn.jpg"/>
          <p:cNvPicPr>
            <a:picLocks noChangeAspect="1"/>
          </p:cNvPicPr>
          <p:nvPr/>
        </p:nvPicPr>
        <p:blipFill>
          <a:blip r:embed="rId2"/>
          <a:srcRect t="1628" b="162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第五樣態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企業以藝術締造人才與向心力</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長年養一支團隊、築一座舞台——人才在此滋養，闔府上下同心，與有榮焉</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埃斯特哈薩宮（「匈牙利的凡爾賽」）——親王自建的私人文化基地</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企業以藝術締造人才與向心力</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埃斯特哈齊與海頓</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埃斯特哈齊（Esterházy）親王築起「匈牙利的凡爾賽」，歌劇院、音樂廳一應俱全</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海頓（Joseph Haydn）在府三十年：人才在此滋養，樂音在此日日生長</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親王偏愛冷門的巴里頓琴（baryton），府裡為它誕生了上百首曲子</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「埃斯特哈齊」這個姓氏，兩百多年後我們仍在傳誦（對應提案第 1 點）</a:t>
            </a:r>
          </a:p>
        </p:txBody>
      </p:sp>
      <p:sp>
        <p:nvSpPr>
          <p:cNvPr id="5" name="Rectangle 4"/>
          <p:cNvSpPr/>
          <p:nvPr/>
        </p:nvSpPr>
        <p:spPr>
          <a:xfrm>
            <a:off x="7689797" y="1728216"/>
            <a:ext cx="3075740"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aydn-portrait.jpg"/>
          <p:cNvPicPr>
            <a:picLocks noChangeAspect="1"/>
          </p:cNvPicPr>
          <p:nvPr/>
        </p:nvPicPr>
        <p:blipFill>
          <a:blip r:embed="rId2"/>
          <a:stretch>
            <a:fillRect/>
          </a:stretch>
        </p:blipFill>
        <p:spPr>
          <a:xfrm>
            <a:off x="7744661" y="1783080"/>
            <a:ext cx="2966012"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約瑟夫·海頓——埃斯特哈齊親王的宮廷樂長，替家族量身寫了一輩子的曲子</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第六樣態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企業與國家以藝術締造正向的形象</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音樂能為國家與企業寫下難以複製的氣質——國力、風華，與令人親近的形象</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《拿破崙加冕》</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1804 年，拿破崙（Napoléon）委託大衛（Jacques-Louis David）繪下加冕大典</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大典入畫自有講究：缺席的母親安置進最尊貴的包廂；教皇改為「舉手祝福」</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潤筆以十萬法郎為譜、據載付六萬五——最高規格的國家委託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一場大典由大師畫下，永遠懸於羅浮宮——一個帝國被記住的模樣，從此有了畫面</a:t>
            </a:r>
          </a:p>
        </p:txBody>
      </p:sp>
      <p:sp>
        <p:nvSpPr>
          <p:cNvPr id="5" name="Rectangle 4"/>
          <p:cNvSpPr/>
          <p:nvPr/>
        </p:nvSpPr>
        <p:spPr>
          <a:xfrm>
            <a:off x="6848856" y="2141190"/>
            <a:ext cx="4757623" cy="303281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5766194664561263854.jpg"/>
          <p:cNvPicPr>
            <a:picLocks noChangeAspect="1"/>
          </p:cNvPicPr>
          <p:nvPr/>
        </p:nvPicPr>
        <p:blipFill>
          <a:blip r:embed="rId2"/>
          <a:stretch>
            <a:fillRect/>
          </a:stretch>
        </p:blipFill>
        <p:spPr>
          <a:xfrm>
            <a:off x="6903720" y="2196054"/>
            <a:ext cx="4647895" cy="2923090"/>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大衛《拿破崙加冕》（1805–1807），羅浮宮——最高規格的國家委託、傳世之作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《自由引導人民》</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1830 年七月革命之後，法國政府以 3,000 法郎購藏德拉克洛瓦（Delacroix）的《自由引導人民》</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它訴說的情感太過熾烈，一度被收起；直到 1874 年才正式走進羅浮宮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1978–1995 年印上法國 100 法郎紙鈔——化作全國人日日握在掌心的國家記憶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政府購藏了這幅畫，讓它從此屬於整個國家——一份全民共同的認同</a:t>
            </a:r>
          </a:p>
        </p:txBody>
      </p:sp>
      <p:sp>
        <p:nvSpPr>
          <p:cNvPr id="5" name="Rectangle 4"/>
          <p:cNvSpPr/>
          <p:nvPr/>
        </p:nvSpPr>
        <p:spPr>
          <a:xfrm>
            <a:off x="6848856" y="1738131"/>
            <a:ext cx="4757623" cy="3838937"/>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8119723338739219582.jpg"/>
          <p:cNvPicPr>
            <a:picLocks noChangeAspect="1"/>
          </p:cNvPicPr>
          <p:nvPr/>
        </p:nvPicPr>
        <p:blipFill>
          <a:blip r:embed="rId2"/>
          <a:stretch>
            <a:fillRect/>
          </a:stretch>
        </p:blipFill>
        <p:spPr>
          <a:xfrm>
            <a:off x="6903720" y="1792995"/>
            <a:ext cx="4647895" cy="372920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德拉克洛瓦《自由引導人民》（1830），羅浮宮——曾印上法國百元紙鈔的國家識別</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威爾第與義大利</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十九世紀的義大利四分五裂、國勢衰微；威爾第（Verdi）的歌劇，讓全民因音樂而重新振奮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斯卡拉歌劇院經理梅雷利（Merelli），把別人退回的腳本，塞回威爾第手裡</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《那布果 Nabucco》裡的〈Va, pensiero〉（希伯來奴隸大合唱），成了統一運動（Risorgimento）的非官方國歌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民眾在街頭高喊「Viva VERDI」——表面是「威爾第萬歲」，底下卻藏著「義大利國王萬歲」的心願</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一段旋律，便把一個尚未統一的國家，凝聚成了一顆心——這就是音樂的國力</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威爾第〈Va, pensiero〉——皇家歌劇院合唱團（Royal Opera Chorus，倫敦…</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國力段代表曲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普契尼的詠嘆調</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普契尼（Puccini）的《蝴蝶夫人》，讓日本長崎的哥拉巴園成了「蝴蝶夫人之家」，一年近 200 萬訪客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《托斯卡》把羅馬的地標寫進劇情——樂迷心中，從此多了非去不可的朝聖之地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一段詠嘆調，成了世人想親近義大利的理由——音樂寫下的氣質，長久迎迓遠客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這對各位的品牌同樣成立：與一段音樂真心相知，風雅便與品牌之名同在</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普契尼《蝴蝶夫人》〈美好的一日 Un bel dì, vedremo〉——Maria Callas…</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國家形象段代表曲，《蝴蝶夫人》最動人的詠嘆調——正是替長崎寫下的那張觀光名片</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德布西與 Chanel</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提起法國便想到浪漫——這份印象，多半是德布西（Debussy）一筆一筆寫成的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《月光》《海》《牧神的午後》，把法式浪漫化作舉世嚮往的氣質</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Chanel No.5《The Film》（2004，Baz Luhrmann 執導、Nicole Kidman 主演）以《月光》作配樂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造價約 3,300 萬美元的「史上最貴香水廣告」——法國的浪漫，由音樂替品牌說出</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Buniatishvili（也是 Ch…</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國家/品牌形象段，聽德布西替法國寫下的「浪漫名片」，也是 Chanel 借去的那股高雅　｜　建議 00:00–02…</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英航與〈花之二重唱〉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多少頂級品牌，都與一段古典旋律長情同行——格調與身分，於旋律中相生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英國航空（British Airways）1989 年那支經典廣告《Face》，用的是德利伯（Léo Delibes）歌劇《拉克美》裡的〈花之二重唱〉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一段詠嘆調，陪伴一家航空公司三十五年——2019 年百週年，仍以它重新編曲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這樣的相知俯拾皆是：Stella Artois 選威爾第、De Beers 選 Jenkins、飛雅特選羅西尼</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英國航空〈花之二重唱〉廣告（British Airways Flower Duet, Delibe…</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企業品牌段，聽這段被英航珍惜了 35 年的旋律，感受古典樂與品牌互相輝映</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許文龍與奇美</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奇美（Chimei）的許文龍做的是石化、電子——而他心中，始終住著音樂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他收藏了世上數量最多的名琴，建起奇美博物館——滿室溫潤的藝術氣息</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這是台灣自己的梅迪奇：不必身在歐洲、不必出身貴族，台灣的企業家一樣做得到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而這個最貼近你我的示範——就在台南</a:t>
            </a:r>
          </a:p>
        </p:txBody>
      </p:sp>
      <p:pic>
        <p:nvPicPr>
          <p:cNvPr id="5" name="Picture 4" descr="plEnfABwsS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奇美博物館「製琴聖殿·名琴競演」提琴音樂饗宴——奇美博物館官方（已驗證；若有馬友友專屬影片可替換）</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企業品牌段，台灣本地「梅迪奇」用名琴的實證</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名琴的旅行</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奇美最動人的一著：將史特拉底瓦里（Stradivari）等稀世名琴，無償借予頂尖音樂家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從曾宇謙到馬友友（Yo-Yo Ma）——名家執起的那把琴，弦上繫著「奇美」之名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名琴不鎖在櫃裡，而是在一代代演奏家手中旅行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琴因演奏而歌唱，人因名琴而發光——企業與藝術互相成就，最雋永的一種</a:t>
            </a:r>
          </a:p>
        </p:txBody>
      </p:sp>
      <p:sp>
        <p:nvSpPr>
          <p:cNvPr id="5" name="Rectangle 4"/>
          <p:cNvSpPr/>
          <p:nvPr/>
        </p:nvSpPr>
        <p:spPr>
          <a:xfrm>
            <a:off x="8502662" y="1728216"/>
            <a:ext cx="145000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radivari-violin.jpg"/>
          <p:cNvPicPr>
            <a:picLocks noChangeAspect="1"/>
          </p:cNvPicPr>
          <p:nvPr/>
        </p:nvPicPr>
        <p:blipFill>
          <a:blip r:embed="rId2"/>
          <a:stretch>
            <a:fillRect/>
          </a:stretch>
        </p:blipFill>
        <p:spPr>
          <a:xfrm>
            <a:off x="8557526" y="1783080"/>
            <a:ext cx="134028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史特拉底瓦里名琴（示意）——奇美收藏逾 1,370 把提琴，免費借給頂尖演奏家</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台灣的知音企業</a:t>
            </a:r>
          </a:p>
        </p:txBody>
      </p:sp>
      <p:sp>
        <p:nvSpPr>
          <p:cNvPr id="4" name="TextBox 3"/>
          <p:cNvSpPr txBox="1"/>
          <p:nvPr/>
        </p:nvSpPr>
        <p:spPr>
          <a:xfrm>
            <a:off x="640080" y="1783080"/>
            <a:ext cx="9082735" cy="45262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台灣早有一批知音企業，與藝術默默同行——奇美，只是其中最耀眼的一位</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台積電文教基金會長年扶植藝文與音樂教育；富邦藝術基金會（1997 成立）深耕藝術推廣</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國泰金控贊助雲門舞集免費戶外公演，行之近 30 年，累積逾 265 萬人次入場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台灣的知音們正在成就這一切——這從不是遙遠的舊事，各位也同樣做得到</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第七樣態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企業與藝術共同締造財富</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前六樣，關乎榮光與聲名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最後這個故事——藝術與企業一起，實實在在創造了財富</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企業與藝術共同締造財富</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《Funiculì, Funiculà》</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1880 年，維蘇威火山纜車通車——人人畏火山，不敢乘坐</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一家纜車公司與一位作曲家，共同寫下一首讓全世界跟著唱的歌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丹薩（Denza）譜曲：《Funiculì, Funiculà》——「纜車上山、纜車下山」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被譽為「史上最早的廣告歌」之一——與纜車同年誕生、同名同行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一首歌，把人心裡的「畏」，輕輕化作了「嚮往」</a:t>
            </a:r>
          </a:p>
        </p:txBody>
      </p:sp>
      <p:sp>
        <p:nvSpPr>
          <p:cNvPr id="5" name="Rectangle 4"/>
          <p:cNvSpPr/>
          <p:nvPr/>
        </p:nvSpPr>
        <p:spPr>
          <a:xfrm>
            <a:off x="6848856" y="1799352"/>
            <a:ext cx="4757623" cy="3716494"/>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jpg"/>
          <p:cNvPicPr>
            <a:picLocks noChangeAspect="1"/>
          </p:cNvPicPr>
          <p:nvPr/>
        </p:nvPicPr>
        <p:blipFill>
          <a:blip r:embed="rId2"/>
          <a:stretch>
            <a:fillRect/>
          </a:stretch>
        </p:blipFill>
        <p:spPr>
          <a:xfrm>
            <a:off x="6903720" y="1854216"/>
            <a:ext cx="4647895" cy="3606766"/>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1880 年通車的維蘇威火山纜車（歷史照片）——一首委創之歌的舞台</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企業與藝術共同締造財富</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一首歌，把客人唱上山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樂譜一年賣破百萬份，歌聲傳遍全歐洲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「去拿坡里乘纜車」，成了整個歐洲的旅遊嚮往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1888 年，湯瑪斯·庫克（Thomas Cook）將纜車編入國際行程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歌聲響起，客人便一年一年上了山：真真切切的客人，真真切切的收穫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人潮一年勝過一年，源頭正是那一首歌</a:t>
            </a:r>
          </a:p>
        </p:txBody>
      </p:sp>
      <p:sp>
        <p:nvSpPr>
          <p:cNvPr id="5" name="Rectangle 4"/>
          <p:cNvSpPr/>
          <p:nvPr/>
        </p:nvSpPr>
        <p:spPr>
          <a:xfrm>
            <a:off x="6848856" y="1850589"/>
            <a:ext cx="4757623" cy="361402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cook-era.jpg"/>
          <p:cNvPicPr>
            <a:picLocks noChangeAspect="1"/>
          </p:cNvPicPr>
          <p:nvPr/>
        </p:nvPicPr>
        <p:blipFill>
          <a:blip r:embed="rId2"/>
          <a:stretch>
            <a:fillRect/>
          </a:stretch>
        </p:blipFill>
        <p:spPr>
          <a:xfrm>
            <a:off x="6903720" y="1905453"/>
            <a:ext cx="4647895" cy="3504292"/>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湯瑪斯·庫克時代的維蘇威纜車——一首歌把整個歐洲的旅客唱上山</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企業與藝術共同締造財富</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百年傳唱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1906 年火山大噴發、盡數摧毀；1909 年，纜車重建復駛</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1911 年山崩再停；1912 年，它又通車了</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1944 年，維蘇威再度噴發，纜車終究走入歷史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纜車會老、鐵軌會鏽，歌聲不會——這首歌，唱過了一百四十年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一件用心成就的作品，能陪一家企業，跨越一個又一個世紀</a:t>
            </a:r>
          </a:p>
        </p:txBody>
      </p:sp>
      <p:sp>
        <p:nvSpPr>
          <p:cNvPr id="5" name="Rectangle 4"/>
          <p:cNvSpPr/>
          <p:nvPr/>
        </p:nvSpPr>
        <p:spPr>
          <a:xfrm>
            <a:off x="7065367" y="1728216"/>
            <a:ext cx="432459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5541533521288834475.jpg"/>
          <p:cNvPicPr>
            <a:picLocks noChangeAspect="1"/>
          </p:cNvPicPr>
          <p:nvPr/>
        </p:nvPicPr>
        <p:blipFill>
          <a:blip r:embed="rId2"/>
          <a:stretch>
            <a:fillRect/>
          </a:stretch>
        </p:blipFill>
        <p:spPr>
          <a:xfrm>
            <a:off x="7120231" y="1783080"/>
            <a:ext cx="421487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1906 年維蘇威火山大噴發——硬體全毀，那首 1880 年的歌卻傳唱至今</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共融與共榮：企業與藝術相互成就的四個面向</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聲望的輝映 ← 一如卡內基與拜羅伊特：名字鐫入文化史，聖地令人遠道朝聖</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知音的相聚 ← 一如英國航空與奇美：以樂會友，與最珍惜你的貴賓彼此相知</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人才的滋養 ← 一如埃斯特哈齊：近三十年的長情相伴，養成一位交響曲之父</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實實在在的共創 ← 一如普契尼與纜車：歌劇之鄉的人潮、纜車的百年運量</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企業家最適合聽的音樂</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郭德堡變奏曲：規律而清澈——伏案沉思、獨自靜心時的良伴（今日主打①）</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貝多芬〈歡樂頌〉：凝聚人心——尾牙、開工、誓師時最堂皇的一曲（主打②）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Funiculì, Funiculà：輕快順口——同歡同樂、炒熱全場（今日壓軸帶動唱）</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德布西《月光》：沉靜——獨處、待客之時，最溫柔的一縷背景音</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以樂相佐場合，是行家最自然、也最風雅的一份講究</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給企業的五點提案（一）</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如埃斯特哈齊：以長年安穩的守候相伴，再以一座場館，予他安心創作的家</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如佛瑞的女伯爵：遇見一位對的藝術家，便誠心相伴，陪他走到被世人看見的那一天</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給企業的五點提案（二）</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如拜羅伊特、如卡內基：把場館與音樂節經營成朝聖之地，名字留在其上</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如那家纜車公司：委託一支真正屬於你的作品，讓它與你的名字一同傳唱百年</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給企業的五點提案（三）</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如梅迪奇，亦如《夜巡》那群同心的商賈：一人獨力、眾人同心，皆可入列</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帶三個字回家：對等、可持續、共融——這是所有提案真正的靈魂</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不是施捨，是並肩；不是一時煙火，是長情；不是高踞，是彼此靠近</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640080" y="603504"/>
            <a:ext cx="68580" cy="54864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822960"/>
          </a:xfrm>
          <a:prstGeom prst="rect">
            <a:avLst/>
          </a:prstGeom>
          <a:noFill/>
        </p:spPr>
        <p:txBody>
          <a:bodyPr wrap="square" anchor="t" lIns="0" rIns="0" tIns="0" bIns="0">
            <a:noAutofit/>
          </a:bodyPr>
          <a:lstStyle/>
          <a:p>
            <a:pPr algn="l">
              <a:lnSpc>
                <a:spcPct val="115000"/>
              </a:lnSpc>
              <a:spcBef>
                <a:spcPts val="0"/>
              </a:spcBef>
              <a:spcAft>
                <a:spcPts val="400"/>
              </a:spcAft>
            </a:pPr>
            <a:r>
              <a:rPr sz="1250" b="1">
                <a:solidFill>
                  <a:srgbClr val="F2D7A6"/>
                </a:solidFill>
                <a:latin typeface="Microsoft JhengHei"/>
                <a:ea typeface="Microsoft JhengHei"/>
                <a:cs typeface="Microsoft JhengHei"/>
              </a:rPr>
              <a:t>樂譜 · SCORE</a:t>
            </a:r>
          </a:p>
          <a:p>
            <a:pPr algn="l">
              <a:lnSpc>
                <a:spcPct val="105000"/>
              </a:lnSpc>
              <a:spcBef>
                <a:spcPts val="0"/>
              </a:spcBef>
              <a:spcAft>
                <a:spcPts val="600"/>
              </a:spcAft>
            </a:pPr>
            <a:r>
              <a:rPr sz="2600" b="1">
                <a:solidFill>
                  <a:srgbClr val="FFFFFF"/>
                </a:solidFill>
                <a:latin typeface="Microsoft JhengHei"/>
                <a:ea typeface="Microsoft JhengHei"/>
                <a:cs typeface="Microsoft JhengHei"/>
              </a:rPr>
              <a:t>當代委創：今天，輪到你與藝術家共創</a:t>
            </a:r>
          </a:p>
        </p:txBody>
      </p:sp>
      <p:sp>
        <p:nvSpPr>
          <p:cNvPr id="4" name="Rounded Rectangle 3"/>
          <p:cNvSpPr/>
          <p:nvPr/>
        </p:nvSpPr>
        <p:spPr>
          <a:xfrm>
            <a:off x="640080" y="1828800"/>
            <a:ext cx="10911535" cy="4023360"/>
          </a:xfrm>
          <a:prstGeom prst="roundRect">
            <a:avLst>
              <a:gd name="adj" fmla="val 2000"/>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ore-modern-placeholder.png"/>
          <p:cNvPicPr>
            <a:picLocks noChangeAspect="1"/>
          </p:cNvPicPr>
          <p:nvPr/>
        </p:nvPicPr>
        <p:blipFill>
          <a:blip r:embed="rId2"/>
          <a:stretch>
            <a:fillRect/>
          </a:stretch>
        </p:blipFill>
        <p:spPr>
          <a:xfrm>
            <a:off x="3560662" y="2057400"/>
            <a:ext cx="5070369" cy="3566160"/>
          </a:xfrm>
          <a:prstGeom prst="rect">
            <a:avLst/>
          </a:prstGeom>
        </p:spPr>
      </p:pic>
      <p:sp>
        <p:nvSpPr>
          <p:cNvPr id="6" name="TextBox 5"/>
          <p:cNvSpPr txBox="1"/>
          <p:nvPr/>
        </p:nvSpPr>
        <p:spPr>
          <a:xfrm>
            <a:off x="731519" y="6016752"/>
            <a:ext cx="10728655" cy="640080"/>
          </a:xfrm>
          <a:prstGeom prst="rect">
            <a:avLst/>
          </a:prstGeom>
          <a:noFill/>
        </p:spPr>
        <p:txBody>
          <a:bodyPr wrap="square" anchor="t" lIns="0" rIns="0" tIns="0" bIns="0">
            <a:noAutofit/>
          </a:bodyPr>
          <a:lstStyle/>
          <a:p>
            <a:pPr algn="l">
              <a:lnSpc>
                <a:spcPct val="120000"/>
              </a:lnSpc>
              <a:spcBef>
                <a:spcPts val="0"/>
              </a:spcBef>
              <a:spcAft>
                <a:spcPts val="600"/>
              </a:spcAft>
            </a:pPr>
            <a:r>
              <a:rPr sz="1300" b="0">
                <a:solidFill>
                  <a:srgbClr val="E8DCC0"/>
                </a:solidFill>
                <a:latin typeface="Microsoft JhengHei"/>
                <a:ea typeface="Microsoft JhengHei"/>
                <a:cs typeface="Microsoft JhengHei"/>
              </a:rPr>
              <a:t>從梅迪奇到今日的你：與這個時代的作曲家，共同孕育一部屬於你們的新作　｜　一部新作誕生，你的名字便輕輕寫進未來的文化史</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重點回顧：企業與藝術共同締造的七種樣態</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一、企業與藝術締造的地位傳奇（梅迪奇）／二、藝術與企業締造的永恆影像（夜巡）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三、藝術與企業締造的不朽之名（貝多芬三知音·郭德堡·佛瑞·西奧）</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四、企業締造的聖地與冠名（卡內基）／五、企業以藝術締造人才與向心力（海頓）</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六、企業與國家以藝術締造正向的形象（威爾第·普契尼·奇美）</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七、企業與藝術共同締造財富（纜車）——你成就音樂，音樂也成就你</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03504"/>
            <a:ext cx="68580" cy="4572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640080"/>
          </a:xfrm>
          <a:prstGeom prst="rect">
            <a:avLst/>
          </a:prstGeom>
          <a:noFill/>
        </p:spPr>
        <p:txBody>
          <a:bodyPr wrap="square" anchor="t" lIns="0" rIns="0" tIns="0" bIns="0">
            <a:noAutofit/>
          </a:bodyPr>
          <a:lstStyle/>
          <a:p>
            <a:pPr algn="l">
              <a:lnSpc>
                <a:spcPct val="105000"/>
              </a:lnSpc>
              <a:spcBef>
                <a:spcPts val="0"/>
              </a:spcBef>
              <a:spcAft>
                <a:spcPts val="600"/>
              </a:spcAft>
            </a:pPr>
            <a:r>
              <a:rPr sz="2500" b="1">
                <a:solidFill>
                  <a:srgbClr val="2B2016"/>
                </a:solidFill>
                <a:latin typeface="Microsoft JhengHei"/>
                <a:ea typeface="Microsoft JhengHei"/>
                <a:cs typeface="Microsoft JhengHei"/>
              </a:rPr>
              <a:t>行動呼籲：成為下一個梅迪奇</a:t>
            </a:r>
          </a:p>
        </p:txBody>
      </p:sp>
      <p:sp>
        <p:nvSpPr>
          <p:cNvPr id="4" name="TextBox 3"/>
          <p:cNvSpPr txBox="1"/>
          <p:nvPr/>
        </p:nvSpPr>
        <p:spPr>
          <a:xfrm>
            <a:off x="877824" y="1078992"/>
            <a:ext cx="9082735" cy="310896"/>
          </a:xfrm>
          <a:prstGeom prst="rect">
            <a:avLst/>
          </a:prstGeom>
          <a:noFill/>
        </p:spPr>
        <p:txBody>
          <a:bodyPr wrap="square" anchor="t" lIns="0" rIns="0" tIns="0" bIns="0">
            <a:noAutofit/>
          </a:bodyPr>
          <a:lstStyle/>
          <a:p>
            <a:pPr algn="l">
              <a:lnSpc>
                <a:spcPct val="115000"/>
              </a:lnSpc>
              <a:spcBef>
                <a:spcPts val="0"/>
              </a:spcBef>
              <a:spcAft>
                <a:spcPts val="600"/>
              </a:spcAft>
            </a:pPr>
            <a:r>
              <a:rPr sz="1350" b="0">
                <a:solidFill>
                  <a:srgbClr val="6E5A40"/>
                </a:solidFill>
                <a:latin typeface="Microsoft JhengHei"/>
                <a:ea typeface="Microsoft JhengHei"/>
                <a:cs typeface="Microsoft JhengHei"/>
              </a:rPr>
              <a:t>你不必是國王，也不必是鋼鐵大王——梅迪奇可以是一個人，也可以是一群同心的商賈</a:t>
            </a:r>
          </a:p>
        </p:txBody>
      </p:sp>
      <p:pic>
        <p:nvPicPr>
          <p:cNvPr id="5" name="Picture 4" descr="medici-cosimo-pontormo.jpg"/>
          <p:cNvPicPr>
            <a:picLocks noChangeAspect="1"/>
          </p:cNvPicPr>
          <p:nvPr/>
        </p:nvPicPr>
        <p:blipFill>
          <a:blip r:embed="rId2"/>
          <a:stretch>
            <a:fillRect/>
          </a:stretch>
        </p:blipFill>
        <p:spPr>
          <a:xfrm>
            <a:off x="4536384" y="1444752"/>
            <a:ext cx="3118926" cy="4206240"/>
          </a:xfrm>
          <a:prstGeom prst="rect">
            <a:avLst/>
          </a:prstGeom>
          <a:effectLst>
            <a:outerShdw blurRad="114300" dist="63500" dir="5400000" rotWithShape="0">
              <a:srgbClr val="2A1C10">
                <a:alpha val="34000"/>
              </a:srgbClr>
            </a:outerShdw>
          </a:effectLst>
        </p:spPr>
      </p:pic>
      <p:sp>
        <p:nvSpPr>
          <p:cNvPr id="6" name="TextBox 5"/>
          <p:cNvSpPr txBox="1"/>
          <p:nvPr/>
        </p:nvSpPr>
        <p:spPr>
          <a:xfrm>
            <a:off x="640080" y="5696712"/>
            <a:ext cx="1091153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老柯西莫·德·梅迪奇（Pontormo 繪）——第一位「梅迪奇」；下一個，可以是你</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全場帶動唱：Funiculì, Funiculà</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此刻，輪到各位親自傳唱——一同唱起那家纜車公司一百四十年前的廣告歌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跟我唱副歌：「Jamme, jamme, 'ncoppa jamme jà!」——中文就唱：「揚眉 揚眉 揚眉吐氣吧」</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「Funiculì, funiculà!」——中文就唱：「福臨庫裡 福進庫啦」</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唱法：講師領唱一次 → 全場跟唱兩次 → 第三次加上拍手。不必唱準，唱得開心便好</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（伴唱／示範）Pavarotti《Funiculì, Funiculà》——官方音源（Offici…</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壓軸帶動唱伴唱底、講師領唱示範</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jianpu-slide-1.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jianpu-slide-2.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jianpu-slide-3.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jianpu-slide-4.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Q&amp;A 與延伸聆聽</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歡迎聊聊：你最像哪一位藝術贊助者——梅迪奇、拜羅伊特，或《夜巡》公會？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帶回家細聽：郭德堡變奏曲、歡樂頌、Funiculì、帕凡舞曲、Va pensiero、月光</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值得走一趟：卡內基音樂廳、拜羅伊特節慶劇院、三得利音樂廳、奇美博物館</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Buniatishvili（散場墊樂）</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Q&amp;A 與散場時輕放，呼應開場　｜　建議 00:00–05:00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3610261645011310675.jpg"/>
          <p:cNvPicPr>
            <a:picLocks noChangeAspect="1"/>
          </p:cNvPicPr>
          <p:nvPr/>
        </p:nvPicPr>
        <p:blipFill>
          <a:blip r:embed="rId2"/>
          <a:srcRect t="3" b="3"/>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1A1109">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19" y="2286000"/>
            <a:ext cx="10180015" cy="2743200"/>
          </a:xfrm>
          <a:prstGeom prst="rect">
            <a:avLst/>
          </a:prstGeom>
          <a:noFill/>
        </p:spPr>
        <p:txBody>
          <a:bodyPr wrap="square" anchor="ctr" lIns="0" rIns="0" tIns="0" bIns="0">
            <a:noAutofit/>
          </a:bodyPr>
          <a:lstStyle/>
          <a:p>
            <a:pPr algn="l">
              <a:lnSpc>
                <a:spcPct val="105000"/>
              </a:lnSpc>
              <a:spcBef>
                <a:spcPts val="0"/>
              </a:spcBef>
              <a:spcAft>
                <a:spcPts val="1400"/>
              </a:spcAft>
            </a:pPr>
            <a:r>
              <a:rPr sz="4400" b="1">
                <a:solidFill>
                  <a:srgbClr val="FFFFFF"/>
                </a:solidFill>
                <a:latin typeface="Microsoft JhengHei"/>
                <a:ea typeface="Microsoft JhengHei"/>
                <a:cs typeface="Microsoft JhengHei"/>
              </a:rPr>
              <a:t>謝謝：願你與音樂，彼此成就</a:t>
            </a:r>
          </a:p>
          <a:p>
            <a:pPr algn="l">
              <a:lnSpc>
                <a:spcPct val="125000"/>
              </a:lnSpc>
              <a:spcBef>
                <a:spcPts val="0"/>
              </a:spcBef>
              <a:spcAft>
                <a:spcPts val="600"/>
              </a:spcAft>
            </a:pPr>
            <a:r>
              <a:rPr sz="1700" b="0">
                <a:solidFill>
                  <a:srgbClr val="FBE6C2"/>
                </a:solidFill>
                <a:latin typeface="Microsoft JhengHei"/>
                <a:ea typeface="Microsoft JhengHei"/>
                <a:cs typeface="Microsoft JhengHei"/>
              </a:rPr>
              <a:t>從梅迪奇到你——你成就音樂，音樂也成就你</a:t>
            </a:r>
          </a:p>
          <a:p>
            <a:pPr algn="l">
              <a:lnSpc>
                <a:spcPct val="125000"/>
              </a:lnSpc>
              <a:spcBef>
                <a:spcPts val="0"/>
              </a:spcBef>
              <a:spcAft>
                <a:spcPts val="600"/>
              </a:spcAft>
            </a:pPr>
            <a:r>
              <a:rPr sz="1700" b="0">
                <a:solidFill>
                  <a:srgbClr val="FBE6C2"/>
                </a:solidFill>
                <a:latin typeface="Microsoft JhengHei"/>
                <a:ea typeface="Microsoft JhengHei"/>
                <a:cs typeface="Microsoft JhengHei"/>
              </a:rPr>
              <a:t>願美與各位的事業，彼此成就、共榮共好</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謝謝各位的聆聽｜講師資訊與聯絡方式</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