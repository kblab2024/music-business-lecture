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1｜音樂與企業：音樂如何塑造國力、國家形象與企業品牌</a:t>
            </a:r>
          </a:p>
          <a:p/>
          <a:p>
            <a:r>
              <a:t>【講稿】（停留約 90 秒）各位來賓午安，歡迎來到「音樂與企業：從巴洛克到印象派」。接下來的兩個小時，我不打算教各位看懂任何一個音符——我要說的，是一個關於「錢、權力與美」如何互相成就的四百年故事。請各位先放鬆，聽著正在流動的這首德布西《月光》（Clair de Lune），它寫於十九世紀末，但今天它能在這個空間響起，背後牽動的是出版、樂器、唱片、場館四個產業。我想先丟一個問題給各位：你覺得，一首流傳三百年的曲子，當年值多少錢？答案可能會讓做品牌的你會心一笑——因為我接下來要證明的是：音樂，能塑造一個國家的國力與形象，也能塑造一家企業的品牌——這正是坐在這裡的你，最該投資的東西。</a:t>
            </a:r>
          </a:p>
          <a:p>
            <a:r>
              <a:t>【講義補充】 - 本場五站結構：巴洛克、古典、浪漫、印象派、現代橋接。- 全程約 2 小時；全場帶動唱《Funiculì, Funiculà》（見投影片 27、28）；主打聆聽：巴赫《郭德堡變奏曲》（投影片 10）＋貝多芬〈歡樂頌〉（投影片 17）；《月光》為鋼琴名演，作暖場／散場墊樂；其餘代表曲改播 YouTube 名演。- 核心命題：橋是雙向的。</a:t>
            </a:r>
          </a:p>
          <a:p>
            <a:r>
              <a:t>【影片操作】 入場時輕放《月光》當墊樂，音量壓低。播前：「讓我們先讓耳朵安靜下來。」播後（淡出）：「記住這份安靜，待會兒我們會回來找它。」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2｜開場提問：一首曲子，能值多少？</a:t>
            </a:r>
          </a:p>
          <a:p/>
          <a:p>
            <a:r>
              <a:t>【講稿】（停留約 45 秒）讓我把問題講得更直白一點。今天我們不談旋律好不好聽，我們談的是三件事：誰付錢、為什麼付、回報是什麼。如果你是品牌經理、是行銷主管、是老闆，那麼恭喜你——你正在做的事，和三百年前佛羅倫斯一位銀行家的管家、維也納一位親王的樂長，本質上一模一樣。差別只在於，他們把預算花在管風琴和歌劇上，而你花在代言和內容上。</a:t>
            </a:r>
          </a:p>
          <a:p>
            <a:r>
              <a:t>【講義補充】 - 本場的視角：把音樂史當成一部「贊助商業模式演化史」來讀。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3｜核心命題：音樂塑造國力、國家形象與企業品牌</a:t>
            </a:r>
          </a:p>
          <a:p/>
          <a:p>
            <a:r>
              <a:t>【講稿】（停留約 75 秒）這是今天唯一一句請各位帶走的話：橋是雙向的。先看「音樂通往企業」這個方向——音樂催生了一整排今天我們習以為常的產業：樂譜出版業、樂器工業（尤其是鋼琴）、唱片業、場館經濟，還有最有趣的——品牌。那些炫技的演奏家，就是人類最早的「名人 IP」（IP＝智慧財產）。再看反方向，「企業通往音樂」——企業做了什麼？贊助、委託創作、出資蓋場館、發明版稅模式、把行銷和藝術家綁在一起。所以結論我先講在前面：贊助這件事，從來沒有消失過，它只是換了形式。今天的「企業贊助」，就是昨天的「宮廷供養」。</a:t>
            </a:r>
          </a:p>
          <a:p>
            <a:r>
              <a:t>【講義補充】 - 藝術→企業的回報：社會聲望、文化高度、品牌差異化、不朽之名、頂級人脈與客群。 - 企業的投入相對微小：贊助／委創／場館／版稅／行銷綁定。 - 定調：買藝術，買的始終是「不朽」。 - 📖 名詞解釋｜IP（Intellectual Property，智慧財產）：受專利、商標、著作權保護的心智創作；行銷語境指可反覆授權變現的內容資產，音樂作品即典型著作權 IP。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4｜為什麼最頂尖的企業，都贊助藝術？</a:t>
            </a:r>
          </a:p>
          <a:p/>
          <a:p>
            <a:r>
              <a:t>【講稿】（停留約 70 秒）走進四百年的歷史之前，先把今天最重要的一句話放在最前面：最頂尖的企業，為什麼都贊助藝術？因為有些東西是錢買不到的，只有藝術買得到。第一，社會聲望——藝術讓你擠進金字塔頂端的文化俱樂部，與菁英、政要同框。第二，文化資本——它把財富升級成品味與高度，贏得真正的尊重。第三，不朽之名——你的名字會被刻進文化史，傳誦數百年。還有品牌差異化、頂級人脈，以及最高級的 ESG（環境、社會、治理）與內部凝聚。記住：贊助藝術從來不是慈善，而是金字塔頂端最高級的聲望投資。接下來四百年的每一個故事，都會再次證明這件事。</a:t>
            </a:r>
          </a:p>
          <a:p>
            <a:r>
              <a:t>【講義補充】 - 六大回報：社會聲望、文化資本、不朽之名、品牌差異化、影響力與人脈、認同與凝聚。 - 核心定調：贊助藝術＝金字塔頂端最高級的聲望投資，不是慈善。 - 本張為全場定調，後續每一站都回扣「企業拿回什麼」。 - 📖 名詞解釋｜ESG（環境 Environmental、社會 Social、公司治理 Governance）：企業永續的三大評估面向，因 2004 年聯合國報告《Who Cares Wins》而普及；贊助音樂藝術常被視為「S」的具體展現。 - 📖 名詞解釋｜文化資本（cultural capital）：社會學家布迪厄（Pierre Bourdieu）提出，指品味、教養、學歷等可如資本累積並轉換成經濟優勢；企業贊助音樂正是把財富升級成品味。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5｜四百年時間軸（七個改變遊戲規則的時刻）</a:t>
            </a:r>
          </a:p>
          <a:p/>
          <a:p>
            <a:r>
              <a:t>【講稿】（停留約 100 秒）我們先鳥瞰四百年，挑七個真正改變遊戲規則的時刻。1501 年，佩特魯奇（Ottaviano Petrucci）在威尼斯用活字印譜——音樂第一次能「量產複製」，這是內容產業的起點。1600 年，歌劇在佛羅倫斯誕生，金主是梅迪奇（Medici）家族，這是人類最早的文化創投。1742 年，韓德爾（Handel）的《彌賽亞》（Messiah）在都柏林售票首演——售票經濟成形。1853 年，史坦威（Steinway &amp; Sons）在紐約創立，樂器走向工業與品牌。1877 年，愛迪生（Edison）發明留聲機——音樂第一次可以儲存、可以販售。1901 年，Victor 公司建立藝人版稅，藝術家開始分潤。1914 年，ASCAP 成立，版稅制度化，公開演出開始收費。七個時刻，七次商業模式的躍遷。</a:t>
            </a:r>
          </a:p>
          <a:p>
            <a:r>
              <a:t>【講義補充】 - 1501 活字印譜（威尼斯）／1600 歌劇（佛羅倫斯，梅迪奇）／1742《彌賽亞》售票首演／1853 史坦威／1877 留聲機／1901 Victor 版稅／1914 ASCAP。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6｜第一站：巴洛克——受僱的音樂家</a:t>
            </a:r>
          </a:p>
          <a:p/>
          <a:p>
            <a:r>
              <a:t>【講稿】（停留約 45 秒）第一站，巴洛克，大約從 1600 到 1750 年，我們用巴赫（J.S. Bach）辭世作為這個時代的象徵句點。這個時代的商業模式很單純：教會和宮廷出錢，作曲家是領薪水的員工。聽起來不自由？但它有三個關鍵字，恰恰是今天企業最該學的：穩定、訂閱、私人 R&amp;D。</a:t>
            </a:r>
          </a:p>
          <a:p>
            <a:r>
              <a:t>【講義補充】 - 巴洛克約 1600–1750，以巴赫辭世為象徵句點。- 受僱的音樂家＝教會與宮廷出資。 - 📖 名詞解釋｜R&amp;D（research and development，研發）：企業為開發新品或改良產品的創新活動；海頓自承因能在艾斯特哈齊樂團反覆實驗，才「不得不變得原創」。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7｜同代美術：林布蘭《夜巡》——民兵集資的團體肖像</a:t>
            </a:r>
          </a:p>
          <a:p/>
          <a:p>
            <a:r>
              <a:t>【講稿】（停留約 70 秒）進巴洛克站之前，先看同時代的美術，證明「贊助經濟」不是音樂的專利。這幅是林布蘭（Rembrandt van Rijn）的《夜巡》，1642 年。付錢的不是國王，也不是教會，是阿姆斯特丹的火槍手民兵隊——由隊長班寧・柯克（Frans Banninck Cocq）帶頭，畫中 16 位民兵集資委託，平均每人出大約 100 盾；而且有 1658 年民兵自己的聲明為證：出資多寡，決定你在畫面上站得多顯眼。各位看，這不就是今天的贊助版位嗎——誰出錢多，誰的 logo 大。同一個時代，巴赫在教會領薪水、韋瓦第在孤兒院教琴：畫家與音樂家，領的是同一套贊助經濟的錢。順帶一提，這幅畫其實畫的是白天——表面凡尼斯年久變黑，十八世紀末被誤會成夜景，「夜巡」這個名字就將錯就錯到今天。</a:t>
            </a:r>
          </a:p>
          <a:p>
            <a:r>
              <a:t>【講義補充】 - 現藏阿姆斯特丹國家博物館（Rijksmuseum），鎮館之寶。 - 1642 年完成；委託方＝班寧・柯克（Frans Banninck Cocq）率領的阿姆斯特丹火槍手民兵連（Kloveniers），為會館大廳委製的團體肖像。 - 16 名民兵平均每人出資約 100 盾、依畫面顯眼程度分攤（1658 年畫中民兵正式聲明）。 - 「夜巡」是後起暱稱：原為日景，凡尼斯變黑被誤為夜景；1715 年移入市政廳時畫布還遭裁切——甲方場地直接改變作品。 - 畫作至今屬阿姆斯特丹市所有，1885 年起陳列於國家博物館（Rijksmuseum）。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8｜梅迪奇與歌劇：銀行家發明的文化創投</a:t>
            </a:r>
          </a:p>
          <a:p/>
          <a:p>
            <a:r>
              <a:t>【講稿】（停留約 90 秒）故事從一群文化人開始。佛羅倫斯有個沙龍叫卡梅拉塔（Florentine Camerata），他們想復興古希臘戲劇，結果意外發明了歌劇。1598 年，佩里（Jacopo Peri）和劇作家里努奇尼（Rinuccini）合作的《達芙妮》（Dafne），是目前最早倖存的歌劇。兩年後的 1600 年，《尤麗狄切》（Euridice）上演，場合是什麼？是瑪麗·德·梅迪奇（Marie de'Medici）嫁給法王亨利四世的政治聯姻大典。演出者裡，還有一位受僱的女作曲家兼歌者卡契尼（Francesca Caccini）。各位看出來了嗎？歌劇從第一天起，就是銀行家政治權力的「品牌延伸」——用最頂級的藝術，包裝一場聯姻、宣告一個家族的地位。這就是人類最早的文化創投。</a:t>
            </a:r>
          </a:p>
          <a:p>
            <a:r>
              <a:t>【講義補充】 - 卡梅拉塔＝佛羅倫斯文化沙龍。- 1598《達芙妮》最早倖存歌劇；1600《尤麗狄切》為梅迪奇政治聯姻上演。- 卡契尼（Francesca Caccini）受僱女作曲家兼歌者。 - 1637 年威尼斯聖卡西亞諾劇院（Teatro San Cassiano）開幕，是史上第一座售票公共歌劇院；五層 153 個包廂賣票，歌劇從宮廷獨享變成票房產業。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9｜韋瓦第 × 巴赫：兩種「受僱者」的生意經</a:t>
            </a:r>
          </a:p>
          <a:p/>
          <a:p>
            <a:r>
              <a:t>【講稿】（停留約 100 秒）同樣是受僱者，韋瓦第和巴赫做出了兩種不同的生意。韋瓦第（Antonio Vivaldi）1703 年起，在威尼斯一所叫皮耶塔（Ospedale della Pietà）的孤兒院當小提琴師，為一支全女子樂團寫了將近 37 年的曲子。他最有名的《四季》（The Four Seasons，1725 年，作品 8），獻給了莫爾欽（Morzin）伯爵——這個「獻曲」，就是古典版的冠名贊助，我把作品掛上你的名字，你給我支持。另一邊，巴赫（J.S. Bach）1723 年起在萊比錫的聖多馬教堂（Thomaskirche）當樂長，一當就是 27 年，領固定薪水、每週供應一首新曲——這根本就是最早的「訂閱制」宗教音樂：教會每週付月費，巴赫每週交付新內容。我們現在來聽聽《四季》裡的〈春〉，感受一下「冠名贊助」換來的成果有多燦爛。</a:t>
            </a:r>
          </a:p>
          <a:p>
            <a:r>
              <a:t>【講義補充】 - 韋瓦第 1703 起任皮耶塔孤兒院小提琴師，為全女子樂團寫近 37 年；《四季》1725 Op.8 獻莫爾欽伯爵。- 巴赫 1723 起任聖多馬教堂樂長 27 年，每週供新曲＝訂閱制。</a:t>
            </a:r>
          </a:p>
          <a:p>
            <a:r>
              <a:t>【影片操作】 播韋瓦第《四季·春》第一樂章約 3 分鐘。播前：「聽聽看，伯爵的錢買到了什麼樣的春天。」播後：「鳥鳴、溪流、雷雨——這就是三百年前的冠名內容行銷。」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10｜郭德堡變奏曲：一筆私人委託，換一夜好眠</a:t>
            </a:r>
          </a:p>
          <a:p/>
          <a:p>
            <a:r>
              <a:t>【講稿】（停留約 100 秒）在「機構僱用」之外，巴洛克還有另一種商業模式：私人委託。最有名的案例，就是巴赫的《郭德堡變奏曲》（Goldberg Variations）。根據巴赫第一位傳記作者福克爾（Forkel）1802 年的記載——請注意，這是一段傳說，細節未必可考——俄國駐薩克森的公使凱瑟林克伯爵（Count Keyserlingk）長年失眠，委託巴赫寫一組性格溫柔而愉快的鍵盤曲，讓隨行的年輕大鍵琴家哥德堡（Johann Gottlieb Goldberg）在隔壁房間夜夜彈給他聽。相傳伯爵回贈了一只裝滿金幣的金杯。各位聽出重點了嗎？第一，這是極致的客製化內容——為一位客戶的一個需求量身打造。第二，付錢的人買到了什麼？名字。曲子是巴赫寫的，但兩百多年來全世界叫它「郭德堡」——委託方身邊的人，名字被寫進了音樂史。還沒完：1955 年，加拿大鋼琴家顧爾德（Glenn Gould）用這部作品錄下傳奇的出道專輯，一張兩百年前的「私人訂單」，變成了二十世紀的暢銷唱片——這條線，講到留聲機那一站時我們會再接回來。現在請聽開頭的詠嘆調（Aria），今天的主打聆聽第一首。</a:t>
            </a:r>
          </a:p>
          <a:p>
            <a:r>
              <a:t>【講義補充】 - 《郭德堡變奏曲》BWV 988，1741 出版（《鍵盤練習》第四集），Aria＋30 段變奏。 - 失眠委託故事出自福克爾（Forkel）1802 傳記，屬傳說性質（學界存疑：首版無題獻、哥德堡時年僅約 14）；凱瑟林克伯爵／樂師哥德堡。 - 金杯報酬（100 枚金路易，僅見於福克爾記載）。 - 1955 Glenn Gould 錄音（1956 Columbia 發行）＝出道專輯、長銷經典。 - 商業視角：私人委託＝客製內容；委託周邊的名字因作品不朽。 - 📖 名詞解釋｜詠嘆調（Aria，義大利文原意「空氣」）：歌劇、神劇中的獨唱抒情曲；《郭德堡變奏曲》借此為開頭主題命名，30 段變奏後於結尾再現。 - 📖 名詞解釋｜大鍵琴（harpsichord）：以撥弦發聲的鍵盤樂器，觸鍵輕重不改變音量，為巴洛克時代鍵盤主力；《郭德堡變奏曲》即為雙層鍵盤大鍵琴而作。 - 📖 名詞解釋｜金路易（louis d'or）：法國舊制金幣，1640 年路易十三始鑄，行用至法國大革命；巴赫獲贈百枚的酬勞故事出自福克爾 1802 年傳記，屬傳說。</a:t>
            </a:r>
          </a:p>
          <a:p>
            <a:r>
              <a:t>【影片操作】 播《郭德堡變奏曲》Aria 約 3 分鐘。播前：「想像你就是那位失眠的伯爵——這是專屬於你的深夜服務。」播後：「一筆私人委託，買到三百年的流傳。這是今天第一首主打聆聽。」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11｜埃斯特哈齊 × 海頓：私人 R&amp;D 養出交響曲</a:t>
            </a:r>
          </a:p>
          <a:p/>
          <a:p>
            <a:r>
              <a:t>【講稿】（停留約 90 秒）如果說韋瓦第和巴赫是「員工」，那海頓（Joseph Haydn）就是被一家公司長期養起來的「首席研發長」。1761 年起，他受僱於埃斯特哈齊（Esterházy）親王尼可勞斯（Nikolaus），一待就是大約 30 年。親王的莊園埃斯特哈薩（Esterháza），被稱為「匈牙利的凡爾賽」，裡面有歌劇院、木偶劇場、音樂廳——這根本是一座私人的音樂研發中心。親王自己愛玩一種冷門樂器叫巴里頓琴（baryton），海頓二話不說，為它寫了 168 首三重奏，這就是極致的客製化研發。正因為環境穩定、預算到位，海頓才能不慌不忙地把「交響曲」這個曲種一步步養成熟。這，就是我們待會兒要講的企業提案第 1 點的原型：長期穩定資助，加上一座養創新的場館。</a:t>
            </a:r>
          </a:p>
          <a:p>
            <a:r>
              <a:t>【講義補充】 - 海頓 1761 起受僱埃斯特哈齊親王約 30 年。- 埃斯特哈薩＝匈牙利的凡爾賽。- 巴里頓琴 168 首三重奏。- 對應企業提案第 1 點。 - 海頓 1761 年合約原件傳世：演出須著制服撲髮粉，每天早午到親王前廳候命；作品歸親王所有，未經准許不得為他人作曲。1779 年改約後才能自由出版。 - 📖 名詞解釋｜巴里頓琴（baryton）：附可撥彈共鳴金屬弦的維奧爾（viol）族低音弓弦樂器；正因是親王的愛器，海頓寫下大量三重奏——雇主品味催生創作。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12｜韓德爾：第一位「音樂創業家」</a:t>
            </a:r>
          </a:p>
          <a:p/>
          <a:p>
            <a:r>
              <a:t>【講稿】（停留約 100 秒）如果海頓是被養的研發長，那韓德爾（George Frideric Handel）就是自己開公司的創業家——我會說他是史上第一位「音樂創業家」。1710 年他移居倫敦，開始一套讓現代創業者都點頭的多元收入：他有安妮女王每年 £200 的年金當底盤；他和合夥人海德格（Heidegger）開了一家商業歌劇公司，在 King's Theatre 賣票；他甚至用一種叫帕斯提奇歐（pasticcio）的「拼貼舊作」手法來壓低製作成本。當義大利歌劇市場退燒，他果斷轉型，改做英語神劇。1742 年，《彌賽亞》（Messiah）在都柏林售票首演，成了他長期的金雞母，讓他致富、財務獨立。三個關鍵字請記好：多元收入、果斷轉型、擁有自己的 IP。接下來我們聽《彌賽亞》裡最有名的〈哈利路亞〉，按照英國傳統，這段播放時各位可以選擇起立。</a:t>
            </a:r>
          </a:p>
          <a:p>
            <a:r>
              <a:t>【講義補充】 - 韓德爾 1710 移居倫敦。- 收入＝女王年金 £200/年＋商業歌劇公司（King's Theatre 售票）＋帕斯提奇歐降成本。- 轉做英語神劇；1742《彌賽亞》都柏林售票首演。 - 1742 年《彌賽亞》都柏林首演為慈善義演：公告請女士免穿裙撐、男士卸下佩劍以多容納聽眾，約 700 人入場，募得約 400 英鎊，替 142 名債務囚贖回自由。 - 📖 名詞解釋｜神劇（oratorio）：以宗教題材為主的大型聲樂曲，獨唱、合唱與樂團演出，無佈景戲服動作；成本低於歌劇，正是韓德爾《彌賽亞》的商業算盤。</a:t>
            </a:r>
          </a:p>
          <a:p>
            <a:r>
              <a:t>【影片操作】 播〈哈利路亞〉約 3 分半。播前：「相傳當年英王聽到這段起身致敬，全場跟著起立——這個傳統延續至今。」播後：「一首神劇，撐起一位音樂家後半生的財務自由。」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13｜茶歇與美食：歐式沙龍風（台灣買得到版）</a:t>
            </a:r>
          </a:p>
          <a:p/>
          <a:p>
            <a:r>
              <a:t>【講稿】（停留約 60 秒）現在我們中場休息 15 分鐘。請各位別只是滑手機——學十八世紀的沙龍客人，趁這個空檔彼此交際一下。今天的茶歇走歐式沙龍風：咖啡、紅酒（不喝酒的有無酒精氣泡飲），配上起司、馬卡龍和可頌。這些在台灣都很好買：咖啡和起司去超市，可頌馬卡龍找烘焙坊，起司拼盤和氣泡飲 Costco 一次搞定。今天還藏了一個香料彩蛋——撒了孜然（cumin）的烤起司條和孜然杏仁，孜然是今天的「靈魂香氣動機」，等一下會貫穿全場。如果你想找更道地的孜然味，迪化街的南北貨、夜市的烤物攤，都是它在台灣的替身。</a:t>
            </a:r>
          </a:p>
          <a:p>
            <a:r>
              <a:t>【講義補充】 - 茶歇對照：咖啡/紅酒（或無酒精氣泡飲）＋起司＋馬卡龍/可頌。- 採買：超市/烘焙坊/Costco。- 孜然彩蛋：孜然烤起司條、孜然杏仁；台灣替身＝迪化街南北貨、夜市烤物攤。</a:t>
            </a:r>
          </a:p>
          <a:p>
            <a:r>
              <a:t>【影片操作】 休息時間可循環輕放蕭邦夜曲或巴赫當背景（沿用前頁影片）。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14｜第二站：古典——從贊助到自由接案</a:t>
            </a:r>
          </a:p>
          <a:p/>
          <a:p>
            <a:r>
              <a:t>【講稿】（停留約 45 秒）休息夠了，我們進第二站：古典時期，大約 1750 到 1820 年。商業模式變了——音樂家開始用三條腿走路：公開音樂會、樂譜出版、自由接案。背後最大的推手，是一個正在崛起的新階級：中產階級。他們有錢、有閒、想聽音樂，於是音樂第一次有了「大眾市場」。</a:t>
            </a:r>
          </a:p>
          <a:p>
            <a:r>
              <a:t>【講義補充】 - 古典約 1750–1820。- 三條腿：公開音樂會＋樂譜出版＋自由接案。- 推手：中產階級。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15｜同代美術：大衛《拿破崙加冕》——國家力量買形象</a:t>
            </a:r>
          </a:p>
          <a:p/>
          <a:p>
            <a:r>
              <a:t>【講稿】（停留約 70 秒）進古典站之前，看同時代的美術。莫札特與貝多芬的年代，畫布上發生著一模一樣的事。1804 年，拿破崙（Napoléon）下令委託大衛（Jacques-Louis David）畫下他的加冕大典，並任命他為「皇帝首席畫師」——這是一件國家級的形象工程，而且甲方改稿改得理直氣壯：拿破崙的母親其實因家族失和沒有出席，卻被畫進正中央最尊貴的包廂；教皇庇護七世（Pius VII）原稿雙手放膝、形同旁觀，1808 年拿破崙視察畫室後，要求改成舉手祝福。報酬呢？大衛自估十萬法郎，最後實收六萬五。各位聽聽是不是很熟悉——乙方遇到強勢甲方，兩百年前就是這樣。但也正是這筆委託，讓這幅畫與大衛的名字，永遠掛進了羅浮宮。</a:t>
            </a:r>
          </a:p>
          <a:p>
            <a:r>
              <a:t>【講義補充】 - 原文題名《Le Sacre de Napoléon》，現藏羅浮宮（Louvre）。 - 1804-09 拿破崙口頭委託（原規劃加冕系列四幅、僅完成兩幅）；大衛獲任皇帝首席畫師。 - 「修圖」二例：母親（Madame Mère）未出席卻入畫中央包廂；教皇庇護七世 1808-01 應拿破崙要求改為祝福姿勢（羅浮宮官網載明）。 - 報酬：大衛 1806 自估 10 萬法郎、最終分三期實收 6 萬 5 千法郎（羅浮宮官網）。 - 1819 移交王室博物館；1837–1889 陳列凡爾賽宮，1890 正式入藏羅浮宮。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16｜莫札特 vs 貝多芬：兩種「離職創業」的結局</a:t>
            </a:r>
          </a:p>
          <a:p/>
          <a:p>
            <a:r>
              <a:t>【講稿】（停留約 110 秒）同樣是離開穩定工作去闖自由市場，莫札特和貝多芬走出了兩種結局，這對任何想創業的人都是一堂課。莫札特（Mozart，1756–1791）原本受僱於薩爾茲堡大主教，1781 年他受不了，乾脆裸辭，闖進維也納的自由市場。他靠教學、自辦音樂會、接委託、賣樂譜過活。1787 年，皇帝約瑟夫二世（Joseph II）只給他一個兼職室內作曲家的位子，年薪 800 弗洛林（florin），讓他寫舞曲。結果呢？財務一直不穩，1791 年負債病逝，葬在貧民墓。再看貝多芬（Beethoven，1770–1827），1809 年他談成一筆漂亮的交易：三位維也納貴族——金斯基（Kinsky）、洛布科維茨（Lobkowitz）、魯道夫大公（Archduke Rudolph）——聯合給他終身年金，唯一條件是「請你留在維也納」。同樣是自由身，貝多芬把贊助「結構化」了，結果名利雙收，還保有完全的創作自由。差別就在這裡。</a:t>
            </a:r>
          </a:p>
          <a:p>
            <a:r>
              <a:t>【講義補充】 - 莫札特 1781 裸辭闖維也納；1787 年薪 800 弗洛林寫舞曲；1791 負債病逝葬貧民墓。- 貝多芬 1809 拿金斯基/洛布科維茨/魯道夫大公終身年金，條件＝留維也納。 - 1808 年拿破崙之弟、西發里亞國王傑羅姆（Jérôme Bonaparte）以年薪 600 杜卡特挖角貝多芬任卡塞爾宮廷樂長；維也納三貴族才以 4,000 弗洛林終身年金反制留人。 - 📖 名詞解釋｜弗洛林（florin；德文 Gulden，又譯「盾」）：1252 年佛羅倫斯首鑄的金幣，後成中歐通行貨幣單位；莫札特維也納宮廷年俸 800 弗洛林即以此計。</a:t>
            </a:r>
          </a:p>
          <a:p>
            <a:r>
              <a:t>【影片操作】 播莫札特《小夜曲》第一樂章約 2 分半。播前：「這是自由市場時代的『暢銷單曲』。」播後：「人人都愛，但光有暢銷曲，救不了莫札特的財務。」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17｜題獻的力量：金主如何用年金，買下不朽之名</a:t>
            </a:r>
          </a:p>
          <a:p/>
          <a:p>
            <a:r>
              <a:t>【講稿】（停留約 75 秒）我們把貝多芬的收入拆開來看，你會發現它根本是一份完美的「自由工作者財務藍圖」。三位金主的年金，是他的穩定底盤；公開音樂會，是爆發性的收入；教學，是穩定的現金流；而出版時的「題獻」，是把聲望變現的高招——把作品獻給某位貴族，貴族回禮，雙方都有面子。這四條腿撐起來，貝多芬成了後世所有「獨立作曲家」的範本。其實這也是今天每一位接案者、自由工作者的多元收入模型。而這套贊助結構，最終養出了什麼？1824 年 5 月 7 日，全聾的貝多芬在維也納首演《第九號交響曲》——據在場者回憶，是年輕的女低音翁格爾（Caroline Unger）輕輕拉他轉身，他才「看見」全場如雷的掌聲。這部作品由倫敦愛樂協會出資 50 英鎊委託，出版時卻題獻給普魯士國王——一筆委託，兩份榮耀，貝多芬把聲望變現玩到了極致。兩百年後，第四樂章的〈歡樂頌〉（Ode to Joy）在 1972 年成為歐洲理事會的會歌、1985 年成為今天歐盟的盟歌；在日本，「第九」是年末的全民儀式——大阪每年年末的「萬人第九」，正是企業冠名贊助的萬人大合唱——三位貴族當年的那筆年金，至今仍在配息。現在，請聽今天的主打聆聽第二首：〈歡樂頌〉。</a:t>
            </a:r>
          </a:p>
          <a:p>
            <a:r>
              <a:t>【講義補充】 - 貝多芬收入＝年金＋公開音樂會＋教學＋出版題獻。- 後世獨立作曲家範本。- 1824-05-07《第九號交響曲》維也納首演（Theater am Kärntnertor）；倫敦愛樂協會 1822 決議以 £50 委託；1826 出版題獻普魯士國王腓特烈·威廉三世。- 翁格爾（Caroline Unger）拉貝多芬轉身：有在場者見證，發生時點（詼諧曲後或曲終）各家證詞不一。- 〈歡樂頌〉1972 歐洲理事會會歌（卡拉揚編官方版）、1985 歐盟（時為歐洲共同體）盟歌。- 日本「第九」：1918-06-01 板東俘虜收容所德國戰俘完成日本首演；年末傳統於戰後成形，大阪「萬人第九」（1983 起）由企業贊助。 - 年金合約旋遇風險：奧地利紙鈔急貶（4,000 紙幣弗洛林實值一度僅餘數百銀幣）、金斯基墜馬猝逝、洛布科維茨破產停付；貝多芬逐一興訟或協商，才追回給付——贊助也需要法律與制度保障。</a:t>
            </a:r>
          </a:p>
          <a:p>
            <a:r>
              <a:t>【影片操作】 播 BBC Proms 2015 終樂章合唱精華（00:00–04:16，https://www.youtube.com/watch?v=yf2rbcrZzDQ）。播前：「這就是那筆終身年金，最終養出來的聲音。」播後：「一筆贊助的複利，可以配息兩百年。」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18｜公開音樂會：門票經濟誕生</a:t>
            </a:r>
          </a:p>
          <a:p/>
          <a:p>
            <a:r>
              <a:t>【講稿】（停留約 70 秒）自由市場要能運作，得有一個關鍵基礎設施：賣票的場館。1748 年，牛津的霍利威爾音樂廳（Holywell Music Room）啟用，是歐洲最早的專用音樂廳之一。1781 年，萊比錫的格萬豪斯（Gewandhaus）啟用，還養了一支同名的格萬豪斯管弦樂團。這代表什麼？代表「門票經濟」誕生了。門票經濟最強大的地方，是它「可規模化」——一場演出可以賣很多張票，而且第一次有能力「捧紅」一位作曲家。對企業來說，啟示很清楚：把你的體驗票券化、把影響力做成可以複製的產品，才走得遠。</a:t>
            </a:r>
          </a:p>
          <a:p>
            <a:r>
              <a:t>【講義補充】 - 牛津音樂廳（Holywell Music Room）1748。- 格萬豪斯（萊比錫）1781 啟用＋格萬豪斯管弦樂團。- 門票經濟＝可規模化、捧出名人作曲家。 - 1824 年貝九首演藝術大捷、觀眾如雷喝采；門票經濟卻失靈：扣除場租與演出成本，貝多芬淨利僅約 420 弗洛林——「叫好」與「叫座」是兩回事。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19｜出版與鋼琴製造：產業鏈成形</a:t>
            </a:r>
          </a:p>
          <a:p/>
          <a:p>
            <a:r>
              <a:t>【講稿】（停留約 90 秒）有了音樂會，還要有內容通路和硬體，整條產業鏈才完整。先看出版：Breitkopf &amp; Härtel 1719 年在萊比錫創立，1795 年 Härtel 加入後，推出作曲家「全集」（Oeuvres complètes）的概念——這其實是最早的「產品線管理」，把一位作曲家的作品系統化、品牌化地賣。另一家 Artaria 1770 年在維也納，是當時的樞紐，出版海頓和貝多芬，還兼賣樂器和樂譜。再看硬體：英國的 Broadwood 1773 年改良方形鋼琴和踏板，海頓 1791 年用過，貝多芬 1817 年還獲贈一台；法國的埃拉爾（Érard）1777 年創立，發明了關鍵的雙擒縱（double escapement）技術——這個技術，待會兒講李斯特時還會出現。硬體、內容、通路，一條龍，這門生意才賺得久。</a:t>
            </a:r>
          </a:p>
          <a:p>
            <a:r>
              <a:t>【講義補充】 - Breitkopf &amp; Härtel（萊比錫 1719；1795 推全集＝產品線管理）。- Artaria（維也納 1770，樞紐）。- Broadwood（英 1773，方形鋼琴+踏板；海頓 1791 用、貝多芬 1817 獲贈）。- 埃拉爾 Érard（法 1777，雙擒縱）。 - 📖 名詞解釋｜雙擒縱（double escapement）：艾拉爾（Érard）1821 年專利，讓琴鍵未完全回彈即可快速重複同音；這項樂器商的革新催生炫技演奏，現代平台鋼琴沿用至今。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20｜古典代表曲（樂譜頁）</a:t>
            </a:r>
          </a:p>
          <a:p/>
          <a:p>
            <a:r>
              <a:t>【講稿】（停留約 40 秒）用一頁樂譜替古典時期收尾。如果巴洛克的關鍵字是「秩序」，古典的關鍵字就是「均衡與優雅」——結構清晰、旋律好記。為什麼好記這麼重要？因為在自由市場裡，一段能被大眾哼出來的旋律，就是最好的行銷。記得住，才賣得動。</a:t>
            </a:r>
          </a:p>
          <a:p>
            <a:r>
              <a:t>【講義補充】 - 樂譜佔位 d2-classical-melody/piano。- 古典聲音特徵：均衡、優雅、結構清晰、旋律可記憶。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21｜第三站：浪漫——明星市場與個人 IP</a:t>
            </a:r>
          </a:p>
          <a:p/>
          <a:p>
            <a:r>
              <a:t>【講稿】（停留約 45 秒）第三站，浪漫時期，大約 1820 到 1900 年。這個時代，是布爾喬亞（bourgeoisie）——也就是有錢的中產階級——的市場，徹底定義了音樂的生產與流通。藝術變成了「消費品」，而藝術家，變成了「個人 IP」、變成了品牌。如果說古典時代是「賣作品」，浪漫時代就是「賣人」。</a:t>
            </a:r>
          </a:p>
          <a:p>
            <a:r>
              <a:t>【講義補充】 - 浪漫約 1820–1900。- 布爾喬亞市場定義生產流通。- 藝術＝消費品、藝術家＝個人 IP。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22｜同代美術：德拉克洛瓦《自由引導人民》——藝術與國族主義</a:t>
            </a:r>
          </a:p>
          <a:p/>
          <a:p>
            <a:r>
              <a:t>【講稿】（停留約 70 秒）浪漫站的同代美術，就是這幅《自由引導人民》。注意，它跟上一幅不一樣——不是委託案。1830 年七月革命後，德拉克洛瓦（Eugène Delacroix）自主創作了它，1831 年在沙龍展出，法國政府用三千法郎買下，原本想掛在盧森堡宮，提醒新國王路易-菲利普（Louis-Philippe）：你的王位是革命給的。結果政治訊息太強，掛沒多久就被收起來，直到 1874 年才正式進入羅浮宮。後來，它被印上一百法郎紙鈔，全國人天天摸著它過日子。這跟同時代的威爾第是同一件事——藝術一旦與民族情感綁定，力量和麻煩都會放大；政府買畫、群眾買票，買的都是認同。待會兒講到威爾第與義大利，請把這幅畫放在心裡。</a:t>
            </a:r>
          </a:p>
          <a:p>
            <a:r>
              <a:t>【講義補充】 - 原文題名《La Liberté guidant le peuple》，現藏羅浮宮。 - 1831 沙龍入選展出；1831-08 由法國政府（商業暨公共工程部）以 3,000 法郎向畫家本人購藏——是收購、不是委託。 - 原擬掛盧森堡宮警示「公民國王」路易-菲利普；因政治敏感短暫陳列即撤下，1874 年（第三共和）正式入藏羅浮宮。 - 1978–1995 圖像印於法國 100 法郎紙鈔＝國家視覺識別。 - 與威爾第復興運動同拍：藝術×國族主義。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23｜帕格尼尼與李斯特：最早的搖滾巨星</a:t>
            </a:r>
          </a:p>
          <a:p/>
          <a:p>
            <a:r>
              <a:t>【講稿】（停留約 105 秒）浪漫時代催生了人類最早的「搖滾巨星」。第一位是帕格尼尼（Niccolò Paganini，1782–1840），小提琴炫技傳奇，技術好到當時有人傳說他把靈魂賣給了魔鬼。他是最早的商業偶像：巡演場場爆滿、票價奇高，還賣自己的肖像周邊——一套完整的明星經濟，兩百年前就玩起來了。第二位是李斯特（Franz Liszt，1811–1886），鋼琴界的偶像。這裡有個關鍵的商業細節：1823 年起，鋼琴商埃拉爾（Érard）力挺李斯特，不只提供鋼琴，還幫他引介宮廷圈子——這就是最早的「代言行銷」，樂器商贊助明星，明星替樂器背書。李斯特把帕格尼尼的小提琴名曲改編成鋼琴曲《鐘》（La Campanella），難到非得用埃拉爾的雙擒縱技術才彈得了。1840 年代，全歐洲掀起「李斯特狂熱」（Lisztomania），女粉絲為他瘋狂——是不是很耳熟？我們來聽聽這首《鐘》。</a:t>
            </a:r>
          </a:p>
          <a:p>
            <a:r>
              <a:t>【講義補充】 - 帕格尼尼（1782–1840）小提琴炫技、最早商業偶像、巡演高票價、肖像周邊。- 李斯特（1811–1886）；1823 起埃拉爾力挺（鋼琴+宮廷引介）。-《鐘 La Campanella》需雙擒縱。- 1840s「李斯特狂熱 Lisztomania」。 - 「李斯特狂熱」（Lisztomania）一詞由詩人海涅（Heinrich Heine）於 1844 年評論巴黎樂季時首創；狂潮 1841 年始於柏林，樂迷搶他的手套、把斷琴弦做成手鍊珍藏。</a:t>
            </a:r>
          </a:p>
          <a:p>
            <a:r>
              <a:t>【影片操作】 播李斯特《鐘》約 4 分鐘（全曲）。播前：「聽那高音區像鈴鐺一樣的反覆——沒有雙擒縱技術，這是彈不出來的。」播後：「樂器商贊助明星，明星證明樂器——這就是兩百年前的代言。」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24｜蕭邦 × 普雷耶爾：藝術家與品牌的深度綁定</a:t>
            </a:r>
          </a:p>
          <a:p/>
          <a:p>
            <a:r>
              <a:t>【講稿】（停留約 80 秒）如果李斯特和埃拉爾是「代言」，那蕭邦和普雷耶爾就是「深度綁定」。蕭邦（Frédéric Chopin）跟鋼琴品牌普雷耶爾（Pleyel et Cie）綁得極深，他公開盛讚普雷耶爾的鋼琴是 non plus ultra——拉丁文，「無與倫比」的意思。他在巴黎的首演，以及生前最後一場音樂會，都辦在普雷耶爾廳（Salle Pleyel）。這是一種雙向的成就：普雷耶爾那種纖細、敏感的音色，成就了蕭邦獨一無二的觸鍵；而蕭邦的傳奇，又回頭成就了這個品牌。對企業的啟示是：與其廣撒贊助給一百個人，不如找到「對的」那一位，深度綁定。我們聽一首蕭邦的夜曲，感受那種沙龍裡的私密之美。</a:t>
            </a:r>
          </a:p>
          <a:p>
            <a:r>
              <a:t>【講義補充】 - 蕭邦與普雷耶爾（Pleyel et Cie）深度綁定，盛讚 non plus ultra。- 巴黎首演與生前最後一場在 Salle Pleyel。</a:t>
            </a:r>
          </a:p>
          <a:p>
            <a:r>
              <a:t>【影片操作】 播蕭邦《夜曲 Op.9 No.2》約 4 分鐘。播前：「想像你在一間燭光搖曳的巴黎沙龍。」播後：「一個品牌的音色，可以成為一位天才的簽名。」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25｜鋼琴品牌戰（對照表）</a:t>
            </a:r>
          </a:p>
          <a:p/>
          <a:p>
            <a:r>
              <a:t>【講稿】（停留約 90 秒）浪漫時代的鋼琴，是一門大生意，三大品牌用三種完全不同的定位打天下。普雷耶爾（Pleyel），法國 1807 年由 Ignaz Pleyel 創立，採用金屬框，產量從 1813 年大約一年 50 架，衝到 1866 年一年大約 3000 架——這是規模化的力量。貝森朵夫（Bösendorfer），奧地利 1828 年在維也納創立，1830 年就拿到皇帝御用，走的是高端、少量、頂級的路線。史坦威（Steinway &amp; Sons），美德兩地，1853 年由 Heinrich，也就是 Henry Steinway，在紐約創立，1854 年才年產 74 架，後來在漢堡設廠，累積了 139 項專利，成為巡演名家的首選。高端、規模、全球——三種策略，三條活路。各位做品牌的，看到這張表應該很有感覺。</a:t>
            </a:r>
          </a:p>
          <a:p>
            <a:r>
              <a:t>【講義補充】 - 普雷耶爾（法 1807，Ignaz Pleyel，金屬框；1813 約 50 架/年→1866 約 3000 架/年）。- 貝森朵夫（奧 1828 維也納；1830 皇帝御用、高端少量）。- 史坦威（美/德 1853 紐約，Heinrich/Henry Steinway；1854 年產 74 架、漢堡廠、139 項專利）。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26｜里柯第 × 威爾第：出版即版圖</a:t>
            </a:r>
          </a:p>
          <a:p/>
          <a:p>
            <a:r>
              <a:t>【講稿】（停留約 95 秒）浪漫時代最會做生意的，可能不是作曲家，而是出版商。里柯第（Casa Ricordi）由喬凡尼·里柯第（Giovanni Ricordi）1808 年在米蘭創立。他下的第一步棋就很狠：1825 年買下史卡拉歌劇院（La Scala）的整個樂譜庫——等於一次掌握了海量的內容資產。1839 年起，他開始出版一位年輕作曲家威爾第（Giuseppe Verdi）的作品，兩人終生合作，雙雙致富。更厲害的是，里柯第幾乎掌控了從羅西尼、董尼采第、貝里尼，到威爾第、普契尼，整個義大利歌劇的版圖。他把「文化壟斷」當成商業策略來經營。啟示只有一句話，但很重要：擁有並經營你的 IP 版圖，就是最強的護城河。今天的內容平台、版權公司，做的是一模一樣的事。</a:t>
            </a:r>
          </a:p>
          <a:p>
            <a:r>
              <a:t>【講義補充】 - 里柯第（Casa Ricordi，Giovanni Ricordi，1808 米蘭）。- 1825 買史卡拉歌劇院樂譜庫；1839 起出版威爾第。- 掌控羅西尼/董尼采第/貝里尼到威爾第/普契尼版圖＝文化壟斷當商業策略。 - 📖 名詞解釋｜護城河（economic moat）：巴菲特（Warren Buffett）以城堡護城河比喻讓對手難以進攻的持久競爭優勢；版權與版稅制度正是音樂人的護城河。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27｜Funiculì, Funiculà：一首纜車廣告歌的百年生意</a:t>
            </a:r>
          </a:p>
          <a:p/>
          <a:p>
            <a:r>
              <a:t>【講稿】（停留約 90 秒）上一張說「出版即版圖」，現在給各位看里柯第目錄裡最「商業」的一首歌。1880 年，維蘇威火山的登山纜車開通了。纜車公司有個煩惱：大家怕危險，不敢坐。於是作曲家丹薩（Luigi Denza）和記者圖爾科（Peppino Turco）為它寫了一首宣傳歌——《Funiculì, Funiculà》，「纜車上山、纜車下山」。結果歌比纜車還紅：據《義大利人物傳記辭典》記載，一年之內樂譜就賣出一百萬份，出版者正是里柯第。故事還有下半場：六年後，德國作曲家理查·史特勞斯（Richard Strauss）在《義大利之旅》（Aus Italien）裡引用了這段旋律——他以為這是流傳已久的拿坡里民謠。相傳丹薩因此拿到了版稅（「告上法院」之說並無文獻可徵，但史特勞斯誤用了一首仍在版權期內的流行歌，是確定的）。順帶一提，1907 年連俄國的林姆斯基-高沙可夫（Rimsky-Korsakov）也把它當民謠，改編成管弦樂《拿坡里歌謠》。各位，這就是最常被稱為「史上最早廣告歌」的作品：先有商業委託，才有百年金曲。而它教我們的是——內容會自己跑，但錢要收得到，靠的是出版與版權制度。這條線，待會兒講 ASCAP 時會再回來。</a:t>
            </a:r>
          </a:p>
          <a:p>
            <a:r>
              <a:t>【講義補充】 - 1880 維蘇威火山纜車開通；丹薩（Luigi Denza）曲、圖爾科（Peppino Turco）拿坡里語詞，為宣傳纜車而寫；首唱於 Quisisana 旅館，同年皮耶迪格羅塔歌謠節（Piedigrotta）發表。 - 據 Treccani《義大利人物傳記辭典》：里柯第出版、一年內售出百萬份。 - 理查·史特勞斯《義大利之旅 Aus Italien》（1886）誤當民謠引用；「訴訟勝訴」之說無文獻可徵（英文維基引《史特勞斯作品評註全集》）。 - 林姆斯基-高沙可夫《拿坡里歌謠》（Op. 63，1907）同樣誤當民謠改編。 - 商業啟示：好內容自帶擴散力，收錢靠出版與版權制度。</a:t>
            </a:r>
          </a:p>
          <a:p>
            <a:r>
              <a:t>【影片操作】 無（下一張才播伴唱）。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28｜全場帶動唱：Funiculì, Funiculà（登山纜車）</a:t>
            </a:r>
          </a:p>
          <a:p/>
          <a:p>
            <a:r>
              <a:t>【講稿】（停留約 5–8 分鐘，含帶動唱）說了兩個小時的「錢與美」，現在請各位親自當一次內容的傳播者——我們一起唱這首一百四十年前的廣告歌。別緊張，只要學會兩句。第一句：「Jamme, jamme, 'ncoppa jamme jà!」（亞姆美、亞姆美，恩苦帕・亞姆美・亞！）意思是「走吧走吧，一起上山去」。第二句更簡單：「Funiculì, funiculà!」（福尼庫利、福尼庫拉！）就是纜車上山、纜車下山的歡呼。我先唱一次給各位聽；然後我們全場一起來兩次；第三次，請加上拍手。不用唱準，只要唱開心——一百四十年前的拿坡里乘客，就是這樣被行銷上山的。（帶動唱進行）……太棒了！剛才各位唱的，是一支 1880 年的廣告。一個好的贊助內容，一百四十年後，還有人替它免費傳唱——這就是投資美的複利。</a:t>
            </a:r>
          </a:p>
          <a:p>
            <a:r>
              <a:t>【講義補充】 - 副歌拼讀：Jamme, jamme, 'ncoppa jamme jà!（亞姆美、亞姆美，恩苦帕・亞姆美・亞）／Funiculì, funiculà!（福尼庫利、福尼庫拉）；另有 Jammo 拼法（拿坡里語尾母音弱化的轉寫差異），以現場歌譜為準。 - 流程：講師領唱 1 次→全場 2 次→第 3 次加拍手。 - 收尾金句：好的贊助內容，一百四十年後還有人免費傳唱。</a:t>
            </a:r>
          </a:p>
          <a:p>
            <a:r>
              <a:t>【影片操作】 以 Pavarotti 版當示範與伴唱底：先放副歌段讓大家聽一次，帶動唱時音量壓低當伴奏；備援：無伴奏清唱帶動。播前：「聽聽歌王怎麼唱，等一下換我們。」播後：「你們剛剛完成了一次一百四十年的內容傳播。」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29｜維蘇威纜車（上）：一首歌把客人唱上山</a:t>
            </a:r>
          </a:p>
          <a:p/>
          <a:p>
            <a:r>
              <a:t>【講稿】（停留約 110 秒）剛才各位唱的那首歌，當年到底多有效？我們把鏡頭拉回「甲方」——維蘇威纜車公司。1878 年，金融家歐布利格特（Ernesto Emanuele Oblieght）拿到三十年特許權，據載砸下四十三萬五千里拉，在活火山的山坡上蓋纜車，1880 年 6 月 6 日風光開幕（工程由特雷伯（Enrico Treiber）主持）。結果馬上碰到每一位做過新產品的人都懂的問題：東西是好的，客人不敢用——大家怕火山。行銷解方，就是各位剛剛唱的那首委創歌。效果好到什麼程度？里柯第的樂譜一年之內賣破百萬份，歌聲傳遍歐洲的沙龍與街頭，「去拿坡里、坐纜車上維蘇威」變成整個歐洲的旅遊想像——一首三分鐘的歌，把「怕」唱成了「想去」。名氣接著引來國際通路：1888 年，旅行社的老祖宗、英國的湯瑪斯·庫克父子公司（Thomas Cook &amp; Son）入主，把纜車編進國際觀光行程，全世界的旅客跟著行程表上山。中間還有一段教科書等級的利害關係人管理：山下靠帶路維生的在地嚮導，生意被纜車搶走，據載一路從勒索、縱火、割纜繩，鬧到把一節車廂推下山谷；接手的約翰·梅森·庫克（John Mason Cook）沒有硬碰硬，而是談出「每載一位乘客，就付嚮導一筆補償金」——把反對者變成利益共同體。生意於是越做越大：1903 年加蓋接駁輕軌、1904 年整條線從蒸汽改成電力，登山容量倍增。各位看，這條成長曲線的起點，就是一首歌。</a:t>
            </a:r>
          </a:p>
          <a:p>
            <a:r>
              <a:t>【講義補充】 - 1878 歐布利格特（Ernesto Emanuele Oblieght）取得 30 年特許權，造價 43.5 萬里拉（據義文維基）；1880-06-06 啟用（6/10 對外營運，工程師 Enrico Treiber 主持）。 - 1886 一度轉讓法商維蘇威纜索鐵路公司（Société Anonyme du Chemin de fer funiculaire du Vésuve），1888 由湯瑪斯·庫克父子公司（Thomas Cook &amp; Son）入主——國際旅遊通路加持。 - 嚮導抗爭（勒索／縱火／割纜／推車入谷，據載）；John Mason Cook 以每客補償金和解，化敵為盟。 - 1903 接駁輕軌、1904 蒸汽→電力改建，觀光容量倍增。</a:t>
            </a:r>
          </a:p>
          <a:p>
            <a:r>
              <a:t>【影片操作】 無（承接帶動唱的餘溫直接講）。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30｜維蘇威纜車（下）：打不倒的行銷資產</a:t>
            </a:r>
          </a:p>
          <a:p/>
          <a:p>
            <a:r>
              <a:t>【講稿】（停留約 100 秒）這門生意後來怎麼樣了？它經歷了大概是商業史上最硬核的「不可抗力」測試。1906 年維蘇威大噴發，車站、機房、車廂全埋進二、三十公尺深的火山灰——照理說故事該結束了。可是三年後，1909 年，纜車重建復駛；1911 年山崩再停，1912 年又開。為什麼值得一次又一次重建？因為那首歌帶來的品牌名氣和穩定客源，讓每一次重建都算得過來——這就是行銷資產最實在的價值：它讓生意永遠「值得被救回來」。1944 年火山加上戰火，纜車功成身退，公司轉型：1953 年改成吊椅繼續載客，據載一年約十萬人次、超過一半是國際旅客，一路營運到 1984 年，才把登山這件事交棒給公路與遊覽車。硬體會被天災與時代改寫——但請注意，那首 1880 年的委創歌，到今天還在替維蘇威、替拿坡里「免費帶客」：電影、廣告、音樂會，全世界每天都有人唱它、聽它，然後想去看看那座山。所以，給在座企業家的啟示很簡單：產品有生命週期，行銷內容做到位，卻是跨世紀資產。一次委創，回報以百年計。</a:t>
            </a:r>
          </a:p>
          <a:p>
            <a:r>
              <a:t>【講義補充】 - 1906 大噴發全毀（車站、機房與兩節車廂埋於 20–30 公尺火山灰）→ 1909 重建復駛；1911 山崩 → 1912 再開。 - 1927 特許權轉入庫克義大利子公司（Ferrovia e Funicolare Vesuviana S.A.I.）；1944 噴發＋戰損後功成身退。 - 1947 售予南義次級鐵路公司（Strade Ferrate Secondarie Meridionali，SFSM）；1953 改吊椅（最高日運千人；1953–1984 年約 10 萬人次、過半國際旅客，據義文維基）；1984 交棒公路時代。 - 金句：產品有生命週期，行銷內容是跨世紀資產。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31｜拜羅伊特：十九世紀的藝術新創 × 創投</a:t>
            </a:r>
          </a:p>
          <a:p/>
          <a:p>
            <a:r>
              <a:t>【講稿】（停留約 110 秒）接下來這個故事，根本就是十九世紀版的「新創燒錢 × 天使投資」。華格納（Richard Wagner）有個瘋狂的夢：他要為自己長達四聯劇的《尼伯龍根的指環》（Der Ring des Nibelungen），量身打造一座專屬劇院。這要花多少錢？天文數字。但他遇到了完美的金主：1864 年，巴伐利亞國王路德維希二世（Ludwig II）成了他近乎無上限的天使投資人。華格納於是自建了拜羅伊特節慶劇院（Bayreuth Festspielhaus），裡面有個革命性的設計——隱藏式的下沉樂池，讓觀眾看不到樂團，完全沉浸在劇情裡。這就是為作品客製的硬體。1874 年計畫財務危機，國王再撥 10 萬塔勒（thaler）續命。1876 年 8 月 13 到 17 日，首屆音樂節完整上演了 14 小時的四聯劇，到場的有李斯特、柴可夫斯基、聖桑、布魯克納。這對應我們待會兒的企業提案第 3 點：把場館、把音樂節，做成一個 iconic 的品牌聖地。</a:t>
            </a:r>
          </a:p>
          <a:p>
            <a:r>
              <a:t>【講義補充】 - 華格納為《指環》量身打造劇院。- 1864 路德維希二世成金主；1874 危機再撥 10 萬塔勒。- 拜羅伊特節慶劇院（隱藏式下沉樂池）。- 1876/8/13–17 首屆音樂節 14 小時四聯劇；與會李斯特/柴可夫斯基/聖桑/布魯克納。- 對應提案第 3 點。 - 拜羅伊特靠一千張、每張 300 塔勒的「贊助證書」（Patronatsschein）集資 30 萬塔勒，實際賣不到一半；路德維希二世貸 10 萬塔勒救場，1876 首屆音樂節仍虧約 15 萬馬克——聖地是先賠出來的。 - 📖 名詞解釋｜塔勒（Thaler）：16 世紀起德語區通行的大型銀幣，「dollar」一詞即源於其名；拜羅伊特劇院集資與國王貸款皆以塔勒計。</a:t>
            </a:r>
          </a:p>
          <a:p>
            <a:r>
              <a:t>【影片操作】 播華格納〈女武神的騎行〉約 3 分鐘。播前：「想像 14 小時的史詩，這只是其中最著名的 3 分鐘。」播後：「一個瘋狂的夢，加上一位無上限的金主，蓋出了一座至今仍是聖地的劇院。」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32｜浪漫代表曲（樂譜頁）</a:t>
            </a:r>
          </a:p>
          <a:p/>
          <a:p>
            <a:r>
              <a:t>【講稿】（停留約 40 秒）用一頁樂譜替浪漫時期收尾。這個時代的關鍵字是「個性與張力」——炫技、濃烈的情感、戲劇性的對比。為什麼？因為市場要的不再只是好聽，而是「難忘」、是「明星魅力」。藝術家賣的是自己這個品牌，所以音樂也必須有強烈的個人簽名。</a:t>
            </a:r>
          </a:p>
          <a:p>
            <a:r>
              <a:t>【講義補充】 - 樂譜佔位 d2-romantic-melody/piano。- 浪漫聲音特徵：炫技、情感、戲劇性、個人簽名。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33｜第四站：印象派——氛圍、音色、流動感</a:t>
            </a:r>
          </a:p>
          <a:p/>
          <a:p>
            <a:r>
              <a:t>【講稿】（停留約 50 秒）第四站，印象派。音樂上的印象派大約是 1890 到 1920 年，背景則從 1875 年延伸到 1920 年。如果浪漫是濃烈的戲劇，印象派就是朦朧的氛圍——它賣的是音色、是流動感、是一種說不清的情緒。商業模式上，它延續了出版、音樂會、教學、沙龍委約，但多了一個劃時代的新支柱：錄音。而沙龍，其實就是私人贊助的延續——巴黎的富人在自己家裡主辦室內樂沙龍，扮演著小型梅迪奇的角色。</a:t>
            </a:r>
          </a:p>
          <a:p>
            <a:r>
              <a:t>【講義補充】 - 音樂印象派約 1890–1920（背景約 1875–1920）。- 收入＝出版/音樂會/教學/沙龍委約＋新增錄音。- 沙龍＝私人贊助延續（巴黎富人主辦室內樂沙龍）。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34｜同代美術：莫內《印象・日出》——自辦展覽與畫商創投</a:t>
            </a:r>
          </a:p>
          <a:p/>
          <a:p>
            <a:r>
              <a:t>【講稿】（停留約 70 秒）「印象派」這個名字，本身就是一堂品牌課。1874 年，莫內（Claude Monet）、雷諾瓦、竇加這批被官方沙龍拒絕的畫家，乾脆自組合作社、自辦展覽、自己賣票——用今天的話說，就是新創團隊繞過通路、自建平台。評論家勒魯瓦（Louis Leroy）看了這幅《印象・日出》，寫了篇酸文嘲笑他們是「印象派」；結果罵名變成品牌，整個畫派因此得名——待會兒你會看到，德布西那批音樂家後來也被套上同一個標籤。而在畫家背後，站著畫商杜朗-魯耶（Paul Durand-Ruel）：從 1872 年起大量買進這批「沒人要的畫」，三十年間收了將近一萬兩千幅，光莫內就約一千幅。畫家自辦展覽是新創，畫商就是創投；這幅畫在首展就以 800 法郎售出——市場，真的存在。</a:t>
            </a:r>
          </a:p>
          <a:p>
            <a:r>
              <a:t>【講義補充】 - 現藏瑪摩丹莫內美術館（Musée Marmottan Monet）。 - 1874-04-15 首屆聯展開幕：約 30 位畫家自組「無名畫家、雕塑家、版畫家協會」（合作社）自辦售票展。 - 勒魯瓦 1874-04-25 於《喧鬧報》（Le Charivari）發表〈印象派畫家的展覽〉借畫名嘲諷，「印象派」由此得名。 - 首展期間以 800 法郎售出（買家：百貨業收藏家霍雪德 Ernest Hoschedé）；1940 年德・貝利歐家族後人捐贈瑪摩丹美術館（今瑪摩丹莫內美術館）。 - 杜朗-魯耶 1891–1922 購入近 12,000 幅（莫內約 1,000、雷諾瓦約 1,500）＝畫商當創投、庫存變帝國。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35｜德布西與拉威爾：拒絕標籤的兩位大師</a:t>
            </a:r>
          </a:p>
          <a:p/>
          <a:p>
            <a:r>
              <a:t>【講稿】（停留約 95 秒）印象派有兩位大師，有趣的是，他們兩位都不喜歡「印象派」這個標籤。德布西（Claude Debussy，1862–1918）寫了《牧神的午後前奏曲》《海》（La Mer）和我們今天的主角《月光》（Clair de Lune）；他其實偏好「象徵主義」（Symbolism）這個說法。拉威爾（Maurice Ravel，1875–1937）寫了《死公主的孔雀舞》和那首神奇的《波麗露》（Boléro）。對企業來說，這個時代最重要的商業轉折是：「錄音」第一次成為收入的新支柱——音樂從「現場一次性的體驗」，變成「可以反覆販售的商品」。我們先聽《波麗露》——你會聽到同一段旋律重複十八次，越來越響，這簡直是「漸強行銷」的教科書。</a:t>
            </a:r>
          </a:p>
          <a:p>
            <a:r>
              <a:t>【講義補充】 - 德布西（1862–1918）：《牧神的午後》《海》《月光》。- 拉威爾（1875–1937）：《死公主的孔雀舞》《波麗露》。- 兩人都拒絕「印象派」標籤，德布西偏好象徵主義。</a:t>
            </a:r>
          </a:p>
          <a:p>
            <a:r>
              <a:t>【影片操作】 播拉威爾《波麗露》結尾總奏約 2 分鐘（建議 13:00–15:00）。播前：「同一段旋律，這是第十八次重複，注意它怎麼炸開。」播後：「重複，加上不斷加碼，就是最強的記憶與行銷。」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36｜留聲機線（時間軸）：音樂變成商品</a:t>
            </a:r>
          </a:p>
          <a:p/>
          <a:p>
            <a:r>
              <a:t>【講稿】（停留約 100 秒）我們把「錄音」這條線單獨拉出來看，因為它徹底改變了音樂產業。1877 年，愛迪生（Edison）發明蠟筒（cylinder）留聲機——但有趣的是，他一開始把它當成「口述機」，一種辦公用品，根本沒想到拿來放音樂。1887 年，柏林納（Emile Berliner）改成平面圓盤（disc），還發明了母盤壓製，可以低成本量產，到 1920 年代，78 轉唱片成了標準。1901 年，Eldridge Johnson 創立 Victor Talking Machine 公司，用了一個天才商標——「主人的聲音」，那隻歪頭聽留聲機的小狗 Nipper（His Master's Voice）。Victor 簽下歌王卡羅素（Enrico Caruso），1906 年推出家用機 Victrola，並建立了藝人版稅制度。英國這邊，1897 年有 Gramophone 公司，1931 年和 Columbia 合併成了 EMI。音樂，從此正式成為一件可以儲存、可以反覆販售的商品。</a:t>
            </a:r>
          </a:p>
          <a:p>
            <a:r>
              <a:t>【講義補充】 - 1877 愛迪生蠟筒（初當口述機）。- 1887 柏林納平面圓盤+母盤壓製（1920s 78 轉標準）。- 1901 Victor（Eldridge Johnson）用 Nipper/HMV 商標、簽卡羅素、1906 Victrola、建立藝人版稅。- 1897 英 Gramophone；1931 與 Columbia 合併成 EMI。 - 卡羅素（Enrico Caruso）灌錄的《丑角》詠嘆調〈Vesti la giubba〉公認是史上第一張百萬銷量唱片——他也成為第一位靠錄音致富的巨星，證明「版稅制」養得起明星。 - 📖 名詞解釋｜母盤壓製與 78 轉唱片（master pressing；78 rpm）：圓盤唱片以金屬母模壓印大量複製、78 轉為早期通行轉速；音樂自此能低成本量產成商品。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37｜場館對照：誰出錢蓋了殿堂</a:t>
            </a:r>
          </a:p>
          <a:p/>
          <a:p>
            <a:r>
              <a:t>【講稿】（停留約 70 秒）這個時代，企業家也開始用「蓋殿堂」的方式把名字刻進文化史。1891 年，紐約的卡內基音樂廳（Carnegie Hall）落成，出資者是鋼鐵大王安德魯·卡內基（Andrew Carnegie）——他把賣鋼鐵賺的錢，變成了一座以他為名、至今最頂級的音樂殿堂。1913 年，巴黎的香榭麗舍劇院（Théâtre des Champs-Élysées）落成。這其實就是最早的「冠名場館」：企業家出資，文化界永遠記得你的名字。一百多年後，這個模式不但沒消失，反而變成今天各大球場、藝文中心的標準配備。</a:t>
            </a:r>
          </a:p>
          <a:p>
            <a:r>
              <a:t>【講義補充】 - 卡內基音樂廳（紐約 1891，卡內基出資）。- 香榭麗舍劇院（巴黎 1913）。- 最早的冠名場館模式。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38｜自動鋼琴與 ASCAP：熱潮 vs 護城河</a:t>
            </a:r>
          </a:p>
          <a:p/>
          <a:p>
            <a:r>
              <a:t>【講稿】（停留約 95 秒）這一頁有個很重要的警世故事。在串流出現之前的一百年，家庭娛樂的主角是「自動鋼琴」（player piano）——它靠紙捲（music rolls）自動演奏。1904 年德國的 Welte-Mignon 技術，甚至能重現名家的觸鍵，連你買不起音樂會門票，也能在家「聽到」大師演奏。它紅到什麼程度？1914 年，自動鋼琴的銷量超過了一般鋼琴。但是——1929 年股災一來，加上廣播和唱片的夾擊，它幾乎瞬間退場。這給我們一個血淋淋的啟示：熱潮不等於護城河，技術迭代隨時會淘汰昨日的贏家。同樣在 1914 年，ASCAP（美國作曲家、作家與出版商協會）成立，開始向公開演出收費，把版稅制度化了。一個熱潮退場，一個制度誕生——能活下來的，永遠是制度，不是熱潮。</a:t>
            </a:r>
          </a:p>
          <a:p>
            <a:r>
              <a:t>【講義補充】 - 自動鋼琴＝串流前的家庭娛樂主角，紙捲播放。- Welte-Mignon（1904 德）重現名家觸鍵；1914 銷量超越一般鋼琴。- 1929 股災+廣播唱片夾擊退場。- 啟示：熱潮≠護城河。- 1914 ASCAP 成立，公開演出收費＝版稅制度化。 - 德布西親為 Welte-Mignon 灌錄 14 首自作曲紙卷，並致函盛讚「重現之完美無以復加」；但他從未錄〈月光〉——網傳「德布西親奏月光」實為他人演奏。 - ASCAP 制度的關鍵一役：作曲家赫伯特（Victor Herbert）控告餐廳未經授權演奏其歌曲，1917 年美國最高法院判定「不收門票仍屬營利、須付版稅」，公開演出授權收費模式自此確立。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39｜印象派代表曲（樂譜頁）</a:t>
            </a:r>
          </a:p>
          <a:p/>
          <a:p>
            <a:r>
              <a:t>【講稿】（停留約 60 秒）印象派的代表，就是德布西的《月光》（Clair de Lune）——模糊的調性、朦朧的踏板，像水一樣的觸鍵。它不講故事，只給你一片月色。各位入場時、以及待會兒散場時流動的，就是這首《月光》的鋼琴名演錄音。（提醒：《月光》是鋼琴獨奏曲，不能演唱；本場的全場帶動唱為《Funiculì, Funiculà》，見投影片 27、28。）</a:t>
            </a:r>
          </a:p>
          <a:p>
            <a:r>
              <a:t>【講義補充】 - 樂譜佔位 d2-impressionism-melody/piano。- 《月光》為暖場／散場墊樂（鋼琴名演錄音）。- 印象派聲音特徵：模糊調性、踏板朦朧、如水觸鍵。</a:t>
            </a:r>
          </a:p>
          <a:p>
            <a:r>
              <a:t>【影片操作】 可循環輕放《月光》（Khatia Buniatishvili 鋼琴名演）當聆聽／墊樂，與開場、散場呼應。播前：「請閉上眼睛，聽一片月色。」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40｜第五站：現代橋接——贊助換了形式</a:t>
            </a:r>
          </a:p>
          <a:p/>
          <a:p>
            <a:r>
              <a:t>【講稿】（停留約 50 秒）最後一站，現代橋接。我們從受僱、自由接案、明星市場、唱片工業，一路走到了今天的企業贊助與串流授權。商業模式變成了：企業贊助、多元收入、串流授權。但本質從沒變過。所以我要再說一次今天唯一的那句話：贊助從未消失，它只是換了形式。三百年前是親王和銀行家，今天，是坐在這裡的各位。</a:t>
            </a:r>
          </a:p>
          <a:p>
            <a:r>
              <a:t>【講義補充】 - 現代商業模式：企業贊助＋多元收入＋串流授權。- 核心：贊助從未消失，只是換了形式。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41｜同代美術：梵谷《星夜》——一個人的贊助</a:t>
            </a:r>
          </a:p>
          <a:p/>
          <a:p>
            <a:r>
              <a:t>【講稿】（停留約 70 秒）最後一站開始前，看最後一幅畫：《星夜》，1889 年，梵谷（Vincent van Gogh）在聖雷米療養院病房窗外看到的夜空。梵谷生前幾乎賣不掉畫，那他靠什麼活？靠他的弟弟西奧（Theo van Gogh）——一位巴黎畫商，從 1882 年起按月匯款，平均一年約 1,750 法郎，大約是西奧年收入的百分之十四點五。重點是西奧自己說的話：「我把給他的錢，視為他工作的報酬。」不是施捨，是報酬——這正是我們今天強調的「對等」。一個人的長期贊助，養出了一位定義時代的畫家。等一下講到「成為下一個梅迪奇」時請記得：梅迪奇不一定是銀行家，也可以只是一個相信哥哥的弟弟。</a:t>
            </a:r>
          </a:p>
          <a:p>
            <a:r>
              <a:t>【講義補充】 - 原文題名《De sterrennacht》。 - 1889-06 繪於聖雷米（Saint-Rémy-de-Provence）聖保羅療養院（梵谷自願入院，取材病房窗外夜空）。 - 西奧（Theo van Gogh，巴黎畫商）自 1882 起按月匯款資助；平均年約 1,750 法郎、約占其年收入 14.5%；西奧自述「我把給他的錢視為他工作的報酬」。 - 《星夜》生前未售出；經西奧遺孀喬安娜（Jo van Gogh-Bonger）繼承經手，1941 年經布利斯遺贈（Lillie P. Bliss Bequest）交換入藏 MoMA。 - 收束全場：對等、可持續、共融——個人贊助人的極致範本。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42｜歷代贊助模式對照（總表）</a:t>
            </a:r>
          </a:p>
          <a:p/>
          <a:p>
            <a:r>
              <a:t>【講稿】（停留約 85 秒）我們把五個時代攤開來放在一張表上，你會看到一條清晰的演化線。巴洛克：金主是教會與宮廷，藝術家是受僱者，產業是剛起步的出版。古典：金主變成貴族年金加上大眾，藝術家自由接案，靠公開音樂會。浪漫：市場（也就是明星）說了算，藝術家成了名人品牌，背後是鋼琴與出版工業。印象派：金主是沙龍加上唱片，藝術家靠版稅收益，背後是留聲機工業。到了現代：金主是企業贊助，藝術家多元收入，靠串流授權。看出來了嗎？金主換了、載體換了、技術換了，但「有人出錢買藝術、換取某種價值」這件事，四百年來一天都沒停過。</a:t>
            </a:r>
          </a:p>
          <a:p>
            <a:r>
              <a:t>【講義補充】 - 巴洛克[教會宮廷/受僱者/起步出版]。- 古典[貴族年金+大眾/自由接案/公開音樂會]。- 浪漫[市場明星/名人品牌/鋼琴出版工業]。- 印象派[沙龍+唱片/版稅收益/留聲機工業]。- 現代[企業贊助/多元收入/串流授權]。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43｜音樂的力量：塑造國力、國家形象與企業品牌</a:t>
            </a:r>
          </a:p>
          <a:p/>
          <a:p>
            <a:r>
              <a:t>【講稿】（停留約 70 秒）從這裡開始，是今天的核心。前面四百年的歷史，會在當代一再上演。我要證明一件事：音樂能塑造三樣最珍貴的東西。第一，國力——威爾第用音樂，凝聚了一個四分五裂的義大利。第二，國家形象——普契尼塑造了日本與義大利的觀光想像，德布西寫下了法國的浪漫。第三，企業品牌——賓士借蕭邦的貴族氣質，奇美用名琴把冷冰冰的電子變成藝術。音樂，是國家與企業形象，最高級的化妝術。</a:t>
            </a:r>
          </a:p>
          <a:p>
            <a:r>
              <a:t>【講義補充】 - 三大力量：國力（威爾第）、國家形象（普契尼／德布西）、企業品牌（賓士／奇美）。 - 核心金句：音樂是國家與企業形象最高級的化妝術。 - 本段為全片主軸的當代實證。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44｜威爾第：用音樂，創造義大利的國力</a:t>
            </a:r>
          </a:p>
          <a:p/>
          <a:p>
            <a:r>
              <a:t>【講稿】（停留約 90 秒）先看「國力」。十九世紀的義大利，四分五裂、國勢衰弱。但威爾第（Giuseppe Verdi）的歌劇，讓全民因為音樂而振奮。《那布果 Nabucco》裡的〈Va, pensiero〉——希伯來奴隸大合唱——唱的是「O mia patria，我的祖國，如此美麗卻已失去」。這首歌成了義大利復興運動（Risorgimento）的非官方國歌，威爾第也成了民族英雄。當時奧地利嚴密審查，民眾就高喊「Viva VERDI」——表面是威爾第萬歲，其實是 Vittorio Emanuele Re D'Italia，「義大利國王萬歲」的暗號。一個作曲家，凝聚了一個還沒統一的國家。這，就是音樂的國力。</a:t>
            </a:r>
          </a:p>
          <a:p>
            <a:r>
              <a:t>【講義補充】 - 19 世紀義大利衰弱分裂；威爾第歌劇振奮全民。 -《那布果》〈Va, pensiero〉成復興運動（Risorgimento）非官方國歌。 - 「Viva VERDI」＝Vittorio Emanuele Re D'Italia 的獨立暗號。</a:t>
            </a:r>
          </a:p>
          <a:p>
            <a:r>
              <a:t>【影片操作】 可播〈Va, pensiero〉合唱約 3 分鐘（皇家歌劇院合唱團倫敦屋頂版：https://www.youtube.com/watch?v=vA0wLGb92fs）。播前：「聽一個民族，如何用一首歌找回自己。」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45｜國家形象，是作曲家替它寫的（普契尼／德布西）</a:t>
            </a:r>
          </a:p>
          <a:p/>
          <a:p>
            <a:r>
              <a:t>【講稿】（停留約 85 秒）再看「國家形象」。普契尼（Giacomo Puccini）創造了義大利、甚至日本的觀光文化。《蝴蝶夫人》的場景在長崎，長崎的哥拉巴園（Glover Garden）因此成了「蝴蝶夫人之家」，立著普契尼與名伶三浦環的雕像，一年吸引近兩百萬訪客。《托斯卡》把羅馬的地標寫成歌劇朝聖點；他的故鄉托雷德爾拉戈，每年舉辦普契尼音樂節。反過來說，如果法國沒有德布西的印象派——《月光》《海》《牧神的午後》——我們今天想到法國，也許就不會充滿浪漫的情懷。音樂，為一個國家寫下了難以複製的氣質。</a:t>
            </a:r>
          </a:p>
          <a:p>
            <a:r>
              <a:t>【講義補充】 -《蝴蝶夫人》→長崎哥拉巴園「蝴蝶夫人之家」，年訪客近 200 萬；《托斯卡》→羅馬；托雷德爾拉戈普契尼音樂節。 - 德布西印象派＝法國「浪漫」形象的來源。 - 國家形象，是作曲家替它寫的。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46｜音樂，重塑企業的品牌形象（賓士／奇美）</a:t>
            </a:r>
          </a:p>
          <a:p/>
          <a:p>
            <a:r>
              <a:t>【講稿】（停留約 90 秒）最後，也是各位最關心的——企業品牌。音樂可以塑造企業的形象。蕭邦這位作曲家，外在與內在都充滿貴族的氛圍；所以當頂級品牌（例如賓士）以蕭邦這樣的鋼琴曲烘托廣告，就會讓人覺得「買了它，就代表自己身分的提升」。再看台灣的例子：奇美的許文龍，如果他沒有去收集那麼多昂貴的名琴，大家對奇美的印象，可能就只是冷冰冰的電子產品。但他收藏了世界數量最多的小提琴、辦了奇美博物館，還免費把名琴出借給音樂家——從曾宇謙到馬友友。於是你一想到奇美的電視，畫面就充滿了藝術的氣息。音樂，是企業形象最高級的化妝術。</a:t>
            </a:r>
          </a:p>
          <a:p>
            <a:r>
              <a:t>【講義補充】 - 賓士×蕭邦：貴族氣質→「擁有＝身分提升」（行銷示意）。 - 奇美×許文龍：世界最多名琴收藏＋奇美博物館＋免費出借（曾宇謙、馬友友）→冷電子變藝術品牌。 - 音樂＝企業形象最高級的化妝術。 - 奇美博物館（CHIMEI Museum）提琴收藏逾千把、為世界最大規模的私人提琴收藏；據奇美官方沿革，1990 年許文龍向小提琴家林昭亮購入第一把史特拉底瓦里（Stradivari）名琴起家。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47｜佛瑞與女伯爵：贊助者，因藝術而不朽</a:t>
            </a:r>
          </a:p>
          <a:p/>
          <a:p>
            <a:r>
              <a:t>【講稿】（停留約 80 秒）最後一個故事，講給每一位想當金主的人聽。法國作曲家佛瑞（Gabriel Fauré）年輕、還在掙扎的時候，葛雷夫勒女伯爵（Comtesse Greffulhe）把他引進了巴黎最高的社交圈。佛瑞最美的《帕凡舞曲》（Pavane），就是為她的沙龍而寫、題獻給她的。這位女伯爵讓佛瑞得以專心創作；而佛瑞——還有普魯斯特把她寫進小說——讓世人永遠記得了這位女伯爵。她，因此創造了自我的歷史價值。這就是贊助最美的雙向：贊助者讓藝術家專心創作，藝術家讓贊助者名留青史。</a:t>
            </a:r>
          </a:p>
          <a:p>
            <a:r>
              <a:t>【講義補充】 - 葛雷夫勒女伯爵（Comtesse Greffulhe）引佛瑞入巴黎社交圈。 - 佛瑞《帕凡舞曲 Pavane》(1887) 題獻給她、為她的沙龍而寫。 - 她讓佛瑞專心創作，佛瑞（與普魯斯特）讓她不朽＝創造自我的歷史價值。 - 📖 名詞解釋｜帕凡舞曲（Pavane）：16 世紀歐洲宮廷開場的緩慢行列舞；19 世紀末佛瑞借古舞名寫作 Op.50，題獻贊助者葛雷夫勒女伯爵。</a:t>
            </a:r>
          </a:p>
          <a:p>
            <a:r>
              <a:t>【影片操作】 可播佛瑞《帕凡舞曲》約 2 分鐘（法國國家管弦樂團版，開頭長笛主題：https://www.youtube.com/watch?v=uyQsekYvhpk）。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48｜企業的回報：贊助藝術，買到錢買不到的東西</a:t>
            </a:r>
          </a:p>
          <a:p/>
          <a:p>
            <a:r>
              <a:t>【講稿】（停留約 85 秒）在給各位五點提案之前，先回答一個最實際的問題：企業投資音樂，到底拿回什麼？四個面向，歷史都幫我們驗證過。第一，品牌聲望與差異化——像卡內基、像拜羅伊特，把名字刻進文化史，打造一個非朝聖不可的聖地。第二，客戶體驗行銷與關係——像 Victor 簽下卡羅素，用獨家內容、獨家錄音、獨家體驗，緊緊綁住最高價值的客群。第三，人才吸引與員工凝聚——像埃斯特哈齊養海頓，長期穩定地養才、養研發，同時凝聚內部認同。第四，ESG、企業社會責任與稅務——像梅迪奇、像巴黎沙龍，文化贊助本身就是最好的社會責任與聲望投資；稅務上，文化藝術贊助也可能有優惠，這部分建議洽詢會計師。記住：這不是成本，是一筆會增值的長期資產。</a:t>
            </a:r>
          </a:p>
          <a:p>
            <a:r>
              <a:t>【講義補充】 - 品牌聲望與差異化＝卡內基／拜羅伊特（名字刻進文化史、打造聖地）。 - 客戶體驗行銷與關係＝Victor×卡羅素（獨家內容/錄音/體驗、經營高價值客群）。 - 人才吸引與員工凝聚＝埃斯特哈齊×海頓（長期養才＋私人 R&amp;D、凝聚內部認同）。 - ESG／CSR 與稅務＝梅迪奇／沙龍（社會責任與聲望；稅務優惠依文化藝術相關法規，建議洽會計師）。 - 核心金句：不是成本，是會增值的長期資產。 - 日本三得利（Suntory）1986 年為紀念威士忌事業 60 週年在東京興建首座專用音樂廳 Suntory Hall，指揮大師卡拉揚（Herbert von Karajan）譽為「音之寶石盒」。 - 洛杉磯迪士尼音樂廳（Walt Disney Concert Hall）：莉莉安・迪士尼（Lillian Disney）1987 年捐 5,000 萬美元起建，蓋瑞（Frank Gehry）設計，2003 年啟用為洛杉磯愛樂之家——冠名場館的當代典範。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49｜給企業的五點提案（一）</a:t>
            </a:r>
          </a:p>
          <a:p/>
          <a:p>
            <a:r>
              <a:t>【講稿】（停留約 80 秒）那麼，今天的企業可以怎麼做？我整理了五點，這是今天最實用的部分。第 1 點，像埃斯特哈齊：給藝術家長期、穩定的資助，並用一座場館養創新——給他一個能安心研發的家，海頓的交響曲就是這樣養出來的。第 2 點，像 Victor：綁定一位「有品牌」的藝術家，跟他做獨家內容、獨家錄音、獨家體驗——就像當年 Victor 簽下歌王卡羅素。第 3 點，像拜羅伊特：把你的場館或音樂節，做成一個 iconic 的品牌，一個讓人非朝聖不可的聖地——華格納就是這樣，把一座小鎮變成了全球樂迷的麥加。</a:t>
            </a:r>
          </a:p>
          <a:p>
            <a:r>
              <a:t>【講義補充】 - 提案 1 像埃斯特哈齊：長期穩定資助＋場館養創新。- 提案 2 像 Victor：綁定有品牌的藝術家做獨家內容/錄音/體驗。- 提案 3 像拜羅伊特：把場館/音樂節做成 iconic 品牌。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50｜給企業的五點提案（二）</a:t>
            </a:r>
          </a:p>
          <a:p/>
          <a:p>
            <a:r>
              <a:t>【講稿】（停留約 80 秒）第 4 點，用科技放大你的投資：串流、數位演出、線上教學——但請記得，要搭配「對等」的版稅與授權結構。當年自動鋼琴沒做好版稅，紅極一時卻迅速崩盤；ASCAP 把制度建立起來，才讓創作者活到今天。技術是放大器，制度才是護城河。第 5 點，像梅迪奇、像路德維希二世：委託創作一部新作品，用它換取聲望與差異化。最後請各位記住三個詞，這是今天所有提案的靈魂：對等、可持續、共融。不是施捨，是對等的合作；不是一次性的曝光，是可持續的關係；不是高高在上，是和藝術家、和社群共融。</a:t>
            </a:r>
          </a:p>
          <a:p>
            <a:r>
              <a:t>【講義補充】 - 提案 4 用科技放大（串流/數位演出/線上教學＋對等版稅/授權）。- 提案 5 像梅迪奇與路德維希二世：委創新作換聲望與差異化。- 三記憶點：對等、可持續、共融。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51｜當代委創（樂譜頁）：今天輪到你當金主</a:t>
            </a:r>
          </a:p>
          <a:p/>
          <a:p>
            <a:r>
              <a:t>【講稿】（停留約 55 秒）這一頁樂譜，是空白的——因為它還沒被寫出來。從梅迪奇到路德維希二世，從埃斯特哈齊到卡內基，每一個願意委託新作品的金主，都把自己的名字寫進了未來的文化史。今天，輪到你的品牌了。你不需要懂作曲，你只需要做一個決定：委託一部屬於這個時代、屬於你的品牌的新作品。三百年後，也許還有人會記得，是誰當年付了這筆錢。</a:t>
            </a:r>
          </a:p>
          <a:p>
            <a:r>
              <a:t>【講義補充】 - 樂譜佔位 d2-modern-piano。- 委創＝把品牌名字寫進未來文化史。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52｜重點回顧：四百年一句話</a:t>
            </a:r>
          </a:p>
          <a:p/>
          <a:p>
            <a:r>
              <a:t>【講稿】（停留約 60 秒）我們快速回顧。四百年，五個時代，各用一句話：巴洛克是「受僱」，古典是「接案」，浪漫是「明星」，印象派是「唱片」，現代是「串流」。但有一個真理從沒變過：每一個偉大的音樂時代，背後都站著一個願意投資美的金主。所以請各位帶走今天唯一的這句話——橋是雙向的。你投資音樂，音樂會回過頭來，塑造你的品牌、你的聲望、你在這個時代的位置。</a:t>
            </a:r>
          </a:p>
          <a:p>
            <a:r>
              <a:t>【講義補充】 - 五時代一句話：巴洛克=受僱、古典=接案、浪漫=明星、印象派=唱片、現代=串流。- 不變真理：每個偉大音樂時代背後都有一個投資美的金主。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53｜行動呼籲：成為下一個梅迪奇</a:t>
            </a:r>
          </a:p>
          <a:p/>
          <a:p>
            <a:r>
              <a:t>【講稿】（停留約 50 秒）你不需要是國王，不需要是鋼鐵大王，也不需要是巴伐利亞的瘋狂君主。你只需要做一件「對等、可持續、共融」的事。也許今天回去，你就可以開始：找一位你欣賞的、對的藝術家，提一個小小的委託創作。梅迪奇當年也是從一場婚禮的歌劇開始的。每一座偉大的橋，都是從第一塊石頭開始砌的。</a:t>
            </a:r>
          </a:p>
          <a:p>
            <a:r>
              <a:t>【講義補充】 - 行動：找一位對的藝術家，提一個小委創。- 三原則：對等、可持續、共融。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54｜Q&amp;A 與延伸聆聽</a:t>
            </a:r>
          </a:p>
          <a:p/>
          <a:p>
            <a:r>
              <a:t>【講稿】（停留約 60 秒）進入提問時間。我想先反問各位一個問題，當作熱身：你的品牌，最像今天哪一種歷史贊助模式？是想當穩定供養的埃斯特哈齊，還是想打造聖地的拜羅伊特？也歡迎大家把今天聽到的六首曲子帶回家細聽：巴赫《郭德堡變奏曲》、貝多芬《第九號交響曲》〈歡樂頌〉、丹薩《Funiculì, Funiculà》、李斯特《鐘》、拉威爾《波麗露》，還有德布西《月光》（鋼琴）；意猶未盡的，再加一首威爾第〈Va, pensiero〉。如果有機會旅行，三座場館值得朝聖：卡內基音樂廳、拜羅伊特節慶劇院、蕭邦的 Salle Pleyel，還有台南的奇美博物館。好，現在，把時間交給各位。</a:t>
            </a:r>
          </a:p>
          <a:p>
            <a:r>
              <a:t>【講義補充】 - 延伸聆聽六曲＋朝聖三場館。- 反問：你的品牌對應哪種贊助模式？</a:t>
            </a:r>
          </a:p>
          <a:p>
            <a:r>
              <a:t>【影片操作】 Q&amp;A 期間輕放《月光》當背景墊樂（沿用封面影片）。播前：「讓音樂陪我們聊天。」播後：無（自然淡出至下一頁）。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55｜謝謝：願音樂，成就你的不朽</a:t>
            </a:r>
          </a:p>
          <a:p/>
          <a:p>
            <a:r>
              <a:t>【講稿】（停留約 40 秒）從巴洛克到印象派，從梅迪奇到你——四百年的故事，其實只是同一座橋，被不同時代的人反覆走過。願你，成為那座橋：讓美與商業，互相成就，而不是互相消耗。謝謝各位今天兩個小時的聆聽。我的聯絡方式在螢幕上，期待有一天，能聽到由你委託、由你成就的那一部新作品。謝謝大家。</a:t>
            </a:r>
          </a:p>
          <a:p>
            <a:r>
              <a:t>【講義補充】 - 收尾金句：願你成為那座橋，讓美與商業互相成就。- 留講師資訊與聯絡方式。</a:t>
            </a:r>
          </a:p>
          <a:p>
            <a:r>
              <a:t>【影片操作】 散場時循環輕放《月光》，與開場呼應。播前（散場）：「慢走，把這份月光帶回家。」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3LiztfE1X7E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chQ7cbSUU-s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IUZEtVbJT5c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QZWKUszkbXU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yf2rbcrZzDQ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naaebgU0rLo" TargetMode="Externa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QR10Od1cLaM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f5d86xl4qHg" TargetMode="Externa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xeRwBiu4wfQ" TargetMode="Externa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5Eqj9G5j1ss" TargetMode="External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vA0wLGb92fs" TargetMode="External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uyQsekYvhpk" TargetMode="External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Wkt8CsZR8bY" TargetMode="External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t="22504" b="2250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80360"/>
            <a:ext cx="12191695" cy="3977639"/>
          </a:xfrm>
          <a:prstGeom prst="rect">
            <a:avLst/>
          </a:prstGeom>
          <a:solidFill>
            <a:srgbClr val="1A1109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2011680"/>
            <a:ext cx="9997135" cy="3840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一場關於「錢、權力與美」如何互相成就的四百年故事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5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音樂與企業：音樂如何塑造國力、國家形象與企業品牌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FBE6C2"/>
                </a:solidFill>
                <a:latin typeface="Microsoft JhengHei"/>
                <a:ea typeface="Microsoft JhengHei"/>
                <a:cs typeface="Microsoft JhengHei"/>
              </a:rPr>
              <a:t>副標：橋是雙向的——音樂塑造了企業，企業也塑造了音樂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講座約 2 小時｜五站結構｜全場帶動唱 1 首＋主打聆聽 2 首，其餘改播名演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D5B0"/>
                </a:solidFill>
                <a:latin typeface="Microsoft JhengHei"/>
                <a:ea typeface="Microsoft JhengHei"/>
                <a:cs typeface="Microsoft JhengHei"/>
              </a:rPr>
              <a:t>音樂與企業：從巴洛克到印象派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question-money.jpg"/>
          <p:cNvPicPr>
            <a:picLocks noChangeAspect="1"/>
          </p:cNvPicPr>
          <p:nvPr/>
        </p:nvPicPr>
        <p:blipFill>
          <a:blip r:embed="rId2"/>
          <a:srcRect l="137" r="137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開場提問：一首曲子，能值多少？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我們今天不談音符，談的是「誰付錢、為什麼付、回報是什麼」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一個品牌經理，其實和三百年前的宮廷管家做的是同一件事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核心命題：音樂塑造國力、國家形象與企業品牌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 → 企業：催生出版業、樂器（鋼琴）工業、唱片業、場館經濟、品牌（炫技家＝最早的名人 IP）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 → 音樂：贊助、委託創作、出資建場館、發明版稅模式、行銷綁定藝術家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結論先講：贊助從未消失，只是換了形式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115403" y="1499616"/>
            <a:ext cx="422452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are-two-way-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267" y="155448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為什麼最頂尖的企業，都贊助藝術？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社會聲望：擠進金字塔頂端的文化俱樂部，與菁英、政要同框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文化資本：把財富升級成品味與高度，贏得真正的尊重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不朽之名：名字刻進文化史，被傳誦數百年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品牌差異化：做別人做不到、也買不到的事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影響力與人脈：成為藝文、媒體與權力圈的交會點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認同與凝聚：最高級的 ESG，凝聚員工與社會向心力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定調：贊助藝術不是慈善，是金字塔頂端最高級的聲望投資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四百年時間軸（七個改變遊戲規則的時刻）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1501 活字印譜（佩特魯奇 Ottaviano Petrucci，威尼斯）：音樂第一次能「量產複製」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1600 歌劇誕生（佛羅倫斯，梅迪奇 Medici 家族贊助）：最早的文化創投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1742《彌賽亞 Messiah》都柏林售票首演（韓德爾 Handel）：售票經濟成形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1853 史坦威（Steinway &amp; Sons，紐約）：樂器走向工業與品牌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1877 留聲機（愛迪生 Edison）：音樂第一次「可儲存、可販售」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1901 Victor 建立藝人版稅：藝術家開始分潤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1914 ASCAP 成立：版稅制度化、公開演出開始收費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104548"/>
            <a:ext cx="4757623" cy="301466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1907243002160557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159412"/>
            <a:ext cx="4647895" cy="29049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l="8175" r="8175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第一站：巴洛克——受僱的音樂家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約 1600–1750（以巴赫 J.S. Bach 辭世為象徵句點）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商業模式：教會與宮廷出資，作曲家是領薪的員工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關鍵字：穩定、訂閱、私人 R&amp;D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同代美術：林布蘭《夜巡》——民兵集資的團體肖像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林布蘭（Rembrandt van Rijn）《夜巡》（De Nachtwacht, 1642）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甲方＝阿姆斯特丹火槍手民兵隊（Kloveniers）：16 人集資委製、平均每人約 100 盾（guilders）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出資越多、畫面位置越顯眼——三百多年前的「贊助曝光版位」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同一時代：巴赫領教會薪水、韋瓦第受僱孤兒院——同一套贊助經濟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666387"/>
            <a:ext cx="4757623" cy="389098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338400051764861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21251"/>
            <a:ext cx="4647895" cy="37812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梅迪奇與歌劇：銀行家發明的文化創投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佛羅倫斯卡梅拉塔（Florentine Camerata）：一群想復興古希臘戲劇的文化沙龍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佩里（Jacopo Peri）＋里努奇尼（Rinuccini）1598《達芙妮 Dafne》＝最早倖存歌劇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1600《尤麗狄切 Euridice》為瑪麗·德·梅迪奇（Marie de'Medici）與法王亨利四世政治聯姻而演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演出者含受僱女作曲家兼歌者卡契尼（Francesca Caccini）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一句話：歌劇＝銀行家政治權力的品牌延伸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韋瓦第 × 巴赫：兩種「受僱者」的生意經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韋瓦第（Antonio Vivaldi）：1703 起在威尼斯皮耶塔孤兒院（Ospedale della Pietà）任小提琴師，為全女子樂團寫曲近 37 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《四季 The Four Seasons》（1725，Op.8）獻給莫爾欽（Morzin）伯爵——獻曲＝古典版的「冠名贊助」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巴赫（J.S. Bach）：1723 起在萊比錫聖多馬教堂（Thomaskirche）任樂長 27 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受薪、每週供應新曲＝最早的「訂閱制」宗教音樂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39"/>
            <a:ext cx="4922215" cy="2768746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629400" y="4524394"/>
            <a:ext cx="492221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韋瓦第《四季·春 The Four Seasons: Spring》——Voices of Mus…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代表曲片段，展示「冠名贊助」的成果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郭德堡變奏曲：一筆私人委託，換一夜好眠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巴赫《郭德堡變奏曲 Goldberg Variations, BWV 988》：1741 出版（《鍵盤練習 Clavier-Übung》第四集），一段詠嘆調（Aria）＋ 30 段變奏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傳說（出自福克爾 Forkel 1802 年巴赫傳記；學界存疑——首版無題獻、哥德堡時年僅約 14）：俄國駐薩克森公使凱瑟林克伯爵（Count Keyserlingk）苦於失眠，委託巴赫作曲，由隨行年輕大鍵琴家哥德堡（Johann Gottlieb Goldberg）夜夜彈奏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相傳伯爵回贈一只裝滿 100 枚金路易的金杯（僅見於福克爾記載）——史上最貴的「安眠服務」訂單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商業視角：私人委託＝極致客製化內容；曲名掛的是付錢一方身邊的名字——被寫進音樂史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1955 顧爾德（Glenn Gould）錄音、1956 發行的出道專輯（Columbia）：兩百年前的私人訂單，變成二十世紀的暢銷唱片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巴赫《郭德堡變奏曲》開頭詠嘆調（Aria）——Netherlands Bach Society（A…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主打聆聽①，「私人訂製的安眠之音」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埃斯特哈齊 × 海頓：私人 R&amp;D 養出交響曲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海頓（Joseph Haydn）1761 起受僱埃斯特哈齊（Esterházy）親王尼可勞斯（Nikolaus），長達約 30 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埃斯特哈薩（Esterháza）莊園＝「匈牙利的凡爾賽」：歌劇院、木偶劇場、音樂廳俱全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親王愛玩巴里頓琴（baryton），海頓就為它寫了 168 首三重奏——客製化的研發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穩定環境讓海頓把交響曲「養成熟」＝企業提案第 1 點的原型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545113" y="1499616"/>
            <a:ext cx="3365107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terhaza-hayd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977" y="1554480"/>
            <a:ext cx="3255379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韓德爾：第一位「音樂創業家」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韓德爾（George Frideric Handel）1710 移居倫敦，自己當老闆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多元收入：安妮女王年金 £200／年 ＋ 與海德格（Heidegger）合夥的商業歌劇公司（King's Theatre 售票）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帕斯提奇歐（pasticcio）拼貼舊作降成本——精打細算的營運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市場變了就果斷轉型：從義大利歌劇改做英語神劇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1742《彌賽亞 Messiah》都柏林售票首演＝長期金雞母，致富獨立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關鍵字：多元收入、果斷轉型、擁有自己的 IP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韓德爾〈哈利路亞 Hallelujah〉——皇家合唱協會（Royal Choral Society）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巴洛克高潮代表曲，現場可邀觀眾起立（傳統習俗）　｜　建議 00:00–03:30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4572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茶歇與美食：歐式沙龍風（台灣買得到版）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78992"/>
            <a:ext cx="908273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中場休息 15 分鐘，請大家像十八世紀的沙龍客人一樣交際</a:t>
            </a:r>
          </a:p>
        </p:txBody>
      </p:sp>
      <p:pic>
        <p:nvPicPr>
          <p:cNvPr id="5" name="Picture 4" descr="coffee-break-sal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847" y="1444752"/>
            <a:ext cx="6095999" cy="4572000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第二站：古典——從贊助到自由接案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約 1750–1820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商業模式：公開音樂會 ＋ 樂譜出版 ＋ 自由接案三條腿走路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推手：崛起的中產階級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同代美術：大衛《拿破崙加冕》——國家力量買形象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大衛（Jacques-Louis David）《拿破崙加冕》（1805–1807）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拿破崙（Napoléon）官方委託；大衛獲任「皇帝首席畫師」——國家級形象工程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甲方改稿：缺席的母親被畫進最尊貴的包廂；教皇姿勢應皇帝要求改成祝福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大衛自估 10 萬法郎、實收 6.5 萬——贊助方權力不對等的經典教訓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095470"/>
            <a:ext cx="4757623" cy="303281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947411601067945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150334"/>
            <a:ext cx="4647895" cy="2923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莫札特 vs 貝多芬：兩種「離職創業」的結局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莫札特（Mozart, 1756–1791）：原受薩爾茲堡大主教僱用，1781 決裂裸辭闖維也納自由市場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收入＝教學／自辦音樂會／接委託／賣譜；1787 約瑟夫二世（Joseph II）只給兼職年薪 800 弗洛林（florin）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結局：財務不穩、1791 負債病逝、葬於貧民墓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貝多芬（Beethoven, 1770–1827）：1809 拿三位維也納貴族終身年金，唯一條件「留在維也納」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收入＝年金 ＋ 公開音樂會 ＋ 教學 ＋ 出版題獻；名利雙收且創作自由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對照：同樣是自由身，差別在「有沒有把贊助結構化」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莫札特《小夜曲 Eine kleine Nachtmusik》——Concertgebouw 室內…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自由市場時代的「暢銷品」示意　｜　建議 00:00–02:30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題獻的力量：金主如何用年金，買下不朽之名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三位金主：金斯基（Kinsky）／洛布科維茨（Lobkowitz）／魯道夫大公（Archduke Rudolph）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年金＝穩定底盤；公開音樂會＝爆發收入；教學＝現金流；出版題獻＝聲望變現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這套組合＝後世「獨立作曲家」的範本，也是現代自由工作者的多元收入藍圖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年金養出的巔峰：1824-05-07《第九號交響曲》維也納首演；倫敦愛樂協會以 £50 委託，出版題獻普魯士國王腓特烈·威廉三世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兩百年後的複利：〈歡樂頌 Ode to Joy〉1972 成歐洲理事會會歌、1985 成歐盟盟歌；日本年末「第九」傳統（1918 板東俘虜營日本首演；大阪「萬人第九」由企業冠名贊助）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貝多芬《第九號交響曲》終樂章〈歡樂頌〉合唱精華——BBC Proms 2015（CBSO／Andr…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主打聆聽②，年金制度養出的巔峰之作　｜　建議 00:00–04:16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公開音樂會：門票經濟誕生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牛津音樂廳（Holywell Music Room）1748 啟用＝歐洲最早的專用音樂廳之一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格萬豪斯（Gewandhaus，萊比錫）1781 啟用，並擁有格萬豪斯管弦樂團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門票經濟＝可規模化的商業模式，第一次能「捧紅」作曲家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啟示：把體驗票券化，才能讓影響力可複製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007717"/>
            <a:ext cx="4757623" cy="320832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ewandhaus-concert-h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62581"/>
            <a:ext cx="4647895" cy="30985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出版與鋼琴製造：產業鏈成形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出版：Breitkopf &amp; Härtel（萊比錫，1719；Härtel 1795 加入後推「全集 Oeuvres complètes」＝最早的產品線管理）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出版：Artaria（維也納，1770）＝樞紐，出版海頓、貝多芬，並兼賣樂器與樂譜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鋼琴：Broadwood（英，1773，方形鋼琴＋踏板改良；海頓 1791 用過、貝多芬 1817 獲贈）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鋼琴：埃拉爾 Érard（法，1777，發明雙擒縱 double escapement）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啟示：硬體＋內容＋通路，一條龍才賺得久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74536" y="1871756"/>
            <a:ext cx="5031943" cy="357168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26620"/>
            <a:ext cx="4922215" cy="34619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古典代表曲（樂譜頁）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聽見「自由接案時代」的均衡與優雅：清晰結構、可被市場記住的旋律　｜　現場示意：古典時期主題與變奏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621604391966745936.jpg"/>
          <p:cNvPicPr>
            <a:picLocks noChangeAspect="1"/>
          </p:cNvPicPr>
          <p:nvPr/>
        </p:nvPicPr>
        <p:blipFill>
          <a:blip r:embed="rId2"/>
          <a:srcRect l="26854" r="26854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第三站：浪漫——明星市場與個人 IP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約 1820–1900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商業模式：布爾喬亞（bourgeoisie）市場定義音樂的生產與流通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藝術＝消費品，藝術家＝個人 IP（品牌）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同代美術：德拉克洛瓦《自由引導人民》——藝術與國族主義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德拉克洛瓦（Eugène Delacroix）《自由引導人民》（1830）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非委託案：畫家自主創作，1831 年沙龍展出後由法國政府以 3,000 法郎購藏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政治訊息太強、一度被收起；1874 年才正式進羅浮宮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1978–1995 年印上法國 100 法郎紙鈔——藝術成為國家識別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692411"/>
            <a:ext cx="4757623" cy="3838937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9416364109268423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47275"/>
            <a:ext cx="4647895" cy="37292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帕格尼尼與李斯特：最早的搖滾巨星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帕格尼尼（Niccolò Paganini, 1782–1840）：小提琴炫技傳奇、最早的商業偶像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巡演爆滿、高票價、賣肖像周邊——完整的明星經濟雛形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李斯特（Franz Liszt, 1811–1886）：鋼琴炫技偶像，1823 起埃拉爾（Érard）力挺（提供鋼琴＋引介宮廷圈）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《帕格尼尼練習曲·鐘 La Campanella》需要雙擒縱才能彈；1840 年代掀起「李斯特狂熱 Lisztomania」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商業洞察：樂器商「贊助」明星＝最早的代言行銷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39"/>
            <a:ext cx="4922215" cy="2768746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629400" y="4524394"/>
            <a:ext cx="492221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李斯特《鐘 La Campanella》——Evgeny Kissin 現場（Royal Albe…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炫技代表曲，呼應「雙擒縱才彈得了」　｜　建議 00:00–04:00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 × 普雷耶爾：藝術家與品牌的深度綁定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蕭邦（Frédéric Chopin）與普雷耶爾（Pleyel et Cie）深度綁定，盛讚其鋼琴 non plus ultra（無與倫比）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巴黎首演與生前最後一場，都在 Salle Pleyel（普雷耶爾廳）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品牌與藝術家互相加持：琴成就了蕭邦的音色，蕭邦成就了琴的傳奇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啟示：找到「對的」藝術家深度綁定，勝過廣撒贊助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蕭邦《夜曲 Op.9 No.2》——Seong-Jin Cho（趙成珍）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沙龍美學代表曲，茶歇後回場墊樂亦可　｜　建議 00:00–04:00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鋼琴品牌戰（對照表）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11535" cy="23591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99"/>
                <a:gridCol w="2018634"/>
                <a:gridCol w="2018634"/>
                <a:gridCol w="2018634"/>
                <a:gridCol w="2018634"/>
              </a:tblGrid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品牌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國家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創立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創辦人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定位與里程碑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</a:tr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普雷耶爾 Pleyel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法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1807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Ignaz Pleyel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金屬框；1813 約 50 架/年 → 1866 約 3000 架/年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貝森朵夫 Bösendorfer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奧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1828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（維也納）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1830 獲皇帝御用、高端少量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</a:tr>
              <a:tr h="5897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史坦威 Steinway &amp; Sons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美/德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1853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Heinrich/Henry Steinway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1854 年產 74 架；後設漢堡廠、139 項專利、巡演名家首選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里柯第 × 威爾第：出版即版圖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里柯第（Casa Ricordi，喬凡尼·里柯第 Giovanni Ricordi，1808 米蘭）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1825 買下史卡拉歌劇院（La Scala）樂譜庫＝掌握內容資產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1839 起出版威爾第（Giuseppe Verdi），終生合作、雙雙致富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掌控羅西尼／董尼采第／貝里尼到威爾第／普契尼——整個義大利歌劇版圖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文化壟斷當成商業策略；啟示：擁有並經營你的 IP 版圖＝最強護城河</a:t>
            </a:r>
          </a:p>
        </p:txBody>
      </p:sp>
      <p:sp>
        <p:nvSpPr>
          <p:cNvPr id="5" name="Rectangle 4"/>
          <p:cNvSpPr/>
          <p:nvPr/>
        </p:nvSpPr>
        <p:spPr>
          <a:xfrm>
            <a:off x="7702686" y="1499616"/>
            <a:ext cx="3049962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cordi-verd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0" y="1554480"/>
            <a:ext cx="2940234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Funiculì, Funiculà：一首纜車廣告歌的百年生意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1880 維蘇威火山纜車（funicolare del Vesuvio）開通；丹薩（Luigi Denza）作曲、記者圖爾科（Peppino Turco）拿坡里語作詞，為宣傳纜車而寫，同年於皮耶迪格羅塔歌謠節（Piedigrotta）發表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常被稱為史上最早的「廣告歌」之一：據《義大利人物傳記辭典》（Treccani）記載，一年內樂譜銷量達百萬份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由里柯第（Ricordi）出版——又是上一張那位「出版即版圖」的里柯第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理查·史特勞斯（Richard Strauss）《義大利之旅 Aus Italien》（1886）誤當拿坡里民謠引用；相傳丹薩因此獲得版稅（「訴訟」之說無文獻可徵）——「版權」的力量，ASCAP 一站會再說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1907 林姆斯基-高沙可夫（Rimsky-Korsakov）也誤當民謠，改編成管弦樂《拿坡里歌謠》（Op. 63）——連兩位大師都被「騙」過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商業啟示：好內容自帶擴散力，但收得到錢，靠的是出版與版權制度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53632"/>
            <a:ext cx="4757623" cy="371649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08496"/>
            <a:ext cx="4647895" cy="36067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全場帶動唱：Funiculì, Funiculà（登山纜車）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跟我一起唱副歌：「Jamme, jamme, 'ncoppa jamme jà!」（拼讀：亞姆美、亞姆美，恩苦帕・亞姆美・亞！）（另有 Jammo 拼法，以現場歌譜為準）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「Funiculì, funiculà!」（拼讀：福尼庫利、福尼庫拉！）＝「纜車上山、纜車下山」的歡呼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唱法：講師領唱一次 → 全場跟唱兩次 → 第三次加拍手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不用唱準，只要唱開心——一百四十年前的乘客，就是這樣被這首歌「行銷」上山的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（伴唱／示範）Pavarotti《Funiculì, Funiculà》——官方音源（Offici…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帶動唱伴唱底、講師領唱示範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維蘇威纜車（上）：一首歌把客人唱上山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1878 金融家歐布利格特（Ernesto Emanuele Oblieght）取得 30 年特許權、斥資 43.5 萬里拉興建；1880-06-06 風光開幕（工程師特雷伯（Enrico Treiber）主持）——卻碰上「大家怕火山，不敢坐」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行銷解方＝委創《Funiculì, Funiculà》（就是各位剛唱的那首）：當年即爆紅、里柯第樂譜一年破百萬份——纜車跟著歌聲唱遍歐洲，成了「到拿坡里必坐」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1888 旅行社先驅湯瑪斯·庫克父子公司（Thomas Cook &amp; Son）入主，把纜車編進國際觀光行程；在地嚮導抗爭，約翰·梅森·庫克（John Mason Cook）以「每載一客付補償金」談和——雙贏的利害關係人管理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1903 增建接駁輕軌、1904 蒸汽→電力全面改建：歌帶來的名氣，兌現成倍增的運量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04869"/>
            <a:ext cx="4757623" cy="36140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-cook-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59733"/>
            <a:ext cx="4647895" cy="3504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維蘇威纜車（下）：打不倒的行銷資產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1906 維蘇威大噴發全毀 → 1909 即重建復駛；1911 山崩 → 1912 再開——品牌名氣與穩定客源，讓公司一次次選擇「值得重建」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1944 火山加戰火後轉型：1953 改吊椅續營，年運約 10 萬人次、過半國際旅客（據載），直到 1984 交棒給公路時代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硬體會被天災與時代改寫；那首 1880 年的委創歌，今天仍在全世界替維蘇威與拿坡里「免費帶客」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給企業家的啟示：行銷內容做到位，就是跨世紀資產——一次委創，回報以百年計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9764" y="1499616"/>
            <a:ext cx="4735806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6290524115728553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628" y="1554480"/>
            <a:ext cx="462607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拜羅伊特：十九世紀的藝術新創 × 創投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華格納（Richard Wagner）為《尼伯龍根的指環 Der Ring des Nibelungen》量身打造專屬劇院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1864 巴伐利亞國王路德維希二世（Ludwig II）成金主＝近乎無上限的天使投資人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自建拜羅伊特節慶劇院（Bayreuth Festspielhaus），隱藏式下沉樂池＝為作品客製的硬體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1874 財務危機，國王再撥 10 萬塔勒（thaler）續命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1876/8/13–17 首屆音樂節，完整上演 14 小時四聯劇；與會者含李斯特／柴可夫斯基／聖桑／布魯克納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對應企業提案第 3 點：把場館／音樂節做成 iconic 品牌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華格納〈女武神的騎行 Ride of the Valkyries〉——Metropolitan O…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拜羅伊特「指環」的震撼力示意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浪漫代表曲（樂譜頁）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聽見「明星市場時代」的個性與張力：炫技、情感、戲劇性　｜　現場示意：浪漫時期旋律與華彩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impressionism-water.jpg"/>
          <p:cNvPicPr>
            <a:picLocks noChangeAspect="1"/>
          </p:cNvPicPr>
          <p:nvPr/>
        </p:nvPicPr>
        <p:blipFill>
          <a:blip r:embed="rId2"/>
          <a:srcRect l="19824" r="19824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第四站：印象派——氛圍、音色、流動感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音樂印象派約 1890–1920（背景約 1875–1920）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商業模式：出版／音樂會／教學／沙龍委約 ＋ 新增「錄音」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沙龍＝私人贊助的延續（巴黎富人主辦室內樂沙龍）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同代美術：莫內《印象・日出》——自辦展覽與畫商創投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莫內（Claude Monet）《印象・日出》（Impression, soleil levant, 1872）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1874 首屆聯展＝約 30 位落選畫家自組合作社、自辦售票展——藝術新創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評論家勒魯瓦（Louis Leroy）借畫名嘲諷「印象派」——罵名變品牌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畫商杜朗-魯耶（Durand-Ruel）31 年購藏近 12,000 幅——藝術界的創投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54141"/>
            <a:ext cx="4757623" cy="3715477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75513894349817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09005"/>
            <a:ext cx="4647895" cy="36057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德布西與拉威爾：拒絕標籤的兩位大師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德布西（Claude Debussy, 1862–1918）：《牧神的午後前奏曲》《海 La Mer》《月光 Clair de Lune》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拉威爾（Maurice Ravel, 1875–1937）：《死公主的孔雀舞》《波麗露 Boléro》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兩人都拒絕「印象派」標籤；德布西偏好象徵主義（Symbolism）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商業意義：在出版與音樂會之外，「錄音」第一次成為收入新支柱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39"/>
            <a:ext cx="4922215" cy="2768746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629400" y="4524394"/>
            <a:ext cx="492221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拉威爾《波麗露 Boléro》——Rotterdam Philharmonic / Han-Na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代表曲，展示「一段旋律重複十八次」的漸強行銷力　｜　建議 13:00–15:00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留聲機線（時間軸）：音樂變成商品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1877 愛迪生（Edison）蠟筒（cylinder）留聲機（最初當口述機、辦公用品）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1887 柏林納（Emile Berliner）改平面圓盤（disc）＋母盤壓製，低成本量產（1920s 78 轉成標準）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1901 Victor Talking Machine（Eldridge Johnson 創）用「主人的聲音／小狗 Nipper（His Master's Voice）」商標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1906 推家用機 Victrola；簽下歌王卡羅素（Enrico Caruso）；建立藝人版稅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1897 英 Gramophone；1931 與 Columbia 合併成 EMI（Victor 1929 併入 RCA、共用 HMV 商標）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104548"/>
            <a:ext cx="4757623" cy="301466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7788815724733751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159412"/>
            <a:ext cx="4647895" cy="29049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場館對照：誰出錢蓋了殿堂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卡內基音樂廳（Carnegie Hall，紐約，1891）：鋼鐵大王卡內基（Andrew Carnegie）出資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香榭麗舍劇院（Théâtre des Champs-Élysées，巴黎，1913）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對照命題：企業家出資建殿堂，把名字刻進文化史——最早的「冠名場館」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074976" y="1499616"/>
            <a:ext cx="4305381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rnegie-champs-elyse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840" y="1554480"/>
            <a:ext cx="4195653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自動鋼琴與 ASCAP：熱潮 vs 護城河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自動鋼琴（player piano）＝串流前一百年的家庭娛樂主角，靠紙捲（music rolls）播放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Welte-Mignon（1904，德）能重現名家觸鍵；1914 銷量超越一般鋼琴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1929 股災＋廣播與唱片夾擊，迅速退場——啟示：熱潮 ≠ 護城河，技術迭代會淘汰昨日贏家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1914 ASCAP（美國作曲家、作家與出版商協會）成立，向公開演出收費＝版稅制度化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14055"/>
            <a:ext cx="4757623" cy="359564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yer-piano-asc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68919"/>
            <a:ext cx="4647895" cy="3485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印象派代表曲（樂譜頁）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30175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714" y="2057400"/>
            <a:ext cx="3640265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501091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聽見「氛圍時代」的色彩與流動：模糊調性、踏板朦朧、如水般的觸鍵　｜　印象派代表（鋼琴獨奏）：德布西《月光 Clair de Lune》；不能演唱，作暖場／散場墊樂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77840"/>
            <a:ext cx="10911535" cy="1078992"/>
          </a:xfrm>
          <a:prstGeom prst="roundRect">
            <a:avLst>
              <a:gd name="adj" fmla="val 10000"/>
            </a:avLst>
          </a:prstGeom>
          <a:solidFill>
            <a:srgbClr val="3F2A1C"/>
          </a:solidFill>
          <a:ln w="1270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5833872"/>
            <a:ext cx="566928" cy="566928"/>
          </a:xfrm>
          <a:prstGeom prst="ellipse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15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5687568"/>
            <a:ext cx="9713671" cy="8595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YouTube　</a:t>
            </a:r>
            <a:r>
              <a:rPr sz="1350" b="1">
                <a:solidFill>
                  <a:srgbClr val="F5EBD8"/>
                </a:solidFill>
                <a:latin typeface="Microsoft JhengHei"/>
                <a:ea typeface="Microsoft JhengHei"/>
                <a:cs typeface="Microsoft JhengHei"/>
              </a:rPr>
              <a:t>德布西《月光 Clair de Lune》——Khatia Buniatish…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現場演奏的備援　｜　建議播放 00:00–05:00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https://www.youtube.com/watch?v=Wkt8CsZR8bY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第五站：現代橋接——贊助換了形式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從受僱、自由接案、明星市場、唱片工業，一路走到企業贊助與串流授權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商業模式：企業贊助 ＋ 多元收入 ＋ 串流授權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一句話：贊助從未消失，只是換了形式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同代美術：梵谷《星夜》——一個人的贊助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梵谷（Vincent van Gogh）《星夜》（1889）——繪於聖雷米療養院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弟弟西奧（Theo van Gogh）＝畫商＋終身贊助人：按月匯款資助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西奧：「我把給他的錢，視為他工作的報酬」——對等，不是施捨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生前未售出；1941 年經遺贈入藏紐約現代藝術博物館（MoMA）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16618"/>
            <a:ext cx="4757623" cy="379052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9177932123920099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71482"/>
            <a:ext cx="4647895" cy="3680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歷代贊助模式對照（總表）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911535" cy="3493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99"/>
                <a:gridCol w="2691512"/>
                <a:gridCol w="2691512"/>
                <a:gridCol w="2691512"/>
              </a:tblGrid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時代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主要金主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藝術家身分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變現／產業</a:t>
                      </a:r>
                    </a:p>
                  </a:txBody>
                  <a:tcPr anchor="ctr" marL="128016" marR="91440" marT="45720" marB="45720">
                    <a:solidFill>
                      <a:srgbClr val="7C3B2D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巴洛克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教會與宮廷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受僱者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起步的出版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古典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貴族年金＋大眾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自由接案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公開音樂會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浪漫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市場（明星）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名人品牌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鋼琴出版工業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印象派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沙龍＋唱片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版稅收益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留聲機工業</a:t>
                      </a:r>
                    </a:p>
                  </a:txBody>
                  <a:tcPr anchor="ctr" marL="128016" marR="91440" marT="45720" marB="45720">
                    <a:solidFill>
                      <a:srgbClr val="F6EFDD"/>
                    </a:solidFill>
                  </a:tcPr>
                </a:tc>
              </a:tr>
              <a:tr h="5821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E2C2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現代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企業贊助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多元收入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0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串流授權</a:t>
                      </a:r>
                    </a:p>
                  </a:txBody>
                  <a:tcPr anchor="ctr" marL="128016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音樂的力量：塑造國力、國家形象與企業品牌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國力：威爾第凝聚四分五裂的義大利，成為民族魂與獨立暗號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國家形象：普契尼塑造日本與義大利觀光；德布西寫下法國的浪漫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企業品牌：賓士借蕭邦的貴族感；奇美用名琴把冷電子變藝術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核心金句：音樂是國家與企業形象最高級的化妝術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威爾第：用音樂，創造義大利的國力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十九世紀義大利四分五裂、國勢衰弱；威爾第歌劇讓全民因音樂而振奮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《那布果 Nabucco》〈Va, pensiero〉（希伯來奴隸大合唱）成復興運動非官方國歌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「Viva VERDI」＝Vittorio Emanuele Re D'Italia，獨立的政治暗號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一個作曲家，凝聚了一個尚未統一的國家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威爾第〈Va, pensiero〉——皇家歌劇院合唱團（Royal Opera Chorus，倫敦…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國力段代表曲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國家形象，是作曲家替它寫的（普契尼／德布西）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普契尼→觀光：《蝴蝶夫人》長崎哥拉巴園「蝴蝶夫人之家」年訪客近 200 萬；《托斯卡》羅馬；托雷德爾拉戈普契尼音樂節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德布西→法國浪漫：若無印象派《月光》《海》《牧神的午後》，法國的浪漫想像就不完整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國家形象，是作曲家替它寫的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554480"/>
            <a:ext cx="4922215" cy="420624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554480"/>
            <a:ext cx="4373575" cy="4206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音樂，重塑企業的品牌形象（賓士／奇美）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賓士×蕭邦：蕭邦的貴族氣質→以夜曲烘托精品車，「擁有＝身分提升」（行銷示意）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奇美×許文龍：世界最多名琴收藏＋奇美博物館＋免費出借（曾宇謙、馬友友）→冷電子變藝術品牌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音樂＝企業形象最高級的化妝術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554480"/>
            <a:ext cx="4922215" cy="420624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554480"/>
            <a:ext cx="4373575" cy="4206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佛瑞與女伯爵：贊助者，因藝術而不朽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葛雷夫勒女伯爵（Comtesse Greffulhe）在佛瑞掙扎成名時引他入巴黎社交圈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佛瑞《帕凡舞曲 Pavane》(1887) 題獻給她、為她的沙龍而寫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她讓佛瑞專心創作；佛瑞（與普魯斯特）讓世人永遠記得她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贊助者因此創造了「自我的歷史價值」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佛瑞《帕凡舞曲 Pavane, Op.50》——法國國家管弦樂團（Orchestre Nation…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贊助者不朽段，沙龍優雅意象　｜　建議 00:00–02:00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企業的回報：贊助藝術，買到錢買不到的東西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品牌聲望與差異化 ← 像卡內基與拜羅伊特：把名字刻進文化史、打造非朝聖不可的聖地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客戶體驗行銷與關係 ← 像 Victor × 卡羅素：獨家內容、錄音與體驗，深化高價值客群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人才吸引與員工凝聚 ← 像埃斯特哈齊 × 海頓：長期養才＋私人 R&amp;D，凝聚內部認同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ESG／CSR 與稅務 ← 像梅迪奇與沙龍：文化贊助＝社會責任與聲望（稅務優惠依文化藝術相關法規評估，建議洽會計師）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記憶金句：不是成本，是會增值的長期資產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1 點 像埃斯特哈齊：長期穩定資助 ＋ 用場館養創新（給藝術家一個能安心研發的家）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2 點 像 Victor：綁定有品牌的藝術家，做獨家內容／錄音／體驗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3 點 像拜羅伊特：把場館／音樂節做成 iconic 品牌（差異化的聖地）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4 點 用科技放大：串流／數位演出／線上教學 ＋ 對等的版稅／授權結構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5 點 像梅迪奇與路德維希二世：委創新作，換取聲望與差異化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三個記憶點：對等、可持續、共融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4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當代委創（樂譜頁）：今天輪到你當金主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blishing-piano-indus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從梅迪奇到你的品牌：委託一部新作品，就是把名字寫進未來的文化史　｜　現場示意：當代鋼琴新作片段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重點回顧：四百年一句話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巴洛克＝受僱、古典＝接案、浪漫＝明星、印象派＝唱片、現代＝串流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不變的真理：每一個偉大的音樂時代，背後都站著一個願意投資美的金主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橋是雙向的——你投資音樂，音樂也會回頭塑造你的品牌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ap-one-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4572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行動呼籲：成為下一個梅迪奇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78992"/>
            <a:ext cx="908273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你不需要是國王，只需要做一件「對等、可持續、共融」的事</a:t>
            </a:r>
          </a:p>
        </p:txBody>
      </p:sp>
      <p:pic>
        <p:nvPicPr>
          <p:cNvPr id="5" name="Picture 4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052" y="1444752"/>
            <a:ext cx="4783589" cy="4572000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Q&amp;A 與延伸聆聽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歡迎提問：你的品牌可以對應哪一種歷史贊助模式？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延伸聆聽清單：巴赫《郭德堡變奏曲》、貝多芬《第九號交響曲》〈歡樂頌〉、丹薩《Funiculì, Funiculà》、李斯特《鐘》、拉威爾《波麗露》、德布西《月光》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延伸場館：卡內基音樂廳、拜羅伊特節慶劇院、Salle Pleyel、奇美博物館</a:t>
            </a:r>
          </a:p>
        </p:txBody>
      </p:sp>
      <p:pic>
        <p:nvPicPr>
          <p:cNvPr id="5" name="Picture 4" descr="3LiztfE1X7E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德布西《月光 Clair de Lune》——Khatia Buniatishvili（散場墊樂）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Q&amp;A 與散場時輕放，呼應開場　｜　建議 00:00–05:00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379084970226771930.jpg"/>
          <p:cNvPicPr>
            <a:picLocks noChangeAspect="1"/>
          </p:cNvPicPr>
          <p:nvPr/>
        </p:nvPicPr>
        <p:blipFill>
          <a:blip r:embed="rId2"/>
          <a:srcRect t="3" b="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10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2286000"/>
            <a:ext cx="10180015" cy="2743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謝謝：願音樂，成就你的不朽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從巴洛克到印象派，從梅迪奇到你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BE6C2"/>
                </a:solidFill>
                <a:latin typeface="Microsoft JhengHei"/>
                <a:ea typeface="Microsoft JhengHei"/>
                <a:cs typeface="Microsoft JhengHei"/>
              </a:rPr>
              <a:t>願你成為那座橋：讓美與商業，互相成就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謝謝聆聽｜講師資訊與聯絡方式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