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1｜音樂與企業：贊助藝術，如何塑造你的地位、形象與品牌</a:t>
            </a:r>
          </a:p>
          <a:p/>
          <a:p>
            <a:r>
              <a:t>【講稿】（停留約 85 秒）各位老闆、各位做品牌的朋友，午安。先說清楚：今天這段時間，我不會教各位聽懂任何一個音符。我要講的，是一件很實際的事——古今中外，那些最有錢、最有權的人，怎麼用「出錢贊助藝術」這件事，換到錢買不到的東西：地位、名聲、品牌，甚至實實在在的錢。各位一進場，螢幕上放的這支廣告、耳邊這首曲子，其實是同一件事的縮影：這是香奈兒 Chanel No.5「史上最貴的香水廣告」（2004 年、Nicole Kidman 主演），而它的配樂，正是德布西（Claude Debussy）的《月光》（Clair de Lune）。同一段旋律，一百多年前替法國寫下「浪漫」，如今又替一瓶香水賣出「高雅」。請各位放鬆，帶著一個問題聽下去：一首傳世的曲子，當年出錢的人、今天借用它的品牌，到底各自換到了什麼？</a:t>
            </a:r>
          </a:p>
          <a:p>
            <a:r>
              <a:t>【講義補充】</a:t>
            </a:r>
          </a:p>
          <a:p>
            <a:r>
              <a:t>- 開場定調：本場約 90 分鐘主體（含影片觀賞），壓軸再帶全場一起唱《Funiculì, Funiculà》約 20 分鐘；全程站在「出錢的金主／贊助廠商」這一邊、講給企業家聽——不教各位聽懂音符，只談出錢的人到底換到了什麼。</a:t>
            </a:r>
          </a:p>
          <a:p>
            <a:r>
              <a:t>- 主打聆聽：巴赫（Johann Sebastian Bach）《郭德堡變奏曲》（Goldberg Variations）與貝多芬（Ludwig van Beethoven）第九號交響曲末樂章〈歡樂頌〉（Ode to Joy），兩首都在後段各安排專段完整聆聽（確切投影片編號待查證）。</a:t>
            </a:r>
          </a:p>
          <a:p>
            <a:r>
              <a:t>- 核心金句：你成就音樂，音樂也成就你——這句話的另一面，就是全片主軸：贊助廠商出錢，換到七樣東西。</a:t>
            </a:r>
          </a:p>
          <a:p>
            <a:r>
              <a:t>- 「換到七樣東西」是本片替贊助回報整理出的清單；開場先點名其中最直觀的幾樣：地位、名聲、品牌形象，乃至實質金錢（其餘於後段逐站展開，此處只依標題與講稿所言，不預先杜撰全部七項）。</a:t>
            </a:r>
          </a:p>
          <a:p>
            <a:r>
              <a:t>- 一句話總綱：這正是核心命題「你成就音樂，音樂也成就你」——音樂替出錢者帶來名聲與影響力，出錢者則替音樂買單；但本場的鏡頭始終對準金主端。</a:t>
            </a:r>
          </a:p>
          <a:p>
            <a:r>
              <a:t>- 📖 贊助／庇護（patronage）：出資者長期供養藝術家、以換取聲望與影響力的制度；這個字在多數歐洲語言裡直接源自古羅馬富豪梅塞納斯之名（見下條），足見「金主養藝術家」自古就是一門關於名聲的生意，而非單純的善心。</a:t>
            </a:r>
          </a:p>
          <a:p>
            <a:r>
              <a:t>- 📖 梅塞納斯（Gaius Cilnius Maecenas，約公元前 68–前 8 年）：古羅馬鉅富、奧古斯都（Augustus）的親信與政治顧問；他自掏腰包供養詩人維吉爾與賀拉斯，據 Wikipedia／Britannica，他甚至送給賀拉斯一座薩賓（Sabine）山區的莊園。正因為他，法文的 mécène、義大利文的 mecenate、德文的 Mäzen、西班牙文的 mecenas 這些「藝文贊助者」一詞全以他為名——他就是「出錢買下不朽名聲」的原型，也是本片全部論點的老祖宗。</a:t>
            </a:r>
          </a:p>
          <a:p>
            <a:r>
              <a:t>- 📖 維吉爾（Virgil／Publius Vergilius Maro，公元前 70–前 19 年）：古羅馬最負盛名的詩人、史詩《埃涅阿斯紀》（Aeneid）的作者；正因梅塞納斯出資供養，他才有餘裕專心寫作，其名也隨金主一起流傳兩千年。</a:t>
            </a:r>
          </a:p>
          <a:p>
            <a:r>
              <a:t>- 📖 賀拉斯（Horace／Quintus Horatius Flaccus，公元前 65–前 8 年）：古羅馬抒情詩人，《頌歌》（Odes）前三卷即題獻給金主梅塞納斯——這就是後段「題獻的力量」一站的兩千年前版本：作品掛上出錢者的名字，讓贊助者跟著作品一起不朽。</a:t>
            </a:r>
          </a:p>
          <a:p>
            <a:r>
              <a:t>- 📖 奧古斯都（Augustus，公元前 63–公元 14 年）：羅馬帝國第一位皇帝，本名屋大維（Octavian）；梅塞納斯是他的心腹，替他用文藝籠絡人心、經營形象，等於帝國最早的「文化公關總管」，示範了掌權者如何借藝術鞏固地位。</a:t>
            </a:r>
          </a:p>
          <a:p>
            <a:r>
              <a:t>- 📖 德布西（Claude Debussy，1862–1918）：法國作曲家，常被歸為「印象派」（Impressionism）音樂的開創者（他本人其實反對這個標籤）；本場開場與散場都用他的鋼琴曲當背景墊樂。</a:t>
            </a:r>
          </a:p>
          <a:p>
            <a:r>
              <a:t>- 📖 《月光》（Clair de Lune，法文「月光」之意）：德布西《貝加馬斯克組曲》（Suite bergamasque）的第三樂章，約作於 1890 年、直到 1905 年才在出版商說服下付印；靈感來自詩人魏爾倫（Paul Verlaine）1869 年的同名詩。它是鋼琴獨奏、無法合唱，因此只當本場的暖場／散場背景樂，不列入壓軸帶動唱。</a:t>
            </a:r>
          </a:p>
          <a:p>
            <a:r>
              <a:t>- 📖 《貝加馬斯克組曲》（Suite bergamasque）：德布西一套四樂章的鋼琴組曲，《月光》是其中第三樂章；組曲之名取自義大利貝加莫（Bergamo）一帶的意象。</a:t>
            </a:r>
          </a:p>
          <a:p>
            <a:r>
              <a:t>- 📖 魏爾倫（Paul Verlaine，1844–1896）：法國象徵派（Symbolism）詩人，其 1869 年詩作〈月光〉先於音樂存在，德布西再據以譜成鋼琴曲——文字先行、音樂加值的典型組合。</a:t>
            </a:r>
          </a:p>
          <a:p>
            <a:r>
              <a:t>- 📖 《郭德堡變奏曲》（Goldberg Variations）：巴赫 1741 年出版的鍵盤變奏曲；相傳受俄國駐薩克森選帝侯宮廷大使凱瑟林克伯爵（Count Keyserlingk）委託、供其失眠夜聆聽而作（此委託故事屬傳說、細節待查證），無論真假，都是「權貴出錢點播、作品因此傳世」的經典想像，恰好替本片的贊助主軸開場。</a:t>
            </a:r>
          </a:p>
          <a:p>
            <a:r>
              <a:t>- 📖 〈歡樂頌〉（Ode to Joy）：貝多芬第九號交響曲（1824 年首演）末樂章的合唱主題，歌詞取自詩人席勒（Friedrich Schiller）的詩；後來被採為歐盟（European Union）盟歌——一段音樂如何被一個組織拿去當「品牌旗幟」，本身就是本片最好的活教材。</a:t>
            </a:r>
          </a:p>
          <a:p>
            <a:r>
              <a:t>- 📖 《Funiculì, Funiculà》：1880 年的那不勒斯（Naples）歌曲，鄧札（Luigi Denza）作曲、圖爾科（Peppino Turco）作詞，為維蘇威火山（Vesuvius）登山纜車的開通而作——等於纜車業者出錢請人寫歌替新設施造勢；歌曲一炮而紅、傳唱全球，形同替出錢的纜車生意做了一支跨世紀的免費廣告，也呼應後段「實利」一站的纜車故事。</a:t>
            </a:r>
          </a:p>
          <a:p>
            <a:r>
              <a:t>【影片操作】 入場時播放 Chanel No.5《The Film》廣告（配樂即德布西《月光》），音量壓低當墊樂。可於開場時指著畫面說：「各位聽到的《月光》，就是這支史上最貴香水廣告用的曲子——先讓耳朵安靜下來。」</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2｜開場提問：一首曲子，能值多少？</a:t>
            </a:r>
          </a:p>
          <a:p/>
          <a:p>
            <a:r>
              <a:t>【講稿】（停留約 40 秒）把問題講得更白一點。今天我們不談旋律好不好聽，只談一件事：出錢的人，花這筆錢，到底換到了什麼？如果你是老闆、是品牌主管，那麼恭喜你——你正在做的事，跟三百年前佛羅倫斯一位出資養歌劇的銀行家、維也納一位包養樂團的親王，本質一模一樣。差別只在於，他們把預算花在管風琴和歌劇上，你花在代言和贊助上。</a:t>
            </a:r>
          </a:p>
          <a:p>
            <a:r>
              <a:t>【講義補充】</a:t>
            </a:r>
          </a:p>
          <a:p>
            <a:r>
              <a:t>- 本場視角：全程站在「出錢的金主」這一邊，看他們換到什麼。不談音樂家如何經營自己、也不談音樂產業怎麼賺錢。</a:t>
            </a:r>
          </a:p>
          <a:p>
            <a:r>
              <a:t>- 這張是全場的「鉤子」：不評旋律好不好聽，只問一個生意人聽得懂的問題——「花這筆錢，到底換到了什麼？」後面五站（巴洛克、古典、浪漫、印象派、現代橋接）都在替企業家回答這一題。</a:t>
            </a:r>
          </a:p>
          <a:p>
            <a:r>
              <a:t>- 講稿點名的兩個古代金主，都是後面投影片會細講的真實人物：「佛羅倫斯出資養歌劇的銀行家」＝梅迪奇家族（Medici），「維也納包養樂團的親王」＝埃斯特哈齊家族（Esterházy）。開場先用他們，把「贊助＝一種投資」的框架立起來。</a:t>
            </a:r>
          </a:p>
          <a:p>
            <a:r>
              <a:t>- 核心命題「你成就音樂，音樂也成就你」：企業出錢養音樂，音樂回頭給企業它拿錢買不到的東西——聲望、話題、王朝或品牌被後世記住的機會。這張只負責丟問題，答案留到後面五站。</a:t>
            </a:r>
          </a:p>
          <a:p>
            <a:r>
              <a:t>- 一句話對照：三百年前的親王把預算花在管風琴與歌劇上，今天的老闆花在代言與贊助上，動作不同，算盤一樣——都是用錢換「別人怎麼看我」。</a:t>
            </a:r>
          </a:p>
          <a:p>
            <a:r>
              <a:t>- 📖 贊助制（Patronage）：近代以前音樂家幾乎沒有「賣票給大眾」這條路，收入來自宮廷、貴族與教會的長期供養——金主付薪水、給住所、出委託費，換取專屬創作、演出與門面。這套「金主養藝術家」的制度，就是本場整條橋的起點。</a:t>
            </a:r>
          </a:p>
          <a:p>
            <a:r>
              <a:t>- 📖 梅迪奇家族（Medici）：發跡於佛羅倫斯（Florence）的銀行世家，十五至十八世紀靠金融致富，進而掌控佛羅倫斯、受封托斯卡尼大公（Grand Duke of Tuscany），並出過兩位教宗、兩位法國王后。當時＝歐洲最有名的「用錢買文化影響力」的家族，資助對象橫跨達文西、米開朗基羅到後來的歌劇。</a:t>
            </a:r>
          </a:p>
          <a:p>
            <a:r>
              <a:t>- 案例一，梅迪奇養出「歌劇」這門新生意：據載歌劇於一五九八至一六〇〇年間在佛羅倫斯的梅迪奇宮廷圈誕生，作曲家佩里（Jacopo Peri）寫的《尤麗狄斯》（Euridice, 1600）是現存最早的完整歌劇，正是為瑪麗亞·德·梅迪奇（Maria de' Medici）嫁給法王亨利四世（Henri IV）的婚禮而委託創作。金主要的不是「藝術突破」，而是一場全歐矚目的政治聯姻大秀。</a:t>
            </a:r>
          </a:p>
          <a:p>
            <a:r>
              <a:t>- 📖 佛羅倫斯卡梅拉塔（Florentine Camerata）：十六世紀末一群聚在佛羅倫斯的人文學者與音樂家，由巴爾迪伯爵（Count Giovanni de' Bardi）出資召集，想復興古希臘戲劇的唱誦方式；他們的實驗直接催生了歌劇。當時＝一個由貴族買單的「文化智庫兼實驗室」。</a:t>
            </a:r>
          </a:p>
          <a:p>
            <a:r>
              <a:t>- 📖 歌劇（Opera）：義大利文原意「作品」，指以歌唱貫穿全劇、結合音樂、戲劇與舞台美術的大型表演形式。最早的《達芙妮》（Dafne, 約1597，樂譜多已佚失）與《尤麗狄斯》皆出自梅迪奇的贊助圈——它從第一天起就是「靠金主養」的藝術。</a:t>
            </a:r>
          </a:p>
          <a:p>
            <a:r>
              <a:t>- 軼事，最貴的一場婚禮秀：一五八九年梅迪奇的斐迪南一世（Ferdinando I de' Medici）迎娶洛林的克莉絲汀（Christine of Lorraine），婚禮插演的「幕間劇」極盡奢華，據 Flame Tree Pro 記載約相當於今日一千四百萬英鎊，並印製十八本「節慶書」送往各國。金主換到的是——全歐洲宮廷都在模仿、都在談論梅迪奇。</a:t>
            </a:r>
          </a:p>
          <a:p>
            <a:r>
              <a:t>- 📖 幕間劇（Intermedio，複數 intermedi）：文藝復興時期在戲劇幕與幕之間插演的音樂舞蹈場面，配上華麗布景與空中飛人般的機關特效，常比正戲還盛大。當時＝貴族「炫富兼放送政治訊息」的頭號舞台，也是歌劇的前身。</a:t>
            </a:r>
          </a:p>
          <a:p>
            <a:r>
              <a:t>- 📖 埃斯特哈齊家族（Esterházy）：活躍於維也納宮廷圈的匈牙利豪門貴族，家大業大、以贊助音樂聞名。當時＝「用私人樂團當門面」的代表；今天世人還記得這個家族，很大一部分正是因為他們養了海頓。</a:t>
            </a:r>
          </a:p>
          <a:p>
            <a:r>
              <a:t>- 案例二，埃斯特哈齊包養整支樂團：據 Wikipedia，作曲家海頓（Joseph Haydn）一七六一年受聘為副樂長，一七六六年升任正樂長，長年替家族量身寫交響曲與歌劇。金主買到的是——一支隨傳隨到、專屬創作的「自家樂團」，以及隨海頓聲名一起水漲船高的家族聲望。</a:t>
            </a:r>
          </a:p>
          <a:p>
            <a:r>
              <a:t>- 📖 樂長（Kapellmeister）：德文「樂隊／樂團的主管」，宮廷或教會裡統籌全部音樂事務的最高職位——作曲、指揮、管樂手、排練、採買樂器都歸他管。海頓在埃斯特哈齊擔任的就是這個職。當時＝貴族府裡的「音樂總監兼專屬供應商」。</a:t>
            </a:r>
          </a:p>
          <a:p>
            <a:r>
              <a:t>- 📖 弗羅林（florin，又稱 gulden）：當時中歐通行的金／銀幣。據 Wikipedia，海頓的年薪從一七六六年約五百八十三弗羅林，一路調到一七七九年約一千弗羅林，親王另留給他一千弗羅林的退休金——可見一位金主養一名頂級樂長是長期、可觀的固定支出。</a:t>
            </a:r>
          </a:p>
          <a:p>
            <a:r>
              <a:t>- 📖 埃斯特哈薩宮（Esterháza）：埃斯特哈齊家族在匈牙利興建的豪華宮殿，內有歌劇院與木偶劇場，被稱作「匈牙利的凡爾賽宮」（Hungarian Versailles）。當時＝金主把文化贊助「蓋成建築」的極致展示櫃。</a:t>
            </a:r>
          </a:p>
          <a:p>
            <a:r>
              <a:t>- 📖 管風琴（Organ）：教堂與宮廷裡最昂貴、最龐大的樂器，一架造價與工期都驚人，往往由地方富商或貴族出資捐建。當時＝出資者把名字刻進教堂、換取虔誠形象與社會地位的「大型贊助」。</a:t>
            </a:r>
          </a:p>
          <a:p>
            <a:r>
              <a:t>- 📖 代言與冠名贊助（endorsement / naming rights）：現代企業付錢請名人背書、或把品牌冠在球場、賽事、廳堂上，換取曝光與好感。當時＝與梅迪奇印節慶書、埃斯特哈齊蓋宮殿養樂團同一套邏輯的當代版本。</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3｜核心命題：音樂，是最划算的一筆形象投資</a:t>
            </a:r>
          </a:p>
          <a:p/>
          <a:p>
            <a:r>
              <a:t>【講稿】（停留約 75 秒）今天你只要帶走一句話就夠了，我先講在前面。古今中外，最有錢、最有權的人，都搶著出錢贊助音樂——為什麼？講白一點，因為音樂買得到錢買不到的東西。你我都知道，光有錢，不一定換得到尊重，有時還被貼上「暴發戶」的標籤；而藝術，就是把「有錢」升級成「有品味、有地位、讓人打從心裡尊敬」的最好辦法。更關鍵的是，它划算：贊助藝術不是花掉就沒的開銷，是一筆會增值的資產——換到的是地位、聲望、品牌，甚至實實在在的錢。而且這座橋兩頭都通：你出錢成就音樂，音樂也回過頭來成就你。這就是今天唯一的一句話：你成就音樂，音樂也成就你。</a:t>
            </a:r>
          </a:p>
          <a:p>
            <a:r>
              <a:t>【講義補充】</a:t>
            </a:r>
          </a:p>
          <a:p>
            <a:r>
              <a:t>- 這張是全場的「總命題」，一句話收束：「你成就音樂，音樂也成就你」；出錢的金主換到地位與聲望，音樂換到活下去的資源，兩頭都受益（呼應開場的核心命題）。</a:t>
            </a:r>
          </a:p>
          <a:p>
            <a:r>
              <a:t>- 核心心理：藝術替財富「洗格調、加值」，把「有錢」升級成「有品味、有教養、有地位、讓人打從心裡尊敬」；純粹的財富在社會眼中並不自帶尊敬，藝術則是把金錢翻譯成敬意的轉換器。</a:t>
            </a:r>
          </a:p>
          <a:p>
            <a:r>
              <a:t>- 核心邏輯：對金主而言，贊助不是「花掉就沒」的開銷，而是一筆會增值的資產；換回來的是地位、聲望、品牌信任與政治善意，這些正是「錢買不到、卻能靠藝術取得」的東西——這就是本張說「最划算」的實證基礎。</a:t>
            </a:r>
          </a:p>
          <a:p>
            <a:r>
              <a:t>- 這不是近代行銷發明，而是一條至少兩千年不斷的富人共同選擇：從古羅馬的梅塞納斯、文藝復興的梅迪奇、巴洛克宮廷的埃斯特哈齊，到十九世紀的工業鉅子，都用同一套邏輯把錢換成名——後面五站會逐一拆給各位看。</a:t>
            </a:r>
          </a:p>
          <a:p>
            <a:r>
              <a:t>- 贊助者要的從來不只是「好聽」，而是三樣可量化的回報：一是被看見（作品公開展演、掛上贊助者名字），二是被高看（把新富洗成有文化的統治階層），三是被記住（名字隨傑作一起流傳後世，遠比廣告耐久）。</a:t>
            </a:r>
          </a:p>
          <a:p>
            <a:r>
              <a:t>- 以梅迪奇家族為例：他們靠銀行業致富、並非世襲貴族，卻靠大手筆委製藝術，把佛羅倫斯的黃金時代與自家姓氏綁在一起，等於用藝術把「有錢的商人」洗成「城市的實質統治者」，還藉宗教題材為權力鍍上「受神眷顧」的正當性（據多份文藝復興史料）。</a:t>
            </a:r>
          </a:p>
          <a:p>
            <a:r>
              <a:t>- 以埃斯特哈齊家族與海頓為例：親王不只付薪水，還自費蓋起、重建歌劇院，養一整團常設樂手，把偏遠的莊園打造成全歐洲聞名的音樂重鎮；家族的體面與聲望，正是這筆長期投入換來的無形資產（後面巴洛克／古典站會細講）。</a:t>
            </a:r>
          </a:p>
          <a:p>
            <a:r>
              <a:t>- 從投資學看：把贊助當「沉沒成本」的人只看到帳面支出，把它當「增值資產」的人看到的是溢價；本講座整場都在示範後者為什麼算得過來。</a:t>
            </a:r>
          </a:p>
          <a:p>
            <a:r>
              <a:t>- 📖 品牌溢價（brand premium）：因品牌形象而讓同樣的產品能賣更高價、更被信任、更被指名；藝文投資正是墊高品牌溢價的手段，把「差不多的東西」賣出「更貴也有人買」的價差。</a:t>
            </a:r>
          </a:p>
          <a:p>
            <a:r>
              <a:t>- 📖 贊助制／庇護制（patronage）：由有錢有權者（贊助人）長期供養藝術家、包養其創作與生活，換取作品、名聲與門面的一整套制度；四百年間它從宮廷、教會的私人供養，逐步演化成企業贊助與品牌行銷。</a:t>
            </a:r>
          </a:p>
          <a:p>
            <a:r>
              <a:t>- 📖 梅塞納斯（Gaius Maecenas，約公元前 68—前 8 年）：古羅馬皇帝奧古斯都（Augustus）的親信謀臣，用私產供養詩人維吉爾（Virgil）與賀拉斯（Horace），是史上最有名的「藝術贊助者」；他的名字後來直接變成歐洲各語言「藝術金主」的代名詞——法文 mécène、義大利文 mecenate、西班牙文 mecenas（據 Britannica／Wikipedia）。當時＝一位權臣用養詩人來替新政權塑造正面形象，等於今天企業贊助換品牌好感。</a:t>
            </a:r>
          </a:p>
          <a:p>
            <a:r>
              <a:t>- 📖 炫耀性消費（conspicuous consumption）：經濟學家范伯倫（Thorstein Veblen）在 1899 年《有閒階級論》（The Theory of the Leisure Class）提出的概念，指「買超出實際需要、目的是向別人展示財富與身分」的消費行為；贊助藝術是其中最高級、最不俗氣的一種——花錢，卻花得像在做文化貢獻。</a:t>
            </a:r>
          </a:p>
          <a:p>
            <a:r>
              <a:t>- 📖 文化資本（cultural capital）：社會學家布赫迪厄（Pierre Bourdieu）提出，指知識、品味、教養這類「能換到社會地位」的無形資產，分為內化的（談吐品味）、物化的（收藏的藝術品、樂器）、制度化的（學位頭銜）三種；金主贊助藝術，本質是把手上的經濟資本，換成社會更看重的文化資本。</a:t>
            </a:r>
          </a:p>
          <a:p>
            <a:r>
              <a:t>- 📖 軟實力（soft power）：政治學者約瑟夫·奈伊（Joseph Nye，1990 年提出）的概念，指不靠金錢或武力強迫、而靠吸引力與好感讓人自願認同你的能力；贊助藝術是最古老的一種軟實力，讓贊助者不必開口，別人就先對他生出敬意。</a:t>
            </a:r>
          </a:p>
          <a:p>
            <a:r>
              <a:t>- 📖 暴發戶／新富（nouveau riche）：法文原意「新近致富的人」，帶貶義，指有錢但被認為缺乏教養與品味者；藝文贊助正是新富最常用來擺脫這個標籤、把自己抬進「有文化的上流」的手段。</a:t>
            </a:r>
          </a:p>
          <a:p>
            <a:r>
              <a:t>- 📖 銅臭（味）：形容一身銅錢氣、市儈重利的貶詞；典出《後漢書》，東漢崔烈花五百萬錢買到三公之一的司徒官位，其子直言旁人譏其「銅臭」——兩千年前就點破「光有錢會被人看不起」，而這正是藝術能替金主解決的問題。</a:t>
            </a:r>
          </a:p>
          <a:p>
            <a:r>
              <a:t>- 📖 梅迪奇家族（House of Medici）：文藝復興時期佛羅倫斯的銀行業豪族，以科西莫·德·梅迪奇（Cosimo de' Medici）為代表，長期贊助布魯內萊斯基（Brunelleschi）、多那太羅（Donatello）、波提切利（Botticelli）、米開朗基羅（Michelangelo）等大師；當時＝一個靠錢起家的商人家族，用委製藝術買到城市的統治正當性（巴洛克站會再登場）。</a:t>
            </a:r>
          </a:p>
          <a:p>
            <a:r>
              <a:t>- 📖 埃斯特哈齊家族（Esterházy）：匈牙利／奧地利的親王世家，以尼古拉一世（Nikolaus I）為代表，1761 年起長期供養作曲家海頓（Joseph Haydn）；當時＝歐洲最有名的「音樂金主」之一，靠養樂團、蓋歌劇院把家族聲望推上高峰。</a:t>
            </a:r>
          </a:p>
          <a:p>
            <a:r>
              <a:t>- 📖 宮廷樂長（Kapellmeister）：德文原意「樂隊／樂團的主管」，指受貴族或宮廷長期聘任、統籌作曲、指揮、排練與演出的最高音樂職位；海頓在埃斯特哈齊宮廷擔任的正是此職——對金主來說，養一位樂長等於買下一整套隨傳隨到的文化門面。</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4｜為什麼最頂尖的企業，都贊助藝術？</a:t>
            </a:r>
          </a:p>
          <a:p/>
          <a:p>
            <a:r>
              <a:t>【講稿】（停留約 70 秒）在往下看之前，先把最重要的一句話放在最前面：最頂尖的企業，為什麼都贊助藝術？因為有些東西，只有藝術買得到。第一，社會聲望——藝術讓你名正言順地擠進金字塔頂端的圈子，和菁英、政要站在同一個場子。第二，文化資本——它把財富升級成品味與高度，換來真正的尊重。第三，不朽之名——你的名字會被刻進文化史，傳誦數百年。還有品牌差異化、頂級人脈。記住這句定調：贊助藝術從來不是慈善，是金字塔頂端最高級的聲望投資。接下來每一個故事，都會再次證明這件事。</a:t>
            </a:r>
          </a:p>
          <a:p>
            <a:r>
              <a:t>【講義補充】</a:t>
            </a:r>
          </a:p>
          <a:p>
            <a:r>
              <a:t>- 本張是全場的定調頁：後面每一個故事（文藝復興的梅迪奇家族（Medici）、海頓（Haydn）的僱主埃斯特哈齊家族（Esterházy）、威爾第（Verdi）的出版商里柯第（Ricordi）……）都是同一句話的史實註腳——贊助藝術是金字塔頂端最高級的聲望投資，不是慈善。</a:t>
            </a:r>
          </a:p>
          <a:p>
            <a:r>
              <a:t>- 六大回報：社會聲望、文化資本、不朽之名、品牌差異化、影響力與人脈、認同與凝聚；這六項的共同點是「錢本身買不到、只有透過藝術才買得到」的無形資產，也是本片說服企業家掏錢的核心賣點。</a:t>
            </a:r>
          </a:p>
          <a:p>
            <a:r>
              <a:t>- 為什麼非藝術不可？因為金錢本身可複製、可比較，多一個零和少一個零只是量的差別；藝術贊助能把「有錢」轉譯成「有品味、有高度、值得被尊敬」，是身分的升級，而不是單純的開銷。</a:t>
            </a:r>
          </a:p>
          <a:p>
            <a:r>
              <a:t>- 「贊助者」這個身分自古有名有姓：整套概念源自古羅馬的梅塞納斯（見名詞解釋），他把政治資本花在扶植詩人，換來自己的名字兩千年後仍是「藝文金主」的同義詞——這正是「不朽之名」最古老的實例。</a:t>
            </a:r>
          </a:p>
          <a:p>
            <a:r>
              <a:t>- 不朽之名的運作方式：贊助者出錢，作品替他留名。海頓的僱主埃斯特哈齊家族、文藝復興的梅迪奇家族，都因扶植藝術而把家族姓氏寫進了文化史，這是後面幾站會反覆出現的模式。</a:t>
            </a:r>
          </a:p>
          <a:p>
            <a:r>
              <a:t>- 影響力與人脈：頂級藝術場合（沙龍、首演、包廂）是菁英與政要固定聚集的場子，出錢贊助等於買下入場券與「主人」身分，能和決策圈同場、被引薦，這是四百年前金錢難以直接買到的社交門檻。</a:t>
            </a:r>
          </a:p>
          <a:p>
            <a:r>
              <a:t>- 認同與凝聚：對品牌或家族而言，一場眾人同享的音樂經驗能製造共同記憶與歸屬感（本場全場帶動唱《Funiculì, Funiculà》正是同一招的現代版）。</a:t>
            </a:r>
          </a:p>
          <a:p>
            <a:r>
              <a:t>- 現代版仍在運轉：今天企業以「藝術贊助（mécénat）」冠名美術館、音樂廳與樂季，動機與四百年前一致——買聲望、買差異化；但若只借藝術光環去掩蓋爭議，會被批評為「藝術洗白（artwashing）」而反噬聲望，可見這筆投資唯有真心投入才划算。</a:t>
            </a:r>
          </a:p>
          <a:p>
            <a:r>
              <a:t>- 定調：贊助藝術＝最高級的聲望投資，不是慈善。</a:t>
            </a:r>
          </a:p>
          <a:p>
            <a:r>
              <a:t>- 📖 文化資本（cultural capital）：法國社會學家布迪厄（Pierre Bourdieu，1930–2002）提出，指品味、學養、對高雅文化的熟悉度等「軟實力」，可像資本一樣累積、繼承，並轉換成經濟與社會優勢；布迪厄把它分三種形態——具體化（內化成談吐氣質）、客體化（收藏名畫名琴等文化物件）、制度化（如名校學位、頭銜認證）。企業贊助藝術，正是把經濟資本升級成文化資本的手段。</a:t>
            </a:r>
          </a:p>
          <a:p>
            <a:r>
              <a:t>- 📖 布迪厄（Pierre Bourdieu，1930–2002）：二十世紀最具影響力的法國社會學家，1970–80 年代提出文化資本、象徵資本、慣習（habitus）等概念，用來解釋上層階級如何靠「品味」維持並複製自身的優勢地位。</a:t>
            </a:r>
          </a:p>
          <a:p>
            <a:r>
              <a:t>- 📖 象徵資本（symbolic capital）：布迪厄用語，指聲望、名譽、被眾人「認可」本身所形成的力量；贊助藝術累積到的正是這種資本——它不能直接換成鈔票，卻能換來別人心甘情願的尊重與追隨。</a:t>
            </a:r>
          </a:p>
          <a:p>
            <a:r>
              <a:t>- 📖 社會資本（social capital）：指一個人透過人際網絡與圈子關係所能動用的資源總和；本張講的「影響力與人脈」就是它——贊助藝術是打進高階社交圈、把陌生人變成盟友的入場方式。</a:t>
            </a:r>
          </a:p>
          <a:p>
            <a:r>
              <a:t>- 📖 炫耀性消費（conspicuous consumption）：美國經濟學家范伯倫（Thorstein Veblen，1857–1929）於 1899 年《有閒階級論》（The Theory of the Leisure Class）提出，指富人花錢的目的不在實用，而在「被看見自己有能力這樣花」，藉以展示財富與地位；高調贊助藝術，是其中最體面、最不落俗套的一種形式。</a:t>
            </a:r>
          </a:p>
          <a:p>
            <a:r>
              <a:t>- 📖 范伯倫（Thorstein Veblen，1857–1929）：美國經濟學家與社會學家，制度經濟學開創者，以《有閒階級論》聞名，創造「炫耀性消費」「炫耀性有閒」等分析上流社會的名詞。</a:t>
            </a:r>
          </a:p>
          <a:p>
            <a:r>
              <a:t>- 📖 梅塞納斯／藝文贊助（Maecenas／mécénat）：蓋烏斯·梅塞納斯（Gaius Cilnius Maecenas，約公元前 70–前 8 年）是羅馬皇帝奧古斯都（Augustus）的謀臣與親信，出資供養詩人維吉爾（Virgil）與賀拉斯（Horace）並贈以莊園；他的名字後來直接變成歐洲多國語言中「藝文贊助者」一詞（法 mécène、義 mecenate、德 Mäzen），今日企業講的「藝術贊助（mécénat）」正由此而來。</a:t>
            </a:r>
          </a:p>
          <a:p>
            <a:r>
              <a:t>- 📖 金字塔頂端（top of the pyramid）：比喻社會財富與權力結構最上層的極少數人；本片主張，贊助藝術是進入並鞏固這一層的通行證，而不只是行有餘力的點綴。</a:t>
            </a:r>
          </a:p>
          <a:p>
            <a:r>
              <a:t>- 📖 品牌差異化（brand differentiation）：行銷概念，指讓自家品牌在同類競爭者中被辨識出獨特價值；當各家產品性能趨近、難分高下時，關聯高雅藝術能為品牌注入別人抄不走的文化質感與身分感。</a:t>
            </a:r>
          </a:p>
          <a:p>
            <a:r>
              <a:t>- 📖 聲望投資（prestige investment）：本片的定調用語，強調贊助不是無償給予（慈善），而是預期回收「聲望、地位、人脈」等無形報酬的投資，扣住全片「你成就音樂，音樂也成就你、對等交換」主軸。</a:t>
            </a:r>
          </a:p>
          <a:p>
            <a:r>
              <a:t>- 📖 贊助 vs 慈善（sponsorship vs philanthropy）：慈善（philanthropy）是純出於善意、不求回報的捐贈；贊助（sponsorship）則是雙方各取所需的對等交換（拉丁文 quid pro quo，「以此換彼」），出錢方明確期待品牌曝光、聲望或人脈的回報。本片刻意站在「贊助」而非「慈善」這一邊看整部音樂史。</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5｜贊助廠商，到底換到了什麼？（全片地圖）</a:t>
            </a:r>
          </a:p>
          <a:p/>
          <a:p>
            <a:r>
              <a:t>【講稿】（停留約 60 秒）為了讓各位好記，我把古今中外出錢的金主，整理成他們換到的「七樣東西」，這就是今天的地圖。第一樣，地位與權力——梅迪奇。第二樣，集體曝光——一群生意人合資，也就是各位和你們的公會。第三樣，不朽之名——把名字刻進歷史。第四樣，聖地與冠名——一座以你為名的殿堂。第五樣，人才與凝聚。第六樣，國家與企業的形象——國力、觀光、品牌。第七樣，也是最硬的一樣，實實在在的錢——一首歌撐起一家百年公司。接下來，我們一樣一樣看。</a:t>
            </a:r>
          </a:p>
          <a:p>
            <a:r>
              <a:t>【講義補充】</a:t>
            </a:r>
          </a:p>
          <a:p>
            <a:r>
              <a:t>- 這張是「投資報酬率」地圖，不是音樂史地圖：同一個問題貫穿全場——出錢的金主，到底換到了什麼？把四百年來形形色色的贊助行為，收斂成七種可以帶回公司的「回報」，讓各位聽完能對號入座。</a:t>
            </a:r>
          </a:p>
          <a:p>
            <a:r>
              <a:t>- 全片七大回報：①地位與權力 ②集體曝光 ③不朽之名 ④聖地與冠名 ⑤人才與凝聚 ⑥國家與企業形象 ⑦實利。</a:t>
            </a:r>
          </a:p>
          <a:p>
            <a:r>
              <a:t>- 每一段開頭都會回扣這張地圖，方便記憶。</a:t>
            </a:r>
          </a:p>
          <a:p>
            <a:r>
              <a:t>- 七樣各有代表金主，後面一站一站看：①梅迪奇家族（地位與權力）②工商同業合資贊助（集體曝光）③把名字題獻、刻進作品的贊助者（不朽之名）④以出資者為名的殿堂（聖地與冠名）⑤宮廷與企業養才聚人（凝聚）⑥以音樂經營國家與城市形象（形象）⑦一首歌撐起一家百年纜車公司（實利，對應浪漫站的案例）。</a:t>
            </a:r>
          </a:p>
          <a:p>
            <a:r>
              <a:t>- 翻成今天企業的語言，這七樣分別對應：高層背書與話語權、行業聯名與協會曝光、冠名權與命名權（naming rights，把品牌名掛上場館或作品）、長期品牌資產、人才招募與向心力、城市行銷與國家品牌、以及最實在的營收——全場主軸始終站在「掏錢的贊助者換到什麼」這一邊。</a:t>
            </a:r>
          </a:p>
          <a:p>
            <a:r>
              <a:t>- 📖 梅迪奇家族（Medici）：十五世紀翡冷翠（Florence，今譯佛羅倫斯）的銀行世家，1397 年成立梅迪奇銀行，靠雄厚財力實質掌控名義上仍是共和國的翡冷翠達約三百年。科西莫（Cosimo de' Medici）到羅倫佐（Lorenzo de' Medici，1449–1492，人稱「偉大的羅倫佐」）以大量藝術贊助換取政治聲望與家族光環，後世稱他們為「文藝復興的教父」，是本地圖第①樣「地位與權力」的原型，第 6 張起會細看。</a:t>
            </a:r>
          </a:p>
          <a:p>
            <a:r>
              <a:t>- 📖 公會、同業公會（Guild；義大利文 Arte）：中世紀到文藝復興城市裡，同一行業的商人與工匠組成的行會，約等於今天的「公會、商業同業公會」，也就是講稿說的「各位和你們的公會」。翡冷翠的富有大公會（Arti Maggiori，意為「主要公會」）以「一群生意人合資」的方式贊助藝術，替整個行業掛名曝光，正是第②樣「集體曝光」的史實原型。</a:t>
            </a:r>
          </a:p>
          <a:p>
            <a:r>
              <a:t>- 📖 奧爾聖彌額爾教堂與洗禮堂銅門（Orsanmichele；Baptistery doors）：翡冷翠公會集體贊助的兩個經典例子。1339 年起各大公會須在奧爾聖彌額爾外牆各出資供奉一尊守護聖人像；1401 年布商公會（Arte di Calimala，卡利馬拉公會）舉辦洗禮堂銅門競賽，最終由雕塑家吉貝爾提（Lorenzo Ghiberti）得標。各公會競相比拼「誰供奉的像最氣派」，等於用贊助替整個行業打廣告，是「集體曝光」最生動的史實範本。</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6｜第一樣：地位與權力</a:t>
            </a:r>
          </a:p>
          <a:p/>
          <a:p>
            <a:r>
              <a:t>【講稿】（停留約 25 秒）先看第一樣，也是最古老、最直接的一樣——地位與權力。出錢贊助藝術，能把「有錢」直接變成「有地位、有話語權」。這件事，沒有人做得比梅迪奇家族更徹底。</a:t>
            </a:r>
          </a:p>
          <a:p>
            <a:r>
              <a:t>【講義補充】</a:t>
            </a:r>
          </a:p>
          <a:p>
            <a:r>
              <a:t>- 第一樣回報：地位與權力——出錢贊助藝術，能把「有錢」直接兌換成「有地位、有話語權」；這是最古老、也最直接的一種回報。</a:t>
            </a:r>
          </a:p>
          <a:p>
            <a:r>
              <a:t>- 代表案例：梅迪奇家族（Medici；義大利文 Casa de' Medici），一個沒有貴族血統的佛羅倫斯銀行家族，靠贊助藝術與文化，一路買到實質統治權、教宗寶座、法國王后與世襲大公之位。</a:t>
            </a:r>
          </a:p>
          <a:p>
            <a:r>
              <a:t>- 資金來源與起手式：梅迪奇銀行（Medici Bank）由喬凡尼·迪·比奇·德·梅迪奇（Giovanni di Bicci de' Medici，約 1360–1429）於 1397 年在佛羅倫斯創立，起始資本約一萬枚金弗羅林；靠承接「替教宗管錢」的教廷帳房生意成為全歐最大銀行——這既帶來鉅富，也讓家族貼近最高權力。據載喬凡尼過世時家產約十八萬金弗羅林（數字出自後人羅倫佐的家族帳記，僅供參考）。</a:t>
            </a:r>
          </a:p>
          <a:p>
            <a:r>
              <a:t>- 喬凡尼立下的劇本：終生不擔任公職、刻意低調、以「公民美德」自我包裝，並公開支持累進式財產稅（catasto，1427 年開徵）以博取平民支持；他示範的範式是——用錢與人望統治，而不是用頭銜。</a:t>
            </a:r>
          </a:p>
          <a:p>
            <a:r>
              <a:t>- 柯西莫·德·梅迪奇（Cosimo de' Medici，1389–1464，人稱「老柯西莫」il Vecchio）把這套玩到極致：1433 年遭政敵放逐，隔年 1434 年凱旋回城，此後三十年「在幕後」掌控佛羅倫斯，從不公開稱王。教宗庇護二世（Pius II）評他「除了名分，樣樣是國王」。</a:t>
            </a:r>
          </a:p>
          <a:p>
            <a:r>
              <a:t>- 這筆贊助換到的最高回報：柯西莫死後，佛羅倫斯執政團（Signoria）追贈他 Pater Patriae（祖國之父）稱號——這是古羅馬留給西塞羅那種「救國者」的榮銜，並刻上他在聖羅倫佐教堂的墓。錢，買到了一個原本只保留給救國英雄的頭銜。</a:t>
            </a:r>
          </a:p>
          <a:p>
            <a:r>
              <a:t>- 錢砸出了什麼（把家名刻進城市的策略）：資助布魯內雷斯基（Filippo Brunelleschi）完成主教座堂圓頂（1436）、翻建聖羅倫佐（San Lorenzo）教堂；委託米開羅佐（Michelozzo）重建聖馬可修道院（1437 起）並附設佛羅倫斯第一座公共圖書館（1444）、興建梅迪奇宮（Palazzo Medici，1444）；委製多納太羅（Donatello）的青銅《大衛》。這些建築外牆處處掛上梅迪奇家徽（那串圓球 palle），既是慷慨的招牌，也是權力的提醒。</a:t>
            </a:r>
          </a:p>
          <a:p>
            <a:r>
              <a:t>- 文化軟實力：柯西莫出資促成 1439 年「佛羅倫斯大公會議」移師本城，讓教宗、拜占庭皇帝約翰八世（John VIII Palaiologos）與東方教會齊聚一堂——一個銀行家的城市，一躍成為整個基督教世界外交的舞台；他還資助「柏拉圖學院」與費奇諾（Marsilio Ficino）翻譯柏拉圖全集，讓「梅迪奇」三個字等同於古典學問的復興。</a:t>
            </a:r>
          </a:p>
          <a:p>
            <a:r>
              <a:t>- 柯西莫之孫羅倫佐·德·梅迪奇（Lorenzo de' Medici，1449–1492，人稱「偉大的羅倫佐」il Magnifico）把家族聲望推上頂峰：他贊助波提且利（Sandro Botticelli）、資助達文西（Leonardo da Vinci）多年，並把少年米開朗基羅（Michelangelo Buonarroti）收進家中栽培；他本人也寫詩作歌。</a:t>
            </a:r>
          </a:p>
          <a:p>
            <a:r>
              <a:t>- 地位登頂的反證——帕齊陰謀（Pazzi Conspiracy，1478）：敵對的帕齊家族聯手教宗西斯圖斯四世（Sixtus IV）在主教座堂行刺，羅倫佐重傷逃生、其弟朱利亞諾（Giuliano）當場被殺。連對手與一位教宗都要合力除掉他們，正說明這個銀行家族的地位已高到什麼程度。</a:t>
            </a:r>
          </a:p>
          <a:p>
            <a:r>
              <a:t>- 最終兌現：從銀行家變成君主。梅迪奇家族先後產出教宗（利奧十世 Leo X——羅倫佐次子喬凡尼，在位 1513–1521；克萊孟七世 Clement VII，在位 1523–1534；家族聲稱共四位教宗）、兩位法國王后（凱薩琳·德·梅迪奇 Catherine de' Medici、瑪麗·德·梅迪奇 Marie de' Medici），並在 1569 年獲封世襲的「托斯卡尼大公」，統治托斯卡尼直到 1737 年家族絕嗣。錢→藝術→地位→王朝，這條路梅迪奇走得最完整。</a:t>
            </a:r>
          </a:p>
          <a:p>
            <a:r>
              <a:t>- 對企業的一句話：這套「用贊助把財富換成地位與話語權」的劇本，後世金主（下一站的埃斯特哈齊親王等）全在模仿——這正是本場「你成就音樂，音樂也成就你」命題最古老、最教科書級的樣本。</a:t>
            </a:r>
          </a:p>
          <a:p>
            <a:r>
              <a:t>- 📖 金弗羅林（florin，義大利文 fiorino d'oro）：佛羅倫斯自 1252 年起發行的純金貨幣，每枚含金約 3.5 克；因幣值長期穩定，成為當時歐洲跨國貿易與教廷收支的「硬通貨」，文中家產、花費都以它計價。</a:t>
            </a:r>
          </a:p>
          <a:p>
            <a:r>
              <a:t>- 📖 教廷帳房／使徒財庫（Papal Curia／Apostolic Camera）：教宗政府的行政與財政中樞，負責向全歐教會收取稅收與獻金；梅迪奇銀行正是靠當上它的主要往來銀行（等於「教宗的銀行」）而致富，把財力與最高神權綁在一起。</a:t>
            </a:r>
          </a:p>
          <a:p>
            <a:r>
              <a:t>- 📖 執政團（Signoria）：佛羅倫斯共和國的最高行政會議，由數名任期短暫的行政官組成；梅迪奇從不親自占據它，而是在幕後左右人選——所謂「他挑的人，才當得上官」。</a:t>
            </a:r>
          </a:p>
          <a:p>
            <a:r>
              <a:t>- 📖 祖國之父（拉丁文 Pater Patriae）：古羅馬元老院授予救國功臣的最高榮銜（西塞羅、奧古斯都曾獲），中世紀幾近絕跡；佛羅倫斯破例追贈柯西莫，等於用官方名義把一個銀行家抬進「國父」之列。</a:t>
            </a:r>
          </a:p>
          <a:p>
            <a:r>
              <a:t>- 📖 大師傅／老大（義大利文 gran maestro）：時人對柯西莫實質地位的稱呼，指他雖無官職，卻是城邦真正的掌舵者。</a:t>
            </a:r>
          </a:p>
          <a:p>
            <a:r>
              <a:t>- 📖 卡塔斯托（catasto）：佛羅倫斯 1427 年推行的財產申報與累進課稅制度，按資產多寡課稅；梅迪奇公開支持它，以示與平民站同一陣線、藉此收攏民心。</a:t>
            </a:r>
          </a:p>
          <a:p>
            <a:r>
              <a:t>- 📖 佛羅倫斯大公會議（Council of Florence，1439）：天主教會為謀求東、西方教會合一而召開的大公會議，中途由費拉拉移到佛羅倫斯（柯西莫出資促成）；拜占庭皇帝與東方主教皆到場，使佛羅倫斯一時成為國際外交焦點。</a:t>
            </a:r>
          </a:p>
          <a:p>
            <a:r>
              <a:t>- 📖 帕齊陰謀（Pazzi Conspiracy，1478）：由佛羅倫斯另一銀行家族帕齊（Pazzi）主導、獲教宗西斯圖斯四世默許的政變刺殺，目標是推翻梅迪奇；行動失敗後，梅迪奇的權力反而更加鞏固。</a:t>
            </a:r>
          </a:p>
          <a:p>
            <a:r>
              <a:t>- 📖 托斯卡尼大公國（Grand Duchy of Tuscany）：1569 年由教宗頒賜梅迪奇家族的世襲君主之位（首任大公為柯西莫一世 Cosimo I），使家族由「幕後富商」正式升級為受國際承認的統治王朝，一直延續到 1737 年。</a:t>
            </a:r>
          </a:p>
          <a:p>
            <a:r>
              <a:t>- 📖 柏拉圖學院（Platonic Academy）：柯西莫在佛羅倫斯出資扶植的人文學圈，以復興柏拉圖哲學為宗旨；核心人物費奇諾（Marsilio Ficino）在其資助下完成柏拉圖著作的拉丁文全譯——贊助學術，等於替家族掛上「智識守護者」的招牌。</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7｜梅迪奇①：銀行家的痛點——錢多，卻缺地位</a:t>
            </a:r>
          </a:p>
          <a:p/>
          <a:p>
            <a:r>
              <a:t>【講稿】（停留約 70 秒）故事從一個姓氏講起——梅迪奇（Medici）。他們是十五世紀佛羅倫斯的銀行王朝，靠放款起家，生意做到全歐洲，連教宗、國王都跟他們借錢。但這裡有個各位老闆一定能體會的痛點：在那個年代，放款收利息是一門不太光彩的生意——教會白紙黑字說，收利息是一種罪（拉丁文叫 usury，高利貸之罪）。所以梅迪奇的處境是：錢，多到花不完；地位跟名聲，卻買不到。各位有沒有覺得很熟悉？有錢，從來不等於被尊重。梅迪奇當年的難題，就是今天很多成功企業家的難題。</a:t>
            </a:r>
          </a:p>
          <a:p>
            <a:r>
              <a:t>【講義補充】</a:t>
            </a:r>
          </a:p>
          <a:p>
            <a:r>
              <a:t>- 梅迪奇銀行（Medici Bank）由喬凡尼·迪·比奇·德·梅迪奇（Giovanni di Bicci de' Medici）於 1397 年在佛羅倫斯創立，他把原本設在羅馬的分行獨立出來、遷回家鄉佛羅倫斯，開啟這個金融王朝；據 Wikipedia，它在十五世紀是全歐洲規模最大、名聲最好的銀行之一。</a:t>
            </a:r>
          </a:p>
          <a:p>
            <a:r>
              <a:t>- 這個家族真正的金雞母是「替教廷理財」：喬凡尼拿下羅馬教廷（Roman Curia，教宗的行政與財務中樞）的帳戶，據載約 1402 年成為教宗博義九世（Boniface IX）的主要銀行家，這是當時歐洲最肥的一筆生意，靠這條線撐起家族近一個世紀的富貴。這裡藏著一個絕妙的反諷：教會嘴上譴責放貸，錢卻交給放貸的人管。</a:t>
            </a:r>
          </a:p>
          <a:p>
            <a:r>
              <a:t>- 據估計，梅迪奇一度是全歐洲最富有的家族（據 Wikipedia）；1434 年起，科西莫·德·梅迪奇（Cosimo de' Medici）更以「幕後金主」之姿實質統治佛羅倫斯共和國，人前不稱王、人後說了算。</a:t>
            </a:r>
          </a:p>
          <a:p>
            <a:r>
              <a:t>- 這就是各位老闆一定懂的痛點：放款收息在那個年代是「見不得光」的生意。教會把「借錢收利息」定性為 usura（拉丁文，高利貸之罪），視同重罪；1139 年第二次拉特朗會議明文譴責高利貸「為神法與人法所不容」，但丁（Dante）更在《神曲》裡把放高利貸者打入地獄第七層。錢，因此買不到體面。</a:t>
            </a:r>
          </a:p>
          <a:p>
            <a:r>
              <a:t>- 梅迪奇的解套是「匯票」（bill of exchange）：把利息藏進不同城市、不同貨幣之間的匯率差，帳面上是「換匯」而非「放貸」，神學家於是睜一隻眼閉一隻眼、教會挑不出毛病。據 moneymuseum 舉例，這樣一趟跨國匯兌半年約可淨賺一成，本質就是利息，帳面上卻是「換匯獲利」、不算犯罪。</a:t>
            </a:r>
          </a:p>
          <a:p>
            <a:r>
              <a:t>- 錢賺得再漂亮，良心與名聲的帳還是要還——這正是後面整個「贊助換名聲」故事的起點。相傳科西莫晚年為了「洗清放貸的罪」，去請教銀行的大客戶教宗尤金四世（Pope Eugenius IV），教宗開的藥方是「拿一萬弗洛林去修聖馬可修道院（San Marco）」；1437 年起科西莫累計砸下約三萬六千弗洛林重建修道院，教宗則正式宣告赦免其罪，這段赦罪文字後來被刻在教堂聖器室的門楣上（據傳記家韋斯帕夏諾·達·比斯提奇（Vespasiano da Bisticci）記載，帶有相傳性質）。</a:t>
            </a:r>
          </a:p>
          <a:p>
            <a:r>
              <a:t>- 一句話總結本場的起手式：有錢不等於有地位。梅迪奇的難題——錢多到花不完、名聲與救贖卻買不到——恰恰逼出接下來幾站的答案：把錢投進藝術、建築與音樂，用「贊助者」的身分，把商業財富換成社會聲望、宗教正當性與家族不朽。</a:t>
            </a:r>
          </a:p>
          <a:p>
            <a:r>
              <a:t>- 📖 梅迪奇家族（House of Medici）：1397 年喬凡尼·迪·比奇創辦梅迪奇銀行，成為 15 世紀歐洲最大金融機構之一；1434 年起實質統治佛羅倫斯，後代還出過教宗與法國王后，是「用錢買地位」最成功的家族範本。</a:t>
            </a:r>
          </a:p>
          <a:p>
            <a:r>
              <a:t>- 📖 喬凡尼·迪·比奇（Giovanni di Bicci de' Medici，約 1360–1429）：家族的開基祖，梅迪奇銀行創辦人，靠替教廷理財奠定財富根基，卻仍被視為「暴發戶」，替後代留下了「有錢缺地位」的原始課題。</a:t>
            </a:r>
          </a:p>
          <a:p>
            <a:r>
              <a:t>- 📖 科西莫·德·梅迪奇（Cosimo de' Medici，1389–1464）：喬凡尼之子、家族最會經營的掌門人，1434 年起以財富與人脈幕後掌控佛羅倫斯，死後獲贈「國父」（Pater Patriae）尊號，也是把「花錢買名聲」玩到極致的第一代大贊助者。</a:t>
            </a:r>
          </a:p>
          <a:p>
            <a:r>
              <a:t>- 📖 佛羅倫斯（Florence，義大利文 Firenze）：義大利中部托斯卡尼地區的城市共和國，十五世紀歐洲毛紡與銀行業重鎮、文藝復興發源地，也是梅迪奇家族的大本營。</a:t>
            </a:r>
          </a:p>
          <a:p>
            <a:r>
              <a:t>- 📖 弗洛林（florin，義大利文 fiorino）：佛羅倫斯自 1252 年起鑄造的金幣，含金量穩定，是中世紀晚期歐洲跨國貿易通用的「硬通貨」；一萬弗洛林在當時足以重建一座修道院，可見科西莫贊助手筆之大。</a:t>
            </a:r>
          </a:p>
          <a:p>
            <a:r>
              <a:t>- 📖 高利貸之罪（usury，拉丁文 usura）：中世紀教會把「借錢收利息」視為罪，銀行家因此背負道德污名，形成「錢多、地位低」的痛點；神學家的說法是「金錢本身不會生育」，靠錢生錢因而不義。</a:t>
            </a:r>
          </a:p>
          <a:p>
            <a:r>
              <a:t>- 📖 匯票（bill of exchange，拉丁文 cambium）：一種跨城、跨幣的付款憑證，商人可先在甲地付錢、日後在乙地以另一種貨幣領款；因為名義上是「換匯」而不算放貸，成了規避高利貸禁令、把利息偷偷藏進匯率的合法工具。</a:t>
            </a:r>
          </a:p>
          <a:p>
            <a:r>
              <a:t>- 📖 羅馬教廷（Roman Curia）：教宗治理天主教會的中央行政與財務機構；替它管錢是當時歐洲最穩、最賺的金融業務，也是梅迪奇銀行的命脈。</a:t>
            </a:r>
          </a:p>
          <a:p>
            <a:r>
              <a:t>- 📖 尤金四世（Pope Eugenius IV，在位 1431–1447）：梅迪奇銀行的大客戶兼教宗，據載他建議科西莫捐錢修聖馬可修道院以贖罪，是金主與教會之間「你出錢、我赦罪」的經典交換案例。</a:t>
            </a:r>
          </a:p>
          <a:p>
            <a:r>
              <a:t>- 📖 聖馬可修道院（Convent of San Marco）：佛羅倫斯的道明會修道院，1437 年起由科西莫出資重建，院內有名畫家安傑利科修士（Fra Angelico）的濕壁畫，是「用捐建洗白財富、換取救贖與聲望」的代表作。</a:t>
            </a:r>
          </a:p>
          <a:p>
            <a:r>
              <a:t>- 📖 第二次拉特朗會議（Second Lateran Council，1139）：教宗在羅馬拉特朗召開的大公會議，明文把高利貸定為「神法與人法所不容」之罪，是教會反高利貸立場的重要里程碑。</a:t>
            </a:r>
          </a:p>
          <a:p>
            <a:r>
              <a:t>- 📖 但丁《神曲》（Dante Alighieri，Divina Commedia，約 1308–1320）：義大利文學經典長詩，把放高利貸者打入地獄第七層，反映當時社會對「靠錢生錢」者的道德鄙夷，正是梅迪奇必須花錢洗白的輿論背景。</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8｜梅迪奇②：用藝術，把錢變成權力</a:t>
            </a:r>
          </a:p>
          <a:p/>
          <a:p>
            <a:r>
              <a:t>【講稿】（停留約 85 秒）梅迪奇怎麼破解這個痛點？把賺來的錢，一車一車砸進藝術。他們把十來歲的米開朗基羅（Michelangelo）接進自家花園栽培、出錢資助波提切利（Botticelli）畫下傳世名作。結果這一手「用藝術洗格調」，回報大到連他們自己都想不到——這個「放款的家族」，後來出了兩位羅馬教宗、兩位法國王后，成了實質統治佛羅倫斯、左右整個歐洲的權力核心。至於他們怎麼把家族嫁進歐洲王室、又怎麼順手催生了「歌劇」，下面兩張投影片會分開講。所以你看，梅迪奇證明了一件事：藝術能把純粹的財富，洗成統治歐洲的正當性。各位先把「梅迪奇」記住——今天最後，我會請在座每一位，認真想想怎麼「成為下一個梅迪奇」。</a:t>
            </a:r>
          </a:p>
          <a:p>
            <a:r>
              <a:t>【講義補充】</a:t>
            </a:r>
          </a:p>
          <a:p>
            <a:r>
              <a:t>- 一句話先記住：梅迪奇（Medici）示範了一件事——藝術能把「純粹的財富」洗成「有權力、有正當性」；這也是今天請每位企業家思考「怎麼成為下一個梅迪奇」的原型。</a:t>
            </a:r>
          </a:p>
          <a:p>
            <a:r>
              <a:t>- 錢從哪來（贊助者的本業）：這是一個「放款的家族」，靠銀行起家。1397 年喬凡尼·迪·比奇（Giovanni di Bicci de' Medici）在佛羅倫斯創辦梅迪奇銀行，最賺錢的生意是替羅馬教廷管錢；據載光是羅馬分行的教廷業務，就佔了全行約一半利潤——先有這台印鈔機，才有後面「一車一車砸進藝術」的本錢。</a:t>
            </a:r>
          </a:p>
          <a:p>
            <a:r>
              <a:t>- 錢怎麼變權：1434 年老柯西莫（Cosimo de' Medici）掌家後，靠著國庫依賴梅迪奇信貸、各家族依賴梅迪奇貸款與人脈，加上操作選制，讓一個沒有正式王位的銀行家族，成為佛羅倫斯共和國實質的統治者——這正是講稿說的「把賺來的錢變成權力」的機制。</a:t>
            </a:r>
          </a:p>
          <a:p>
            <a:r>
              <a:t>- 贊助標的一：把十來歲的米開朗基羅（Michelangelo）接進自家花園栽培。約 1489 年、他十四五歲時，被「偉大的羅倫佐」（Lorenzo il Magnifico）納入梅迪奇宅邸，在家族的雕塑花園臨摹家藏古代雕像，還坐上家族餐桌、混進當時第一流的學者圈——等於用家族資源，替自己養出一位日後的曠世巨匠。</a:t>
            </a:r>
          </a:p>
          <a:p>
            <a:r>
              <a:t>- 贊助標的二：出錢資助波提切利（Sandro Botticelli）。梅迪奇家與其圈子委製了《春》（Primavera）與《維納斯的誕生》（The Birth of Venus）等傳世名作（學界多繫於家族堂支羅倫佐·迪·皮耶爾弗蘭切斯科名下，年代約 1480 年代）——這些畫作至今仍是文藝復興的門面。</a:t>
            </a:r>
          </a:p>
          <a:p>
            <a:r>
              <a:t>- 回報大到自己都想不到：這個「放款的家族」，後來出了兩位羅馬教宗、兩位法國王后，把地方金主升級成左右整個歐洲的權力核心——藝術這一手「洗格調」的投資報酬率，遠超本業放款。</a:t>
            </a:r>
          </a:p>
          <a:p>
            <a:r>
              <a:t>- 兩位教宗：利奧十世（Leo X，本名 Giovanni de' Medici，偉大的羅倫佐之子，在位 1513–1521）與克萊門七世（Clement VII，本名 Giulio de' Medici，在位 1523–1534）——家族直接把人送上天主教世界的頂點。</a:t>
            </a:r>
          </a:p>
          <a:p>
            <a:r>
              <a:t>- 兩位法國王后：凱瑟琳·德·梅迪奇（Catherine de' Medici，1533 年嫁給後來的法王亨利二世（Henry II），1547 年起為王后）與瑪麗·德·梅迪奇（Marie de' Medici，1600 年嫁給法王亨利四世（Henry IV），王后任內 1600–1610，之後為其子路易十三攝政）——用聯姻把佛羅倫斯的錢，換成法蘭西王室的血緣與影響力。</a:t>
            </a:r>
          </a:p>
          <a:p>
            <a:r>
              <a:t>- 「最時髦的新玩意」＝歌劇：1600 年瑪麗與亨利四世的聯姻大典，梅迪奇端出的排場，就是後世稱為「歌劇」的全新藝術；用最前衛的藝術替家族婚事撐場面、宣告身分，是典型的「贊助換聲量」。</a:t>
            </a:r>
          </a:p>
          <a:p>
            <a:r>
              <a:t>- 這場婚禮的作品就是《尤麗狄切》（Euridice）：1600 年 10 月 6 日於佛羅倫斯皮蒂宮（Palazzo Pitti）首演，作曲家佩里（Jacopo Peri）親自登台。它被視為現存最早的一部歌劇（更早的《達芙妮》（Dafne，1597）已佚失）——今天全片壓軸聆聽的曲目脈絡，就是從梅迪奇這筆婚禮預算開始的。</a:t>
            </a:r>
          </a:p>
          <a:p>
            <a:r>
              <a:t>- 與其他投影片的呼應：本張是「梅迪奇②」，承接前一張的「痛點」，把答案收在「用藝術把錢變成權力」；也預告全片收尾——請在座每位認真想「成為下一個梅迪奇」。</a:t>
            </a:r>
          </a:p>
          <a:p>
            <a:r>
              <a:t>- 📖 梅迪奇家族（House of Medici / de' Medici）：發跡於佛羅倫斯的銀行世家，15–18 世紀是義大利乃至歐洲最有影響力的贊助者家族；當時＝靠替教廷管錢致富、再用藝術贊助換取政治正當性的「金主原型」。</a:t>
            </a:r>
          </a:p>
          <a:p>
            <a:r>
              <a:t>- 📖 佛羅倫斯（Florence／義大利文 Firenze）：義大利中部托斯卡尼地區的城市共和國；當時＝文藝復興的發源地與歐洲金融、藝術中心，梅迪奇的大本營。</a:t>
            </a:r>
          </a:p>
          <a:p>
            <a:r>
              <a:t>- 📖 文藝復興（Renaissance／義大利文 Rinascimento，意為「重生」）：約 14–16 世紀起於義大利、重新發揚古希臘羅馬文化的藝術與思想運動；當時＝梅迪奇等富商用金錢催化、並藉以提升門第的一波文化浪潮。</a:t>
            </a:r>
          </a:p>
          <a:p>
            <a:r>
              <a:t>- 📖 梅迪奇銀行（Medici Bank）：1397 年創立、1494 年沒落的家族銀行；當時＝歐洲最富盛名的金融機構之一，最大客戶是羅馬教廷，是家族一切財富與權力的源頭。</a:t>
            </a:r>
          </a:p>
          <a:p>
            <a:r>
              <a:t>- 📖 弗羅林（florin，佛羅倫斯金幣）：佛羅倫斯自 13 世紀起鑄造的金幣，通行全歐；當時＝跨國貿易與教廷往來的「硬通貨」，衡量梅迪奇財力的單位。</a:t>
            </a:r>
          </a:p>
          <a:p>
            <a:r>
              <a:t>- 📖 教廷（Papal Curia）：羅馬天主教教宗的行政與財務中樞；當時＝梅迪奇銀行最賺錢的客戶，掌握全歐教會的金流。</a:t>
            </a:r>
          </a:p>
          <a:p>
            <a:r>
              <a:t>- 📖 偉大的羅倫佐（Lorenzo de' Medici, il Magnifico，1449–1492）：梅迪奇家族最著名的贊助者兼實質統治者；當時＝栽培米開朗基羅、資助多位巨匠的「藝術金主」代名詞。</a:t>
            </a:r>
          </a:p>
          <a:p>
            <a:r>
              <a:t>- 📖 老柯西莫（Cosimo de' Medici, the Elder，1389–1464）：喬凡尼之子，1434 年起成為佛羅倫斯無冕的實質統治者；當時＝把銀行財力轉成政治控制的關鍵人物。</a:t>
            </a:r>
          </a:p>
          <a:p>
            <a:r>
              <a:t>- 📖 米開朗基羅（Michelangelo Buonarroti，1475–1564）：文藝復興雕塑、繪畫、建築巨匠；當時＝被梅迪奇少年時即收進家門栽培的「贊助成果」樣板。</a:t>
            </a:r>
          </a:p>
          <a:p>
            <a:r>
              <a:t>- 📖 波提切利（Sandro Botticelli，約 1445–1510）：佛羅倫斯畫家，《春》《維納斯的誕生》作者；當時＝梅迪奇圈子出資委製、替家族妝點門面的畫師。</a:t>
            </a:r>
          </a:p>
          <a:p>
            <a:r>
              <a:t>- 📖 教宗（Pope，羅馬教宗）：天主教會最高領袖；當時＝歐洲政教兩界的頂點，梅迪奇家族先後兩度把自家人送上此位。</a:t>
            </a:r>
          </a:p>
          <a:p>
            <a:r>
              <a:t>- 📖 王后／攝政（Queen consort／Regent）：王后即國王配偶，攝政指君主年幼或缺位時代行王權者；當時＝梅迪奇兩位女兒藉聯姻取得的法國王室身分（瑪麗後來還替幼子路易十三攝政）。</a:t>
            </a:r>
          </a:p>
          <a:p>
            <a:r>
              <a:t>- 📖 《尤麗狄切》（Euridice）：佩里作曲、里努契尼（Ottavio Rinuccini）作詞的音樂戲劇，取材希臘神話奧菲斯與尤麗狄切；當時＝為梅迪奇聯姻大典而作、現存最早的一部歌劇。</a:t>
            </a:r>
          </a:p>
          <a:p>
            <a:r>
              <a:t>- 📖 歌劇（Opera，義大利文原意「作品」）：以歌唱貫穿全劇、結合音樂與戲劇的舞台形式；當時＝1600 年前後剛在佛羅倫斯誕生的「最時髦新玩意」，被梅迪奇用來替婚禮撐場面。</a:t>
            </a:r>
          </a:p>
          <a:p>
            <a:r>
              <a:t>- 📖 皮蒂宮（Palazzo Pitti）：佛羅倫斯的大型宮殿，後為梅迪奇家族宅邸；當時＝1600 年《尤麗狄切》首演的場地。</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9｜梅迪奇③：把女兒嫁成王后，把錢變成血緣</a:t>
            </a:r>
          </a:p>
          <a:p/>
          <a:p>
            <a:r>
              <a:t>【講稿】（停留約 55 秒）梅迪奇把「用藝術洗格調」這件事，玩到了最高段——他們把家族的女兒，嫁進了歐洲最高的王室。凱瑟琳·德·梅迪奇，1533 年嫁給後來的法王亨利二世，成了法國王后；六十多年後，瑪麗·德·梅迪奇，1600 年又嫁給法王亨利四世，再一位法國王后。各位想想：一個放款起家、連貴族血統都沒有的商人家族，靠著藝術累積的聲望與人脈，居然把自家女兒送上了法蘭西的王座。這就是把「錢」一路換成「格調」、再換成「血緣」的完整示範。</a:t>
            </a:r>
          </a:p>
          <a:p>
            <a:r>
              <a:t>【講義補充】</a:t>
            </a:r>
          </a:p>
          <a:p>
            <a:r>
              <a:t>- 兩位法國王后：凱瑟琳·德·梅迪奇（Catherine de' Medici，1533 年嫁給後來的法王亨利二世（Henry II），1547 年起為王后）與瑪麗·德·梅迪奇（Marie de' Medici，1600 年嫁給法王亨利四世（Henry IV），王后任內 1600–1610，之後為其子路易十三攝政）。</a:t>
            </a:r>
          </a:p>
          <a:p>
            <a:r>
              <a:t>- 聯姻的本質：用藝術與贊助累積的聲望作底氣，把佛羅倫斯的商業財富，換成法蘭西王室的血緣與長期影響力——這是「贊助換地位」故事裡最極致的一步。</a:t>
            </a:r>
          </a:p>
          <a:p>
            <a:r>
              <a:t>- 家族總共出了四位羅馬教宗、兩位法國王后（據 Wikipedia／Britannica）：一個沒有貴族血統的銀行家族，靠藝術與聯姻擠進了歐洲最高的權力圈。</a:t>
            </a:r>
          </a:p>
          <a:p>
            <a:r>
              <a:t>- 這也是給企業家的一課：頂級的形象投資，最終買到的不只是「被看見」，而是「被接納」——被最高的圈子當成自己人。</a:t>
            </a:r>
          </a:p>
          <a:p>
            <a:r>
              <a:t>- 📖 凱瑟琳·德·梅迪奇（Catherine de' Medici，1519–1589）：梅迪奇家族之女，嫁法王亨利二世為后，三個兒子先後為法王，長期實質左右法國政局，是「聯姻把商人家族送進王室」的代表。</a:t>
            </a:r>
          </a:p>
          <a:p>
            <a:r>
              <a:t>- 📖 瑪麗·德·梅迪奇（Marie de' Medici，1575–1642）：梅迪奇家族之女，1600 年嫁法王亨利四世，1610 年亨利四世遇刺後為幼子路易十三攝政；她的婚禮，也正是歌劇《尤麗狄切》首演的場合（見下一張）。</a:t>
            </a:r>
          </a:p>
          <a:p>
            <a:r>
              <a:t>- 📖 亨利四世（Henri IV，1553–1610）：波旁王朝首位法王；1600 年迎娶瑪麗·德·梅迪奇，這場世紀婚禮成了梅迪奇對外展示財力與品味的大舞台。</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10｜梅迪奇④：一場王室婚禮，催生了「歌劇」</a:t>
            </a:r>
          </a:p>
          <a:p/>
          <a:p>
            <a:r>
              <a:t>【講稿】（停留約 60 秒）而瑪麗·德·梅迪奇那場 1600 年的婚禮，還替我們留下了一份意外的大禮。梅迪奇要辦一場全歐洲都在看的排場，端出了當時最時髦的新玩意——一種用歌唱從頭貫穿到尾的表演，也就是後世說的「歌劇」。這場婚禮上演的作品叫《尤麗狄切》，作曲家佩里親自登台，在佛羅倫斯的皮蒂宮首演。而它，被公認是現存最早的一部歌劇。各位聽清楚了：「歌劇」這一整門藝術，最早就是被一筆王室婚禮的贊助預算給催生出來的。金主要的，其實只是一場政治聯姻的大秀；藝術史上的突破，是順帶的副產品。</a:t>
            </a:r>
          </a:p>
          <a:p>
            <a:r>
              <a:t>【講義補充】</a:t>
            </a:r>
          </a:p>
          <a:p>
            <a:r>
              <a:t>- 「最時髦的新玩意」＝歌劇：1600 年瑪麗與亨利四世的聯姻大典，梅迪奇端出的排場，就是後世稱為「歌劇」的全新藝術；用最前衛的藝術替家族婚事撐場面、宣告身分，是典型的「贊助換聲量」。</a:t>
            </a:r>
          </a:p>
          <a:p>
            <a:r>
              <a:t>- 這場婚禮的作品就是《尤麗狄切》（Euridice）：1600 年 10 月 6 日於佛羅倫斯皮蒂宮（Palazzo Pitti）首演，作曲家佩里（Jacopo Peri）親自登台。它被視為現存最早的一部歌劇（更早的《達芙妮》（Dafne，1597）已佚失）。</a:t>
            </a:r>
          </a:p>
          <a:p>
            <a:r>
              <a:t>- 誕生的搖籃是「佛羅倫斯卡梅拉塔」：約 1573–1592 年間，一群音樂家與人文學者，在巴爾迪伯爵（Count Giovanni de' Bardi）出資召集的沙龍裡，為復興古希臘戲劇而實驗，直接催生了歌劇——又一個「由金主買單的實驗室」。</a:t>
            </a:r>
          </a:p>
          <a:p>
            <a:r>
              <a:t>- 對企業家的一句話：連「歌劇」這種延續四百年、養活無數城市的產業，源頭都是一筆贊助預算。你今天的一次委創，也可能是某個未來產業的第一張骨牌。</a:t>
            </a:r>
          </a:p>
          <a:p>
            <a:r>
              <a:t>- 📖 《尤麗狄切》（Euridice）：佩里作曲、里努契尼（Ottavio Rinuccini）作詞，取材希臘神話奧菲斯與尤麗狄切；為梅迪奇聯姻大典而作，是現存最早、留有完整樂譜的一部歌劇。</a:t>
            </a:r>
          </a:p>
          <a:p>
            <a:r>
              <a:t>- 📖 佩里（Jacopo Peri，1561–1633）：佛羅倫斯作曲家、歌手，《尤麗狄切》作曲者並親自登台演出；投影片上的圖，是他 1589 年於梅迪奇宮廷幕間劇中飾演阿里翁（Arione）的造型。</a:t>
            </a:r>
          </a:p>
          <a:p>
            <a:r>
              <a:t>- 📖 皮蒂宮（Palazzo Pitti）：佛羅倫斯的大型宮殿，後為梅迪奇家族宅邸；1600 年《尤麗狄切》首演的場地。</a:t>
            </a:r>
          </a:p>
          <a:p>
            <a:r>
              <a:t>- 📖 歌劇（Opera，義大利文原意「作品」）：以歌唱貫穿全劇、結合音樂與戲劇的舞台形式；1600 年前後剛在佛羅倫斯誕生的「最時髦新玩意」，被梅迪奇用來替婚禮撐場面。</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11｜藝術，是頂端最高級的「社交貨幣」</a:t>
            </a:r>
          </a:p>
          <a:p/>
          <a:p>
            <a:r>
              <a:t>【講稿】（停留約 55 秒）從梅迪奇身上，我們看到贊助藝術的第一個副作用——它是一種「社交貨幣」。當你贊助一場音樂會、辦一次藝文活動，你就名正言順地，和城裡最有影響力的菁英、政要、名流，站在同一個場子裡。而且在那個場子裡，你談的不再是報價、折扣、殺價，而是品味、格調、共同的價值。各位做生意都懂，最難的往往不是產品，是「進對圈子」。贊助藝術，就是進圈子最高效、最不著痕跡的一張門票。</a:t>
            </a:r>
          </a:p>
          <a:p>
            <a:r>
              <a:t>【講義補充】</a:t>
            </a:r>
          </a:p>
          <a:p>
            <a:r>
              <a:t>- 藝術贊助＝進入菁英圈的「社交貨幣」，一次贊助就換到人脈、話題與信任，這是梅迪奇家族留給後世贊助者最實用的一課。</a:t>
            </a:r>
          </a:p>
          <a:p>
            <a:r>
              <a:t>- 對做生意的人來說，比起一般應酬飯局，藝文場合更能建立「品味共同體」式的高端關係，因為現場談的是價值與格調，而不是報價與折扣。</a:t>
            </a:r>
          </a:p>
          <a:p>
            <a:r>
              <a:t>- 梅迪奇家族本是放款起家的商人、沒有貴族血統，卻靠著大手筆贊助藝術，把「暴發戶銀行家」的形象洗成「文藝守護者」，用文化替家族買到了主導佛羅倫斯近三百年的正當性（據載家族聲勢綿延約三百年）。</a:t>
            </a:r>
          </a:p>
          <a:p>
            <a:r>
              <a:t>- 這套操作的精髓是「不著痕跡」：科西莫從不自封官職，表面維持共和體制，實際用金錢與人情在幕後操盤，贊助教堂、圖書館、雕塑，讓全城菁英都欠他一份人情，這正是講稿說的「最不著痕跡的一張門票」。</a:t>
            </a:r>
          </a:p>
          <a:p>
            <a:r>
              <a:t>- 到孫子羅倫佐這一代，梅迪奇宅邸成了全歐洲最頂級的沙龍，十三歲的米開朗基羅（Michelangelo）就是在這裡被相中、被供養，藝術家日後名滿天下，也等於替梅迪奇這塊招牌長期背書。</a:t>
            </a:r>
          </a:p>
          <a:p>
            <a:r>
              <a:t>- 這張「社交貨幣」最終兌現成看得見的權力：家族總共出了四位羅馬教宗、兩位法國王后（據 Wikipedia／Britannica），一個放款的商人家族，靠藝術與聯姻擠進了歐洲最高的權力圈。</a:t>
            </a:r>
          </a:p>
          <a:p>
            <a:r>
              <a:t>- 呼應後面幾站：1600 年瑪麗亞·德·梅迪奇（Maria de' Medici）下嫁法王亨利四世（Henry IV）的世紀婚禮，正是用一齣歌劇《尤麗狄茜》（Euridice）當國禮，藝術在這裡既是排場、又是外交貨幣，橋的兩端同時受益。</a:t>
            </a:r>
          </a:p>
          <a:p>
            <a:r>
              <a:t>- 📖 社交貨幣（social currency）：現代行銷與社會學的用語，指一個人或品牌因為「值得被談論、被分享」而累積的社會價值；當時＝梅迪奇贊助的藝術品與音樂會，就是讓別人爭相談論、樂於與之交往的談資與門面。</a:t>
            </a:r>
          </a:p>
          <a:p>
            <a:r>
              <a:t>- 📖 文化資本（cultural capital）：法國社會學家布赫迪厄（Pierre Bourdieu，1930—2002）提出的概念，指教育、品味、藝術知識這類非金錢卻能換到社會地位的資產；當時＝梅迪奇刻意把賺來的錢轉換成藝術收藏與贊助，變成一種更高級、更難被模仿的身分象徵。</a:t>
            </a:r>
          </a:p>
          <a:p>
            <a:r>
              <a:t>- 📖 社會資本（social capital）：同為布赫迪厄的概念，指一個人透過人脈網絡所能動用的資源總和；當時＝在藝文場合結識的教宗、君主與名流，就是梅迪奇日後借款、聯姻、談生意時可調度的關係本金。</a:t>
            </a:r>
          </a:p>
          <a:p>
            <a:r>
              <a:t>- 📖 梅迪奇家族（House of Medici）：約十五至十八世紀主宰佛羅倫斯的銀行世家與統治家族，以藝術贊助聞名，被視為文藝復興「金主」的代名詞。</a:t>
            </a:r>
          </a:p>
          <a:p>
            <a:r>
              <a:t>- 📖 梅迪奇銀行（Medici Bank）：1397 年由喬凡尼·迪·比奇·德·梅迪奇（Giovanni di Bicci de' Medici）創立，全盛期是全歐洲最大、最受信任的金融機構，並成為教廷的主要往來銀行，龐大財力正是家族得以大手筆贊助的底氣。</a:t>
            </a:r>
          </a:p>
          <a:p>
            <a:r>
              <a:t>- 📖 科西莫·德·梅迪奇（Cosimo de' Medici，1389—1464）：人稱「老科西莫」，死後獲佛羅倫斯追封「國父」（Pater Patriae，拉丁文，意為「祖國之父」），是家族政治霸業的奠基者，開創以贊助文化來換取政治影響力的模式。</a:t>
            </a:r>
          </a:p>
          <a:p>
            <a:r>
              <a:t>- 📖 羅倫佐·德·梅迪奇（Lorenzo de' Medici，1449—1492）：科西莫之孫，人稱「豪華者羅倫佐」（il Magnifico，義大利文，意為「偉大／華麗者」），是梅迪奇文化贊助的巔峰代表，米開朗基羅、波提切利（Sandro Botticelli）皆受其庇蔭。</a:t>
            </a:r>
          </a:p>
          <a:p>
            <a:r>
              <a:t>- 📖 柏拉圖學院（Accademia Platonica，Platonic Academy）：科西莫出資、由學者費奇諾（Marsilio Ficino）主持的人文主義學術圈，把古希臘哲學重新帶回佛羅倫斯；當時＝一個由金主買單、讓菁英聚在一起「談思想、談品味」的高端俱樂部。</a:t>
            </a:r>
          </a:p>
          <a:p>
            <a:r>
              <a:t>- 📖 佛羅倫斯卡梅拉塔（Florentine Camerata，又稱 Camerata de' Bardi）：約 1573—1592 年間在貴族兼贊助人巴爾迪伯爵（Count Giovanni de' Bardi）家中聚會的音樂家與人文學者社群，為復興古希臘戲劇而催生了歌劇；當時＝一個由贊助者提供場地與經費的沙龍，證明「圈子」也能孵化出全新藝術。</a:t>
            </a:r>
          </a:p>
          <a:p>
            <a:r>
              <a:t>- 📖 《尤麗狄茜》（Euridice）：作曲家佩里（Jacopo Peri）所作、現存最早留有完整樂譜的歌劇，1600 年 10 月 6 日在佛羅倫斯碧提宮（Pitti Palace）為梅迪奇的世紀婚禮首演；由大公斐迪南一世（Ferdinando I）促成的這場聯姻，也是梅迪奇拓展海外影響力的外交手筆。</a:t>
            </a:r>
          </a:p>
          <a:p>
            <a:r>
              <a:t>- 📖 品味共同體：講者用來形容一群人因為共享對藝術、美感與格調的認同而形成的圈子；當時＝梅迪奇的沙龍與音樂會，就是把有錢有勢者用「共同的品味」黏在一起的場域，讓生意人得以「進對圈子」。</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12｜第二樣：集體曝光（你不必是豪門）</a:t>
            </a:r>
          </a:p>
          <a:p/>
          <a:p>
            <a:r>
              <a:t>【講稿】（停留約 30 秒）講完梅迪奇那種豪門，各位可能想：那是有錢有勢的人在玩，跟我有什麼關係？別急。第二樣回報，我要證明——你不必是梅迪奇。一群像各位這樣的生意人，一個公會，合資也能買到看得見的曝光。而且有一幅畫，把這件事講得清清楚楚。</a:t>
            </a:r>
          </a:p>
          <a:p>
            <a:r>
              <a:t>【講義補充】</a:t>
            </a:r>
          </a:p>
          <a:p>
            <a:r>
              <a:t>- 第二樣回報：集體曝光——不必獨力砸大錢，一群人合資，也買得到看得見、留得久的曝光。</a:t>
            </a:r>
          </a:p>
          <a:p>
            <a:r>
              <a:t>- 核心訊息：你不必是梅迪奇（Medici）那種富可敵國的豪門；一個公會、一群像在座各位這樣的生意人合資，同樣能把自己的名字與臉孔留進傳世之作。</a:t>
            </a:r>
          </a:p>
          <a:p>
            <a:r>
              <a:t>- 時空背景：這套「集體曝光」玩法在十七世紀荷蘭黃金時代（Dutch Golden Age，荷蘭語 Gouden Eeuw）玩到極致——當時荷蘭沒有法國那種王室宮廷，掏錢的是靠貿易致富的市民與商人公會，於是「合資買肖像」成了城市裡最風光的排場。</a:t>
            </a:r>
          </a:p>
          <a:p>
            <a:r>
              <a:t>- 那幅「把這件事講得清清楚楚」的畫，就是林布蘭（Rembrandt van Rijn，1606～1669）一六四二年完成的《夜巡》（De Nachtwacht／The Night Watch），全名直譯為「柯克隊長麾下第二區民兵連」。</a:t>
            </a:r>
          </a:p>
          <a:p>
            <a:r>
              <a:t>- 出資方不是國王，而是阿姆斯特丹一支市民民兵連：由柯克隊長（Frans Banninck Cocq）帶頭、連同十七名隊員合資委製，是一場不折不扣的「團購」。</a:t>
            </a:r>
          </a:p>
          <a:p>
            <a:r>
              <a:t>- 付了多少、換到什麼：據 Wikipedia，全畫酬勞約一千六百荷蘭盾，平均每名隊員分攤約一百盾；據載這在當時是一筆可觀的數目，換到的是四百年不褪色的集體曝光。</a:t>
            </a:r>
          </a:p>
          <a:p>
            <a:r>
              <a:t>- 分級曝光（付越多、擺越前）：據民兵群像的慣例，隊員各自付錢、各自擺姿勢，付得多的人被安排在畫面更前、光線更亮的位置，付得少的只在後排露個臉——這就是「分級冠名」最古老的版本。</a:t>
            </a:r>
          </a:p>
          <a:p>
            <a:r>
              <a:t>- 畫裡實際畫了三十四個人，但只有出資的十八人才算「掛名股東」：他們的名字在約一七一五年被寫上畫中一面盾牌，至於那名臨時雇來的鼓手，是林布蘭免費附送、不必分攤的。</a:t>
            </a:r>
          </a:p>
          <a:p>
            <a:r>
              <a:t>- 這幅高約三點六三公尺、寬約四點三七公尺的巨畫，原本就掛在火槍手會所（Kloveniersdoelen）宴會廳當「公司門面」；如今收藏在阿姆斯特丹國家博物館（Rijksmuseum），每年被數以百萬計的觀眾仰望——當年那一百盾，買到的正是這種不朽。</a:t>
            </a:r>
          </a:p>
          <a:p>
            <a:r>
              <a:t>- 更貼近「生意人＋公會」的例子：林布蘭一六六二年的《布商公會理事》（De Staalmeesters，又稱 Syndics of the Drapers' Guild），畫的是阿姆斯特丹布商公會五位驗布官加一名僕役，全由該公會出資委製、掛進公會廳堂——一整個行業公會替自己立像。</a:t>
            </a:r>
          </a:p>
          <a:p>
            <a:r>
              <a:t>- 同一時代還有法蘭斯·哈爾斯（Frans Hals）等名家，專替各城民兵連畫宴會式群像，把「合資曝光」做成了荷蘭城市的標準配備。</a:t>
            </a:r>
          </a:p>
          <a:p>
            <a:r>
              <a:t>- 呼應主軸：從《夜巡》到《布商公會理事》，畫的都不是神話或帝王，而是「誰出錢、誰上鏡」；這正是今天聯名贊助、分級冠名、logo 依贊助金額大小排位的老祖宗。</a:t>
            </a:r>
          </a:p>
          <a:p>
            <a:r>
              <a:t>- 📖 梅迪奇（Medici）：十五至十七世紀主宰佛羅倫斯的銀行家兼統治家族，是本講前一段「豪門贊助」的代表；此處用來對比——你不必有他們的財力，也能買到曝光。</a:t>
            </a:r>
          </a:p>
          <a:p>
            <a:r>
              <a:t>- 📖 荷蘭黃金時代（Dutch Golden Age，荷蘭語 Gouden Eeuw）：約十七世紀，荷蘭靠海外貿易、航運與金融成為歐洲最富庶地區的時期；當時＝一個由商人而非貴族掌握財富、藝術贊助也隨之「平民富豪化」的時代。</a:t>
            </a:r>
          </a:p>
          <a:p>
            <a:r>
              <a:t>- 📖 市民民兵公會（Schutterij／Schuttersgilde）：荷蘭城市的志願市民衛隊及其公會，平時維安、救火、遊行，成員多是買得起武器制服的富商與殷實市民；當時＝城裡有頭有臉的生意人俱樂部。</a:t>
            </a:r>
          </a:p>
          <a:p>
            <a:r>
              <a:t>- 📖 民兵群像（schuttersstuk）：民兵連集體出資、把全體成員畫在一起的團體肖像，常畫成宴會或列隊場景，是荷蘭黃金時代最氣派的一類肖像畫；當時＝公會的「集體形象廣告」。</a:t>
            </a:r>
          </a:p>
          <a:p>
            <a:r>
              <a:t>- 📖 《夜巡》（De Nachtwacht／The Night Watch）：林布蘭一六四二年的民兵群像代表作，因後世畫面積塵、罩光漆變暗而被誤稱「夜」巡，實為白天出巡；當時＝一支民兵連合資訂製的門面巨畫。</a:t>
            </a:r>
          </a:p>
          <a:p>
            <a:r>
              <a:t>- 📖 林布蘭（Rembrandt van Rijn，1606～1669）：荷蘭黃金時代最著名的畫家，靠接受市民與公會委製維生；此處＝把出資者臉孔化為不朽的那支畫筆。</a:t>
            </a:r>
          </a:p>
          <a:p>
            <a:r>
              <a:t>- 📖 荷蘭盾（guilder，荷蘭語 gulden）：荷蘭當時的通用貨幣；本張提到的「約一百盾／一千六百盾」即以此計價，據 Wikipedia 在當時屬可觀金額。</a:t>
            </a:r>
          </a:p>
          <a:p>
            <a:r>
              <a:t>- 📖 火槍手會所（Kloveniersdoelen，Doelen 意為靶場／會所）：阿姆斯特丹火槍手民兵連的訓練場兼宴會廳，《夜巡》原本就掛在這裡的宴會廳牆上；當時＝公會的總部與交際場，也是這幅「門面」的展示廳。</a:t>
            </a:r>
          </a:p>
          <a:p>
            <a:r>
              <a:t>- 📖 《布商公會理事》（De Staalmeesters／Syndics of the Drapers' Guild）：林布蘭一六六二年替阿姆斯特丹布商公會五位驗布官（負責檢驗布料品質、任期一年）畫的群像；當時＝一個行業公會替自家管理層立的「官方肖像」。</a:t>
            </a:r>
          </a:p>
          <a:p>
            <a:r>
              <a:t>- 📖 理事群像（regentenstuk）：荷蘭黃金時代盛行的一種團體肖像，畫的是慈善機構或公會的董事會（理事／女理事），掛在理事會議室（regentenkamer）；當時＝擔任這種榮譽公職者留名立像的標準做法。</a:t>
            </a:r>
          </a:p>
          <a:p>
            <a:r>
              <a:t>- 📖 阿姆斯特丹國家博物館（Rijksmuseum）：荷蘭的國家級美術館，《夜巡》與《布商公會理事》今日皆藏於此；此處＝當年那筆合資款換到的「四百年展示櫃」。</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13｜林布蘭《夜巡》：合資買曝光，出錢越多版位越大</a:t>
            </a:r>
          </a:p>
          <a:p/>
          <a:p>
            <a:r>
              <a:t>【講稿】（停留約 80 秒）林布蘭（Rembrandt）的《夜巡》，1642 年。付錢的不是國王、也不是教會，是阿姆斯特丹一個「火槍手民兵公會」——說穿了，就是一群有錢的生意人組成的社團。這 16 位生意人「合資」請林布蘭幫他們畫一張團體像，平均每人出大約 100 盾（盾就是 guilder，當時荷蘭通行的錢）。而且遊戲規則直接又公平：你出的錢越多，你在畫面上的位置就越顯眼、越靠前——這不就是我們今天講的「贊助版位」嗎？誰贊助得多，誰的 logo 大、誰站 C 位。結果呢，四百年過去，這 16 個本來沒沒無聞的生意人，他們的臉，到今天還掛在阿姆斯特丹國家博物館的鎮館之寶上，每年幾百萬人專程來看。</a:t>
            </a:r>
          </a:p>
          <a:p>
            <a:r>
              <a:t>【講義補充】</a:t>
            </a:r>
          </a:p>
          <a:p>
            <a:r>
              <a:t>- 《夜巡》創作於 1642 年,是荷蘭黃金時代(Dutch Golden Age)最著名的一幅團體肖像,示範了一個純粹的「付費買版位」模式:金主不是國王、也不是教會,而是一群自掏腰包的阿姆斯特丹生意人,由他們共同出資請林布蘭作畫。</a:t>
            </a:r>
          </a:p>
          <a:p>
            <a:r>
              <a:t>- 出資結構就是今天的贊助方案表:全體出資者合計付給林布蘭約 1,600 盾,平均一人約 100 盾,想站得愈顯眼、愈靠畫面前排中心,分攤金額就愈高——這正是「贊助級距愈高、版位愈大、logo 愈顯眼」的四百年前原型。</a:t>
            </a:r>
          </a:p>
          <a:p>
            <a:r>
              <a:t>- 委託方＝阿姆斯特丹火槍手民兵公會(Kloveniers),16 名民兵平均每人約 100 盾、依畫面顯眼程度分攤(依畫中人法蘭斯·班寧·科克家族相簿中的題記所載,原文記為「依他們在畫中所佔位置,有人多付、有人少付」)。</a:t>
            </a:r>
          </a:p>
          <a:p>
            <a:r>
              <a:t>- 換算金額感:100 盾在當時是筆可觀的錢——據載一名熟練工匠年收入約 250–300 盾,而林布蘭本人在 1639 年買下自宅足足花了 13,000 盾;整筆約 1,600 盾的委託,對這群中產生意人是認真的集資,對頂級富商則談不上天價。</a:t>
            </a:r>
          </a:p>
          <a:p>
            <a:r>
              <a:t>- 金主換到什麼:四百年後,這 16 位原本沒沒無聞的民兵生意人,臉孔仍高掛在鎮館之寶上,每年吸引數百萬人專程朝聖——以「曝光量×年限」衡量,堪稱史上投報率最高的品牌置入之一。</a:t>
            </a:r>
          </a:p>
          <a:p>
            <a:r>
              <a:t>- C 位邏輯白紙黑字畫在構圖裡:出資最多、地位最高的隊長與副隊長被安排在最前排、光線最亮處,其餘成員依出資與職級向後、向暗處排開,等於把一份「贊助對價表」直接畫進畫面。</a:t>
            </a:r>
          </a:p>
          <a:p>
            <a:r>
              <a:t>- 民兵公會本質是「會員自費」的社團:成員自備武器與制服,團體肖像也由成員各自掏錢分攤,畫得好的年輕畫家能靠這類委託穩定接案——是民間資本(而非宮廷)扶植藝術的典型,恰與梅迪奇、埃斯特哈齊的宮廷贊助形成「民間版」對照,呼應本場「你成就音樂，音樂也成就你」主軸。</a:t>
            </a:r>
          </a:p>
          <a:p>
            <a:r>
              <a:t>- 這份「贊助者署名」還有實體版:約 1715 年,有人在畫面中央偏右加繪一面盾形飾牌(cartouche),列出 18 個相關姓名,連當年免費入畫的受僱鼓手都被一併追記,等同一份遲來的「贊助商名單」。</a:t>
            </a:r>
          </a:p>
          <a:p>
            <a:r>
              <a:t>- 投資也可能被「裁切」:1715 年此畫移到阿姆斯特丹市政廳時,為了塞進兩扇門之間,四邊都被切掉,左側甚至少了兩個人物;今天要看完整原始構圖,只能靠同代畫家倫登斯(Gerrit Lundens)的小尺寸摹本(現藏倫敦國家美術館)。畫幅至今仍達 363×437 公分,是不折不扣的巨作。</a:t>
            </a:r>
          </a:p>
          <a:p>
            <a:r>
              <a:t>- 📖 荷蘭黃金時代(Dutch Golden Age／Gouden Eeuw):約 17 世紀,荷蘭共和國憑藉海上貿易、阿姆斯特丹的金融與市民財富躍為歐洲最富裕地區之一;富起來的市民與行會取代了傳統宮廷與教會,成為藝術的新金主,《夜巡》正是這股「市民金主」浪潮的代表作。</a:t>
            </a:r>
          </a:p>
          <a:p>
            <a:r>
              <a:t>- 📖 林布蘭(Rembrandt van Rijn,1606–1669):荷蘭黃金時代最重要的畫家,以肖像與強烈明暗對照聞名;在這樁交易裡他是「接案的乙方」,真正的金主是付錢的那群民兵。</a:t>
            </a:r>
          </a:p>
          <a:p>
            <a:r>
              <a:t>- 📖 火槍手民兵公會(Kloveniers,火繩槍手／滑膛槍手隊):阿姆斯特丹市民民兵中以火槍為武器的一支,成員多為有產市民與商人;平時輪值守夜、看守城門,動亂或戰時才武裝上陣,是有錢有閒者的防務兼社交組織。</a:t>
            </a:r>
          </a:p>
          <a:p>
            <a:r>
              <a:t>- 📖 市民民兵／射手行會(schutterij／schuttersgilde):荷蘭城市由富裕市民自組的自衛武裝團體,負責守夜、防火、鎮亂;軍官由市政府從殷實市民中委任,本質上是一個由地方有力人士構成的俱樂部——這些人正是有能力出錢請大畫家的階層。</a:t>
            </a:r>
          </a:p>
          <a:p>
            <a:r>
              <a:t>- 📖 民兵團體肖像(schuttersstuk,射手群像):黃金時代特有的畫種,由一整隊民兵合資請畫家畫成群像掛在會所裡;出資額往往決定成員在畫中的位置與清晰度,《夜巡》是此類「付費入畫」作品的巔峰。</a:t>
            </a:r>
          </a:p>
          <a:p>
            <a:r>
              <a:t>- 📖 火槍手會所(Kloveniersdoelen):Kloveniers 民兵的總部兼宴會廳(doelen 原指靶場,後泛指民兵會所);《夜巡》原本就是為其大廳量身訂製,與其他幾幅民兵群像並列同一空間,彼此較勁曝光,如同一整面「贊助者展示牆」。</a:t>
            </a:r>
          </a:p>
          <a:p>
            <a:r>
              <a:t>- 📖 法蘭斯·班寧·科克(Frans Banninck Cocq,1605–1655):畫面正中身著黑衣、繫紅色綬帶的隊長,出身阿姆斯特丹富裕世家,後來當上阿姆斯特丹市長(burgomaster,市政首長);他佔據 C 位,還另外請人把此畫縮摹成水彩、收進家族相簿,等於為自己的「贊助紀錄」再留副本。</a:t>
            </a:r>
          </a:p>
          <a:p>
            <a:r>
              <a:t>- 📖 威廉·范·雷登布赫(Willem van Ruytenburch,1600–1652):畫中身著金黃衣、繫白色綬帶的副隊長,同為富商世家;與隊長並列前排,是「第二順位版位」的典型。</a:t>
            </a:r>
          </a:p>
          <a:p>
            <a:r>
              <a:t>- 📖 官方全名與「夜巡」誤稱:此畫正式名稱為《科克隊長所率第二區民兵連》(Militia Company of District II under the Command of Captain Frans Banninck Cocq);原本畫的其實是白天場景,只因年久凡尼斯(保護漆)氧化變暗,18 世紀末(約 1797 年)才被冠上「夜巡」(De Nachtwacht)這個一直沿用到今天的暱稱。</a:t>
            </a:r>
          </a:p>
          <a:p>
            <a:r>
              <a:t>- 📖 盾(guilder／gulden,荷蘭盾,亦作 florin,符號 ƒ):荷蘭黃金時代通行的貨幣;據載一名熟練工匠年收入約數百盾,故每人出到約 100 盾是相當可觀的合資,足見這群民兵金主的財力。</a:t>
            </a:r>
          </a:p>
          <a:p>
            <a:r>
              <a:t>- 📖 荷蘭國家博物館(Rijksmuseum,直譯「國家博物館」):位於阿姆斯特丹的荷蘭國家級美術館,現址於 1885 年落成;《夜巡》是全館鎮館之寶,由阿姆斯特丹市擁有並長期在此展出,每年替當年那群出資者持續「回收曝光」。</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14｜這就是你們的公會：集體贊助的現代啟示</a:t>
            </a:r>
          </a:p>
          <a:p/>
          <a:p>
            <a:r>
              <a:t>【講稿】（停留約 55 秒）我特別把這幅畫講清楚，是因為它講的就是各位。那個火槍手民兵公會，跟今天各位參加的跨業交流會、公會，本質一模一樣——一群有實力的生意人，組成一個社團。梅迪奇那種等級，一個人玩得起；但《夜巡》告訴我們：一個人出不起的贊助，一群人合資就出得起，而曝光和名聲，按出資比例分。所以各位不必獨自當梅迪奇——揪一群人，就能一起當金主。各位可以想想：如果咱們的公會，合資贊助一場音樂會、委託一件作品，會被誰看見？會被記得多久？</a:t>
            </a:r>
          </a:p>
          <a:p>
            <a:r>
              <a:t>【講義補充】</a:t>
            </a:r>
          </a:p>
          <a:p>
            <a:r>
              <a:t>- 火槍手民兵公會＝17 世紀版的跨業交流會／商會：一群有實力、有頭有臉的生意人，自願組成的持槍自衛兼社交團體，本質就是各位今天參加的公會、同業社團。</a:t>
            </a:r>
          </a:p>
          <a:p>
            <a:r>
              <a:t>- 這張的核心不是畫美不美，而是「錢怎麼出、名怎麼分」——《夜巡》是一件由一整支民兵連「合資」買下的贊助案，示範了「一個人出不起，一群人湊得起」的集體贊助模式。</a:t>
            </a:r>
          </a:p>
          <a:p>
            <a:r>
              <a:t>- 集體合資贊助：門檻低、回報與出資成正比、人人可行；不必是梅迪奇那種等級的超級富豪，揪一群同等級的人，就能一起當金主。</a:t>
            </a:r>
          </a:p>
          <a:p>
            <a:r>
              <a:t>- 出資結構是重點：全畫共 34 個人物，其中 18 位出資隊員把名字刻在畫中的盾牌上；林布蘭總共收到約 1,600 荷蘭盾，主要由這 18 人分攤，平均每人約 100 荷蘭盾，出資多寡視在畫中的位置而定（據 Wikipedia／英國國家美術館）。</a:t>
            </a:r>
          </a:p>
          <a:p>
            <a:r>
              <a:t>- 「錢決定站位」：付得多的站前排、被打光、正面露臉；付得少的退到後排暗處。隊長柯克與副官范·勒伊滕堡出資最多，因此占畫面正中最亮的 C 位——曝光與名聲，嚴格按出資比例分配，公開透明。</a:t>
            </a:r>
          </a:p>
          <a:p>
            <a:r>
              <a:t>- 這幅畫原本掛在火槍手公會會所（Kloveniersdoelen）的宴會大廳（Groote Zaal），形同一面永久的「名人牆」／貴賓室廣告：每次公會辦宴、迎賓，這群出資人就被看見一次，這正是講稿問的「會被誰看見、被記得多久」。</a:t>
            </a:r>
          </a:p>
          <a:p>
            <a:r>
              <a:t>- 呼應軼事：1715 年這幅畫被移到阿姆斯特丹市政廳，為了塞進兩根柱子之間，四邊被裁切，左側甚至有兩個人物就此永遠消失——提醒贊助者，出了錢也未必能永遠占著同一個好位置。</a:t>
            </a:r>
          </a:p>
          <a:p>
            <a:r>
              <a:t>- 對照前站的梅迪奇（Medici）：梅迪奇是「一位超級富豪獨力包養」的高門檻模式；《夜巡》示範的是「一群中等實力生意人合資」的模式——單人門檻低到人人玩得起，換到的卻是同一面牆上的集體曝光。</a:t>
            </a:r>
          </a:p>
          <a:p>
            <a:r>
              <a:t>- 主贊助人柯克本人就是「出資人」樣板：藥劑師之子，靠聯姻娶入阿姆斯特丹富商家族、繼承領主頭銜，1650 年當上阿姆斯特丹市長；對他而言，合資贊助一幅名畫，是經營人脈與社會地位的一環。</a:t>
            </a:r>
          </a:p>
          <a:p>
            <a:r>
              <a:t>- 直接對上本場聽眾：你和你的公會，就是現代版的《夜巡》公會；把「火槍手公會」換成「跨業交流會」，把「一幅群像」換成「一場音樂會或一件委託作品」，這張畫講的就是在座各位可以立刻複製的做法。</a:t>
            </a:r>
          </a:p>
          <a:p>
            <a:r>
              <a:t>- 📖 夜巡（De Nachtwacht／The Night Watch）：荷蘭畫家林布蘭 1642 年完成的巨幅群像油畫，尺寸約 363×437 公分，今藏阿姆斯特丹國家博物館（Rijksmuseum）。「夜巡」是後人取的俗名，因舊清漆與煤煙讓畫面發黑、被誤以為夜景，其實畫的是白天。當時＝一群火槍手民兵合資訂製、掛在自家會所炫耀身分的「團體照」。</a:t>
            </a:r>
          </a:p>
          <a:p>
            <a:r>
              <a:t>- 📖 正式名稱（Militia Company of District II under the Command of Captain Frans Banninck Cocq）：即《隊長法蘭斯·班寧·柯克指揮的第二區民兵連》。當時的畫作多半沒有標題，這個描述性名稱點明買單者是誰——不是王公貴族，而是一整支市民民兵連。</a:t>
            </a:r>
          </a:p>
          <a:p>
            <a:r>
              <a:t>- 📖 林布蘭（Rembrandt van Rijn, 1606–1669）：荷蘭黃金時代最重要的畫家。對贊助者而言，他是當時最搶手的「頂級品牌」畫師，能請到他作畫本身就是身分象徵。</a:t>
            </a:r>
          </a:p>
          <a:p>
            <a:r>
              <a:t>- 📖 火槍手公會／克洛芬尼爾（Kloveniers）：阿姆斯特丹三大民兵公會之一，成員配備早期火繩槍（arquebus，荷語 klover／haakbus），公會即因此得名。當時＝由城中殷實市民、商人組成的持槍自衛兼社交團體。</a:t>
            </a:r>
          </a:p>
          <a:p>
            <a:r>
              <a:t>- 📖 民兵團（Schutterij）：中世紀到近代荷蘭城市的市民自衛隊，按行政區與武器（弓、弩、火槍）分連，軍官須由當地富人、體面市民擔任。當時＝結合防務、社交與地位象徵的「有力人士俱樂部」，性質最接近今天的商會、扶輪社或跨業交流會。</a:t>
            </a:r>
          </a:p>
          <a:p>
            <a:r>
              <a:t>- 📖 公會會所（Doelen／Kloveniersdoelen）：民兵團的靶場兼會館，設有大廳供聚會、宴飲與室內操練。當時＝這群出資人的「總部加宴會廳」，也是他們掛出團體肖像、向賓客展示身分的地方。</a:t>
            </a:r>
          </a:p>
          <a:p>
            <a:r>
              <a:t>- 📖 民兵團體肖像（Schuttersstuk）：荷蘭特有的畫種，民兵連在換屆或有大事時集資請畫家畫全連合照，成員各自付錢以求畫得像自己。當時＝這類公會的標準「集體贊助案」，《夜巡》只是其中最有名的一件；法蘭斯·哈爾斯（Frans Hals）等名家也靠這類委託維生。</a:t>
            </a:r>
          </a:p>
          <a:p>
            <a:r>
              <a:t>- 📖 隊長班寧·柯克（Frans Banninck Cocq, 1605–1655）：《夜巡》正中央、著黑衣紅綬帶者，出資最多的主贊助人；屬阿姆斯特丹攝政階層（regenten），普爾默蘭與伊爾彭丹（Purmerland en Ilpendam）領主，1650 年任阿姆斯特丹市長。當時＝這場集資案的「召集人兼最大股東」。</a:t>
            </a:r>
          </a:p>
          <a:p>
            <a:r>
              <a:t>- 📖 副官范·勒伊滕堡（Willem van Ruytenburch）：畫中著鮮黃衣、白綬帶、站在柯克身旁者，出資僅次於隊長，因此享次高曝光。當時＝這樁合資案的「第二大股東」。</a:t>
            </a:r>
          </a:p>
          <a:p>
            <a:r>
              <a:t>- 📖 荷蘭盾（gulden／guilder）：荷蘭黃金時代的通貨。每人約 100 盾、全案約 1,600 盾，在當時是一筆可觀金額（據 Wikipedia）。當時＝一筆讓中產生意人「合資分攤才出得起、獨力則吃力」的贊助預算。</a:t>
            </a:r>
          </a:p>
          <a:p>
            <a:r>
              <a:t>- 📖 荷蘭黃金時代（Dutch Golden Age）：約 17 世紀，荷蘭靠海運貿易（尤以荷蘭東印度公司／VOC 為代表）致富、商人階級崛起的時期。當時＝新富商人願意花錢買文化與名聲的黃金背景，集體贊助的風氣由此而生。</a:t>
            </a:r>
          </a:p>
          <a:p>
            <a:r>
              <a:t>- 📖 攝政階層（Regenten）：荷蘭共和國中掌握市政與商業大權的富裕市民寡頭階層。當時＝這些出資訂畫者所屬的社會頂層，贊助藝術是他們鞏固地位、彼此較勁的手段。</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15｜第三樣：不朽之名</a:t>
            </a:r>
          </a:p>
          <a:p/>
          <a:p>
            <a:r>
              <a:t>【講稿】（停留約 25 秒）第三樣回報，是我個人覺得最迷人的一樣——不朽之名。錢會花完，一時的名聲會過去；但如果你把名字，綁進一部會被傳唱幾百年的作品裡，你就買到了「不朽」。接下來連續幾個故事，主角都是「因為出錢，名字被寫進歷史」的金主。</a:t>
            </a:r>
          </a:p>
          <a:p>
            <a:r>
              <a:t>【講義補充】</a:t>
            </a:r>
          </a:p>
          <a:p>
            <a:r>
              <a:t>- 第三樣回報：不朽之名。錢會花完、一時的名聲會過去，但把名字綁進一部會被傳唱數百年的作品，等於買下了「不朽」；本張之後連續幾則故事的主角，都是「因為出錢，名字被寫進音樂史」的金主。</a:t>
            </a:r>
          </a:p>
          <a:p>
            <a:r>
              <a:t>- 這一樣回報的技術核心是「題獻」：金主付出年金、禮物或委創費，作曲家便在樂譜扉頁印上他的名字，作品每被演出、出版一次，贊助者的名字就再被念一次，數百年不墜。</a:t>
            </a:r>
          </a:p>
          <a:p>
            <a:r>
              <a:t>- 📖 題獻／獻詞（dedication）：作曲家在作品扉頁寫上某人姓名以表敬意或感謝的慣例；當時＝贊助者用金錢或庇護換來的「署名權」，是把一次性花費變成永久留名的機制。</a:t>
            </a:r>
          </a:p>
          <a:p>
            <a:r>
              <a:t>- 案例一「貝多芬三貴族」：1809年3月1日，魯道夫大公（Archduke Rudolph）、洛布科維茨親王（Prince Lobkowitz）、金斯基親王（Prince Kinsky）三人聯名簽下年金契約，每年合付貝多芬（Ludwig van Beethoven）4000弗羅林（魯道夫1500、金斯基1800、洛布科維茨700），只為把他留在維也納、不去接拿破崙之弟耶羅姆（Jérôme Bonaparte）在卡塞爾（Kassel）開出的宮廷樂長職。</a:t>
            </a:r>
          </a:p>
          <a:p>
            <a:r>
              <a:t>- 三人中魯道夫回報最豐：貝多芬一生獻給他約14部作品，含《皇帝》鋼琴協奏曲、《大公》三重奏、《莊嚴彌撒》等；洛布科維茨獲題獻《英雄》交響曲；金斯基之名則因這紙契約永留史冊——這正是「出錢換不朽之名」的教科書案例（後幾張細講）。後續動盪也值一記：據載1811年奧國貨幣貶值五倍、金斯基1812年墜馬身亡、洛布科維茨1813年破產出逃，最後只剩魯道夫履約到底。</a:t>
            </a:r>
          </a:p>
          <a:p>
            <a:r>
              <a:t>- 📖 年金／年俸（annuity，德文 Rentenvertrag）：贊助的一種形式——不是一次買斷單一作品，而是每年固定付一筆錢「養住」作曲家，條件是他留在本地、持續創作；貝多芬這紙契約是史上最著名的一例。</a:t>
            </a:r>
          </a:p>
          <a:p>
            <a:r>
              <a:t>- 📖 弗羅林（florin，又稱古爾登 Gulden）：當時＝奧地利通行的銀幣貨幣單位；4000弗羅林在1809年足供優渥生活，惟隨後貨幣貶值，契約實值大幅縮水。</a:t>
            </a:r>
          </a:p>
          <a:p>
            <a:r>
              <a:t>- 📖 大公／親王（Archduke Erzherzog／Prince Fürst）：貴族頭銜；魯道夫是皇帝法蘭茲一世（Franz I）的幼弟、又是貝多芬的作曲學生，洛布科維茨與金斯基則為擁地產的親王階層，出手闊綽正因身家雄厚。</a:t>
            </a:r>
          </a:p>
          <a:p>
            <a:r>
              <a:t>- 案例二「失眠的凱瑟林克伯爵」：相傳這位駐薩克森宮廷的俄國大使長年失眠，委託巴赫（Johann Sebastian Bach）寫一套能在漫漫長夜撫慰他的鍵盤曲，由住在他家的年輕大鍵琴手郭德堡（Johann Gottlieb Goldberg）夜裡彈奏，這就是《郭德堡變奏曲》得名的由來（呼應投影片10）。</a:t>
            </a:r>
          </a:p>
          <a:p>
            <a:r>
              <a:t>- 📖 凱瑟林克伯爵（Count Hermann Karl von Keyserlingk，或作 Kaiserling）：委創故事的主角金主；此說僅見於福克爾（Johann Nikolaus Forkel）1802年的巴赫傳記，成書距事件逾六十年、樂譜扉頁又無題獻，郭德堡當時僅約14歲，故學界多視為傳說、未必屬實（標「相傳」）。</a:t>
            </a:r>
          </a:p>
          <a:p>
            <a:r>
              <a:t>- 案例三「佛瑞的女伯爵」：佛瑞（Gabriel Fauré）把《帕凡舞曲》（Pavane, Op. 50，1887）題獻給他的贊助人葛雷菲勒女伯爵（Élisabeth, comtesse Greffulhe）；她建議加入隱形合唱、又於1891年出資在布洛涅森林（Bois de Boulogne）的花園派對搬演成歌舞版——巴黎沙龍女主人就這樣用金錢與人脈，把自己的名字寫進這首名曲。</a:t>
            </a:r>
          </a:p>
          <a:p>
            <a:r>
              <a:t>- 📖 沙龍（salon）：貴族或富裕女主人在自宅客廳定期召集作曲家、作家、畫家的聚會；當時＝最重要的文化贊助與人脈平台，葛雷菲勒女伯爵的沙龍還提攜了雕塑家羅丹（Auguste Rodin）等人，她本人並被視為普魯斯特（Marcel Proust）小說中公爵夫人的原型。</a:t>
            </a:r>
          </a:p>
          <a:p>
            <a:r>
              <a:t>- 案例四「梵谷的弟弟西奧」：畫商西奧·梵谷（Theo van Gogh）自1880—81年冬起按月接濟哥哥文森（Vincent van Gogh），1882年6月起每月分三次寄錢，十年間據載共資助約17,500法郎——這是跨到美術界的例子：贊助者的名字，如今已與被贊助者的傳奇密不可分。</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16｜貝多芬與三位金主：花錢買下一個名字</a:t>
            </a:r>
          </a:p>
          <a:p/>
          <a:p>
            <a:r>
              <a:t>【講稿】（停留約 80 秒）1809 年的維也納，三位大貴族——金斯基（Kinsky）、洛布科維茨（Lobkowitz），還有魯道夫大公（Archduke Rudolph，「大公」就是皇室的親王）——一起做了一筆投資。他們聯手，每年固定掏出一筆「終身年金」，也就是保證養一位作曲家一輩子，白紙黑字只有一個條件：「請你留在維也納，別被別人挖走。」各位是生意人，直接看這筆投資的回報：他們花的錢，買到的是「名字」。兩百年後的今天，全世界只要一談起那部《第九號交響曲》，就會提到當年是這三位貴族出的錢。請注意——這不是施捨、不是慈善，是一筆綁定式的長期投資。給各位的第一個提醒就是：贊助要簽長約、要綁定、要白紙黑字。現在，請聽今天第二首主打聆聽——貝多芬〈歡樂頌〉。</a:t>
            </a:r>
          </a:p>
          <a:p>
            <a:r>
              <a:t>【講義補充】</a:t>
            </a:r>
          </a:p>
          <a:p>
            <a:r>
              <a:t>- 合約全貌：1809 年 3 月 1 日在維也納簽署一紙《年金合約》（Rentenvertrag），三位署名金主為魯道夫大公（Archduke Rudolph）、金斯基親王（Ferdinand Kinsky）、洛布科維茨親王（Franz Joseph Lobkowitz），受領人是貝多芬（Ludwig van Beethoven）；核心條款只有一條——貝多芬須定居維也納或奧地利皇室世襲領地，換取每年 4,000 弗洛林的終身年金（據 Beethoven-Haus Bonn）。</a:t>
            </a:r>
          </a:p>
          <a:p>
            <a:r>
              <a:t>- 1809 年三位貴族以年 4,000 弗洛林終身年金留住作曲家（起因是 1808 年拿破崙之弟以年薪挖角）。</a:t>
            </a:r>
          </a:p>
          <a:p>
            <a:r>
              <a:t>- 條件＝留在維也納。</a:t>
            </a:r>
          </a:p>
          <a:p>
            <a:r>
              <a:t>- 為什麼要出手搶人：1808 年秋，拿破崙（Napoleon）之弟、西發里亞王國國王熱羅姆·波拿巴（Jérôme Bonaparte）開出卡塞爾（Kassel）宮廷樂長職位、年薪 600 杜卡特金幣，邀貝多芬赴任；貝多芬刻意在維也納放話願意接受，等於把自己掛牌拍賣，逼出本地貴族的反制報價。</a:t>
            </a:r>
          </a:p>
          <a:p>
            <a:r>
              <a:t>- 生意人視角的關鍵動作：這是一場「留才防挖角」的競標，維也納三大貴族用一份長約把人綁死在本地，而不是等對手把資產買走。</a:t>
            </a:r>
          </a:p>
          <a:p>
            <a:r>
              <a:t>- 三家怎麼分攤這 4,000 弗洛林：金斯基出最多，年 1,800 弗洛林；魯道夫 1,500；洛布科維茨 700（三家相加恰為 4,000）。這是一筆聯合投資（syndicate），風險、成本與冠名的光環由三家分擔（據 Classic FM／Beethoven-Haus）。</a:t>
            </a:r>
          </a:p>
          <a:p>
            <a:r>
              <a:t>- 各家換到什麼——洛布科維茨：他自 1796 年起養私人樂團與弦樂四重奏、府邸設有音樂廳；貝多芬《第三號交響曲「英雄」》（Eroica）1804 年在他府邸首演並題獻給他，該廳因此被稱作「英雄廳」（Eroica-Saal），且他在作品公開發表前握有數月獨家使用權——先聽、先掛名，正是贊助者的隱形特權。</a:t>
            </a:r>
          </a:p>
          <a:p>
            <a:r>
              <a:t>- 各家換到什麼——魯道夫：他是皇帝法蘭茲一世（Emperor Franz I）最年幼的弟弟、也是貝多芬「唯一的作曲學生」；貝多芬題獻給他的作品比題給任何人都多，包括《第五號鋼琴協奏曲「皇帝」》（Emperor Concerto）、《大公三重奏》（Archduke Trio，Op. 97）、《莊嚴彌撒》（Missa Solemnis）、《告別奏鳴曲》（Les Adieux）等。金主同時是門生與最大品牌代言人。</a:t>
            </a:r>
          </a:p>
          <a:p>
            <a:r>
              <a:t>- 各家換到什麼——金斯基：三人中掏錢最多（1,800），卻在此之前查無藝術贊助紀錄；他以奧地利軍官身分，簽約後不久即出征對法作戰（據 Popular Beethoven）。</a:t>
            </a:r>
          </a:p>
          <a:p>
            <a:r>
              <a:t>- 投資的脆弱面（一）通膨：1811 年 2 月 20 日皇帝法蘭茲一世頒布「財政令」（俗稱破產令），流通紙鈔貶為面額的五分之一，年金實質購買力大縮水——長約也擋不住國家級的貨幣崩盤。</a:t>
            </a:r>
          </a:p>
          <a:p>
            <a:r>
              <a:t>- 投資的脆弱面（二）違約與意外：洛布科維茨 1811 年 9 月起停付，財產遭託管、被迫解散樂團並離開維也納；金斯基 1812 年墜馬身亡（得年約 31），年金一度斷炊，貝多芬須向遺孀瑪麗亞·夏洛特·金斯基（Princess Maria Charlotte Kinsky）陳情，金斯基家族遲至 1815 年才恢復支付。</a:t>
            </a:r>
          </a:p>
          <a:p>
            <a:r>
              <a:t>- 誰扛住了：當另兩位金主陷入困境，魯道夫提高自己的份額以維持貝多芬的收入——這正是聯合贊助裡「主辦金主／領投人」的角色，也是這筆投資最終沒有爛尾的原因。</a:t>
            </a:r>
          </a:p>
          <a:p>
            <a:r>
              <a:t>- 冠名的長期報酬：兩百年後，這三個姓氏被永久寫進貝多芬傳記；魯道夫的名字更直接被〈皇帝〉〈大公〉兩部作品當成綽號流傳，等於買到「與傑作同框」的永久曝光。</a:t>
            </a:r>
          </a:p>
          <a:p>
            <a:r>
              <a:t>- 準確補充（別把史實講反）：貝多芬《第九號交響曲》（1822–1824 年作曲）本身題獻的是普魯士國王腓特烈·威廉三世（King Friedrich Wilhelm III），並非這三位金主；但正是 1809 年起這筆年金供養了貝多芬的晚期歲月，讓《第九》得以誕生——所以真正的因果是「這筆長期贊助，換來了包含《第九》在內的晚期傑作」。</a:t>
            </a:r>
          </a:p>
          <a:p>
            <a:r>
              <a:t>- 📖 名詞解釋｜終身年金（life annuity）：一次約定、按年支付到受領人終身的金額；是「長期綁定」的合約工具。</a:t>
            </a:r>
          </a:p>
          <a:p>
            <a:r>
              <a:t>- 📖 名詞解釋｜大公（Archduke）：奧地利皇室封號，地位在國王之下、公爵之上。</a:t>
            </a:r>
          </a:p>
          <a:p>
            <a:r>
              <a:t>- 📖 名詞解釋｜年金合約（Rentenvertrag）：德文「年金／終身俸合約」；當時＝貴族與受養人之間白紙黑字的私法契約，載明每年給付金額與附帶義務（此處即「須留在維也納」）。</a:t>
            </a:r>
          </a:p>
          <a:p>
            <a:r>
              <a:t>- 📖 名詞解釋｜親王（Fürst／Prince）：神聖羅馬帝國與奧地利的高階世襲貴族頭銜，中譯常作親王或侯；當時＝手握莊園、私人樂團與大量財富的地方領主，是作曲家最主要的金主階層。</a:t>
            </a:r>
          </a:p>
          <a:p>
            <a:r>
              <a:t>- 📖 名詞解釋｜弗洛林／古爾登（Florin／Gulden）：當時奧地利通行的銀幣單位（同義詞）；4,000 弗洛林在 1809 年是能養活一位頂級作曲家一整年的可觀數目。</a:t>
            </a:r>
          </a:p>
          <a:p>
            <a:r>
              <a:t>- 📖 名詞解釋｜杜卡特（Ducat）：歐洲通行的高純度金幣；西發里亞開給貝多芬的 600 杜卡特金幣，因是硬通貨、又是金幣，實質待遇相當優渥，才構成挖角威脅。</a:t>
            </a:r>
          </a:p>
          <a:p>
            <a:r>
              <a:t>- 📖 名詞解釋｜財政令／破產令（Finanzpatent／Bankrottpatent）：奧地利 1811 年 2 月 20 日的貨幣重整法令；當時＝把貶值的紙鈔（Bankozettel）一律折成面額五分之一的新幣，等於一夜間讓所有以紙鈔計價的年金與債權大幅縮水。</a:t>
            </a:r>
          </a:p>
          <a:p>
            <a:r>
              <a:t>- 📖 名詞解釋｜樂長（Kapellmeister）：宮廷或教堂「樂團總監」，負責作曲、指揮與音樂行政；當時＝一位作曲家所能取得最穩定、最有面子的正式聘職，西發里亞開的正是這個位子。</a:t>
            </a:r>
          </a:p>
          <a:p>
            <a:r>
              <a:t>- 📖 名詞解釋｜西發里亞王國（Kingdom of Westphalia）：拿破崙 1807 年在今德國中部拼建、封給弟弟熱羅姆的附庸王國（首都卡塞爾）；1813 年隨拿破崙敗退而瓦解——挖角的買方本身只存在了六年。</a:t>
            </a:r>
          </a:p>
          <a:p>
            <a:r>
              <a:t>- 📖 名詞解釋｜題獻（Dedication）：把作品正式獻給某位贊助者並印在樂譜扉頁；當時＝金主用金錢換取的「冠名權」與社會聲望，也是本場講座反覆出現的贊助對價核心。</a:t>
            </a:r>
          </a:p>
          <a:p>
            <a:r>
              <a:t>【影片操作】 播 BBC Proms 2015 終樂章合唱精華（00:00–04:16）。播前：「這就是三位貴族那筆投資，兩百年後還在響的聲音。」</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17｜三位金主的細帳：一紙終身合約，各買到什麼</a:t>
            </a:r>
          </a:p>
          <a:p/>
          <a:p>
            <a:r>
              <a:t>【講稿】（停留約 70 秒）我們把這筆投資的細帳攤開來看，各位生意人一定看得津津有味。起因是 1808 年，拿破崙的弟弟開了年薪，要把貝多芬挖去卡塞爾當宮廷樂長；維也納三位貴族一急，聯手在 1809 年簽下一紙終身年金，把人綁在本地。這 4,000 弗洛林怎麼分？金斯基出最多、一千八，魯道夫大公一千五，洛布科維茨七百——一筆標準的「聯合投資」，風險跟冠名的光環大家一起分。那各自買到什麼？魯道夫大公，《皇帝》協奏曲、《大公三重奏》、《莊嚴彌撒》全題獻給他；洛布科維茨，《英雄》交響曲在他家首演、題獻給他。但各位注意這筆長約的下場：1811 年通貨膨脹讓年金縮水、金斯基 1812 年墜馬摔死、洛布科維茨破產——最後是魯道夫提高自己的份額扛住，貝多芬還得打官司，才保住這筆錢。這就是「簽長約」最真實、也最血淋淋的教材。</a:t>
            </a:r>
          </a:p>
          <a:p>
            <a:r>
              <a:t>【講義補充】</a:t>
            </a:r>
          </a:p>
          <a:p>
            <a:r>
              <a:t>- 為什麼要出手搶人：1808 年秋，拿破崙之弟、西發里亞國王熱羅姆·波拿巴（Jérôme Bonaparte）以年薪 600 杜卡特金幣邀貝多芬赴卡塞爾（Kassel）任宮廷樂長；貝多芬刻意在維也納放話願意接受，逼出本地貴族的反制報價。</a:t>
            </a:r>
          </a:p>
          <a:p>
            <a:r>
              <a:t>- 三家分攤 4,000 弗洛林：金斯基年 1,800、魯道夫 1,500、洛布科維茨 700（三家相加恰為 4,000）——這是一筆聯合投資（syndicate），風險、成本與冠名光環由三家分擔（據 Classic FM／Beethoven-Haus）。</a:t>
            </a:r>
          </a:p>
          <a:p>
            <a:r>
              <a:t>- 洛布科維茨換到什麼：他自 1796 年起養私人樂團、府邸設音樂廳；《第三號交響曲「英雄」》1804 年在他府邸首演並題獻給他，該廳因此被稱「英雄廳」（Eroica-Saal），且他在作品公開前握有數月獨家使用權——先聽、先掛名，正是贊助者的隱形特權。</a:t>
            </a:r>
          </a:p>
          <a:p>
            <a:r>
              <a:t>- 魯道夫換到什麼：他是皇帝法蘭茲一世最年幼的弟弟、也是貝多芬「唯一的作曲學生」；題獻給他的作品比給任何人都多，包括《第五號鋼琴協奏曲「皇帝」》、《大公三重奏》（Op. 97）、《莊嚴彌撒》、《告別奏鳴曲》。金主同時是門生與最大品牌代言人。</a:t>
            </a:r>
          </a:p>
          <a:p>
            <a:r>
              <a:t>- 投資的脆弱面：1811 年 2 月奧地利頒「財政令」，紙鈔貶為面額五分之一，年金實質購買力大縮水；洛布科維茨 1811 年 9 月起停付、財產遭託管；金斯基 1812 年墜馬身亡（得年約 31），年金一度斷炊，貝多芬須向其遺孀陳情，家族遲至 1815 年才恢復支付。</a:t>
            </a:r>
          </a:p>
          <a:p>
            <a:r>
              <a:t>- 誰扛住了：當另兩位金主陷入困境，魯道夫提高自己的份額以維持貝多芬的收入——這正是聯合贊助裡「主辦金主／領投人」的角色，也是這筆投資最終沒有爛尾的原因。</a:t>
            </a:r>
          </a:p>
          <a:p>
            <a:r>
              <a:t>- 給企業的一句話：贊助要簽長約、要綁定、要白紙黑字——但也要算進通膨、違約與意外，最好有一位扛得住的「領投金主」。</a:t>
            </a:r>
          </a:p>
          <a:p>
            <a:r>
              <a:t>- 📖 弗洛林／杜卡特：弗洛林（又稱古爾登）是當時奧地利通行的銀幣，4,000 弗洛林足以養活一位頂級作曲家一整年；杜卡特是幣值更高的金幣，西發里亞開的 600 杜卡特是相當優渥的挖角行情。</a:t>
            </a:r>
          </a:p>
          <a:p>
            <a:r>
              <a:t>- 📖 魯道夫大公（Archduke Rudolph，1788–1831）：奧地利皇室成員、貝多芬唯一的作曲學生兼最大贊助人，後升任紅衣主教；出資最少卻獲題獻最多，是「贊助換冠名」報酬率最高的範例。</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18｜這筆贊助的「兩百年複利」</a:t>
            </a:r>
          </a:p>
          <a:p/>
          <a:p>
            <a:r>
              <a:t>【講稿】（停留約 70 秒）這筆贊助的複利，長到嚇人。《第九號交響曲》第四樂章那段〈歡樂頌〉（Ode to Joy，德文原意「快樂的頌歌」），1985 年，成了歐盟的盟歌——一段旋律，代表一整個歐洲。而在日本，每年底幾萬人一起合唱「第九」，是全民的年末儀式；其中大阪那場「萬人第九」，直到今天，都由企業冠名贊助。各位算算看：三位貴族兩百年前付的那筆錢，到今天還在替他們的名字「配息」，還在替現代企業創造冠名曝光。所以贊助最驚人的地方在這裡：你買的不是一次曝光，是一個世紀、甚至兩個世紀的品牌。</a:t>
            </a:r>
          </a:p>
          <a:p>
            <a:r>
              <a:t>【講義補充】</a:t>
            </a:r>
          </a:p>
          <a:p>
            <a:r>
              <a:t>- 這張延續前一張「題獻／年金」的主軸：對金主而言，贊助不是一次性花費，而是會「複利滾存」的品牌資產；三位貴族兩百年前的投資，至今仍在替他們的姓氏、以及現代冠名企業「配息」。</a:t>
            </a:r>
          </a:p>
          <a:p>
            <a:r>
              <a:t>- 三位金主與金額（呼應講稿「三位貴族付的那筆錢」）：1809 年 3 月 1 日在維也納簽訂的《年金合約》，由魯道夫大公（Archduke Rudolph）、金斯基親王（Ferdinand Kinsky）、洛布科維茨親王（Franz Joseph Lobkowitz）共同承諾，每年支付貝多芬（Ludwig van Beethoven）四千弗羅林（florin）終身年金；三人分攤為魯道夫一千五百、金斯基一千八百、洛布科維茨七百弗羅林（據 Beethoven-Haus）。</a:t>
            </a:r>
          </a:p>
          <a:p>
            <a:r>
              <a:t>- 這筆錢的來龍去脈是一場「搶人保衛戰」：1808 年拿破崙之弟、西發里亞國王熱羅姆·波拿巴（Jérôme Bonaparte）以年薪六百杜卡特（ducat）延攬貝多芬赴卡塞爾（Kassel）任宮廷樂長；三位貴族為把他留在維也納，聯手開出終身年金，唯一附帶條件是「不得擅離奧地利」，等於用錢把頂尖創作者綁在本地。</a:t>
            </a:r>
          </a:p>
          <a:p>
            <a:r>
              <a:t>- 「配息」實際怎麼配：出資最少的魯道夫大公，一生卻獲題獻最多部貝多芬代表作——《第五號鋼琴協奏曲「皇帝」》、鋼琴三重奏「大公」、《莊嚴彌撒》等——姓氏因此永久刻進音樂史，兩百年後每場演出仍被唸出，這正是贊助的「複利」。</a:t>
            </a:r>
          </a:p>
          <a:p>
            <a:r>
              <a:t>- 這筆贊助養出的「產品」：《第九號交響曲》1824 年 5 月 7 日在維也納肯特納門劇院（Kärntnertortheater）首演，是史上第一次把人聲合唱寫進交響曲的最後樂章，唱的就是〈歡樂頌〉。</a:t>
            </a:r>
          </a:p>
          <a:p>
            <a:r>
              <a:t>- 複利第一條路線（歐洲）：貝多芬的〈歡樂頌〉旋律（採用的是旋律、非席勒的歌詞）先於 1972 年 1 月 19 日被歐洲理事會（Council of Europe）定為「歐洲之歌」，再於 1985 年由歐洲共同體（今歐盟前身）各國元首正式採為盟歌——一段旋律代表一整個歐洲，這是任何廣告預算都買不到的象徵位置。</a:t>
            </a:r>
          </a:p>
          <a:p>
            <a:r>
              <a:t>- 盟歌刻意「無歌詞」：官方版本只演奏旋律、不唱任何語言的詞，以免獨厚某一種歐洲語言；官方三種改編（管弦樂、管樂、獨奏鋼琴）由指揮家卡拉揚（Herbert von Karajan）操刀並灌錄，等於替這個「品牌旋律」做了標準化的識別系統。</a:t>
            </a:r>
          </a:p>
          <a:p>
            <a:r>
              <a:t>- 複利第二條路線（日本）：《第九》在亞洲的首次全曲演出，是 1918 年 6 月 1 日德國戰俘在德島「板東俘虜收容所」（今鳴門市）唱出的；此後逐漸演變成日本全民的年末合唱儀式，暱稱「第九（Daiku，日文即『第九』）」，年底幾萬人齊唱成為固定風景。</a:t>
            </a:r>
          </a:p>
          <a:p>
            <a:r>
              <a:t>- 大阪「萬人第九」＝現代企業冠名的活教材：1983 年起，每年 12 月第一個週日在大阪城音樂廳（Osaka-jo Hall）由約一萬名素人合唱《第九》終樂章；它源於大阪 21 世紀協會（1982 年成立）為「大阪築城四百年祭」策劃的核心活動。</a:t>
            </a:r>
          </a:p>
          <a:p>
            <a:r>
              <a:t>- 冠名者是誰、換到什麼：三得利（Suntory）時任社長佐治敬三（Keizo Saji）一肩扛下贊助，三得利自創辦起長年單一冠名（據日文維基，至 2014 年第 32 屆均由三得利獨家協贊），活動全名即冠上品牌；企業付錢，換到的是每年上萬人、全國轉播中反覆被口播的品牌名，這就是講稿說的「替現代企業創造冠名曝光」。</a:t>
            </a:r>
          </a:p>
          <a:p>
            <a:r>
              <a:t>- 呼應全片記憶點「共融」：第 1 至 16 屆（1983–1998）由作曲家山本直純（Yamamoto Naozumi）構成兼指揮，他把樂譜發給全場觀眾、讓一萬人在高潮處齊唱，「帶動唱」式的全民共融，正是冠名企業最想沾上的正面形象。</a:t>
            </a:r>
          </a:p>
          <a:p>
            <a:r>
              <a:t>- 給企業的一句話結論：贊助買到的不是一次曝光，而是跨世紀的品牌資產——貴族靠題獻讓姓氏活了兩百年，現代企業靠冠名讓品牌年年配息。</a:t>
            </a:r>
          </a:p>
          <a:p>
            <a:r>
              <a:t>- 📖 年金合約（Rentenvertrag／annuity）：定期（多為每年）支付固定金額給受贈者的長期契約；當時＝貴族用來「包養」作曲家、保證其收入穩定並把人留在本地的財務工具，本例還是終身有效。</a:t>
            </a:r>
          </a:p>
          <a:p>
            <a:r>
              <a:t>- 📖 弗羅林／杜卡特（florin、Gulden／ducat）：弗羅林（又譯古爾登、盾）是當時奧地利與中歐通行的貨幣單位，四千弗羅林在 1809 年已是可讓人衣食無虞的年收入；杜卡特則是幣值更高的金幣，熱羅姆開的六百杜卡特是相當優渥的挖角行情。</a:t>
            </a:r>
          </a:p>
          <a:p>
            <a:r>
              <a:t>- 📖 魯道夫大公（Archduke Rudolph，1788–1831）：奧地利皇室成員、貝多芬唯一的作曲學生兼最大贊助人；出資最少卻獲題獻最多，後來升任紅衣主教，是「贊助換冠名」報酬率最高的範例。</a:t>
            </a:r>
          </a:p>
          <a:p>
            <a:r>
              <a:t>- 📖 金斯基親王、洛布科維茨親王（Ferdinand Kinsky／Franz Joseph Lobkowitz）：波希米亞的兩位貴族大地主，與魯道夫共同簽署年金合約；洛布科維茨自養私人樂團，也是貝多芬多部交響曲的贊助者。</a:t>
            </a:r>
          </a:p>
          <a:p>
            <a:r>
              <a:t>- 📖 席勒（Friedrich Schiller，1759–1805）：德國詩人兼劇作家，1785 年寫下頌詩〈快樂頌（An die Freude）〉，貝多芬取其詩句譜成《第九》終樂章的〈歡樂頌〉。</a:t>
            </a:r>
          </a:p>
          <a:p>
            <a:r>
              <a:t>- 📖 歐洲理事會（Council of Europe）：1949 年成立、總部設於史特拉斯堡的泛歐人權與文化組織，會員逾四十國，與「歐盟」是兩個不同機構；它才是 1972 年最早採用這段旋律的單位。</a:t>
            </a:r>
          </a:p>
          <a:p>
            <a:r>
              <a:t>- 📖 歐洲共同體（European Community）：歐盟（1993 年起改稱）的前身經濟暨政治共同體；1985 年由其各國元首把〈歡樂頌〉正式升格為官方盟歌。</a:t>
            </a:r>
          </a:p>
          <a:p>
            <a:r>
              <a:t>- 📖 卡拉揚（Herbert von Karajan，1908–1989）：二十世紀最具影響力的指揮家之一，長年執掌柏林愛樂；受託改編歐盟盟歌的官方三種樂器版本並錄製。</a:t>
            </a:r>
          </a:p>
          <a:p>
            <a:r>
              <a:t>- 📖 板東俘虜收容所（Bandō POW camp）：一次大戰後日本收容德國戰俘的營區（今德島縣鳴門市），以人道管理著稱，《第九》在亞洲的首次全曲演出即誕生於此。</a:t>
            </a:r>
          </a:p>
          <a:p>
            <a:r>
              <a:t>- 📖 三得利與佐治敬三（Suntory／Keizo Saji，1919–1999）：三得利是以威士忌、啤酒聞名的日本大型酒業飲料集團；第二任社長佐治敬三熱心藝文贊助，拍板長期支持「萬人第九」，讓品牌與這場全民盛事牢牢綁在一起。</a:t>
            </a:r>
          </a:p>
          <a:p>
            <a:r>
              <a:t>- 📖 冠名贊助（title sponsorship）：企業出資，換取把品牌名冠在活動或場館「正式名稱」最前面的行銷手法；當時＝把「三得利」三字綁進每年活動全名與電視轉播的口播，屬於本片一再強調的贊助回報形式。</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19｜郭德堡變奏曲：失眠伯爵的一筆私人委託</a:t>
            </a:r>
          </a:p>
          <a:p/>
          <a:p>
            <a:r>
              <a:t>【講稿】（停留約 85 秒）再看一位金主。有位俄國派駐薩克森的公使，凱瑟林克伯爵（Count Keyserlingk），長年失眠，他出錢請巴赫寫一組溫柔好聽的鍵盤曲，讓身邊一位年輕樂師夜裡彈給他聽助眠。各位聽出重點了嗎？第一，這是極致的客製化——為一位客戶的一個需求量身打造。第二，付錢的人買到了什麼？「名字」。曲子明明是巴赫寫的，可是兩百多年來，全世界都叫它「郭德堡」——郭德堡（Goldberg）就是伯爵身邊那位樂師的名字，因為這部作品，被永遠寫進了歷史。順帶送各位一個很實用的點：這首曲子當年就是為了「靜心助眠」而生的，規律、清澈、不吵。所以我會說，它是最適合各位企業領導者的一首曲子——高壓時用它沉澱思緒、紓解壓力，要專注決策時用它把腦子清乾淨。現在請聽開頭這段詠嘆調（Aria），今天的主打聆聽第一首。</a:t>
            </a:r>
          </a:p>
          <a:p>
            <a:r>
              <a:t>【講義補充】</a:t>
            </a:r>
          </a:p>
          <a:p>
            <a:r>
              <a:t>- 這位金主全名凱瑟林克伯爵（Count Hermann Carl von Keyserlingk，1697–1764），出身波羅的海德意志貴族（庫爾蘭／瑟米加利亞），是俄羅斯帝國派駐薩克森選帝侯宮廷（德勒斯登與華沙）的常任公使，一路做到過世；他不是路過的貴客，而是長期定居德勒斯登、握有實權的外交大員，這樣的人願意掏錢與掛名，份量自然不同。</a:t>
            </a:r>
          </a:p>
          <a:p>
            <a:r>
              <a:t>- 這筆私人委託之所以值得企業家細看，是因為金主先前早已替巴赫「辦成一件大事」：1733 年巴赫把《b 小調彌撒》的〈垂憐經〉與〈榮耀經〉呈給德勒斯登宮廷，想討一個官方頭銜，起初石沉大海；正是靠凱瑟林克從中關說施力，1736 年 11 月 19 日巴赫才終於獲薩克森選帝侯兼波蘭國王腓特烈．奧古斯特二世（即奧古斯特三世）頒授「宮廷作曲家」（Hofcompositeur）名銜。金主真正的價值，往往不在單筆訂單，而在替你打通關節。</a:t>
            </a:r>
          </a:p>
          <a:p>
            <a:r>
              <a:t>- 對照前面幾站的贊助模式——梅迪奇之於歌劇、埃斯特哈齊之於海頓——凱瑟林克示範的是「人脈型贊助」：出錢只是一部分，替藝術家背書、引薦、向王室掛保證，才是更稀缺、更難買的資源。</a:t>
            </a:r>
          </a:p>
          <a:p>
            <a:r>
              <a:t>- 據福克爾（Johann Nikolaus Forkel）1802 年記載，伯爵事後回贈巴赫「一只裝滿一百枚金路易（Louis d'or）的金杯」，並補一句：就算禮物再大一千倍，也抵不上這部作品的藝術價值；此金額出自單一來源、與委託故事同屬傳說範圍，宜當軼事看待。</a:t>
            </a:r>
          </a:p>
          <a:p>
            <a:r>
              <a:t>- 全曲於 1741 年由紐倫堡出版商巴爾塔薩．施密特（Balthasar Schmid）刊行，原名並非「郭德堡」，而是《鍵盤練習曲》（Clavier-Übung）第四部，副題「一段詠嘆調與其多樣變奏，為雙層鍵盤大鍵琴而作」；結構是一段主題詠嘆調＋三十段變奏＋結尾主題原樣再現，每隔三段安排一首卡農，工整到近乎建築——這種「極致客製」正是講稿要各位聽出的第一個重點。</a:t>
            </a:r>
          </a:p>
          <a:p>
            <a:r>
              <a:t>- 首版扉頁上沒有任何題獻（既無伯爵名、也無郭德堡名），這正是學界懷疑委託故事的關鍵證據之一：若真是伯爵出資委託，按當時慣例必會鄭重把作品題獻給金主；反過來說，這也讓「金主買到名字」的效果更耐人尋味——名分不是印在扉頁，而是刻進後世兩百多年的口耳相傳。</a:t>
            </a:r>
          </a:p>
          <a:p>
            <a:r>
              <a:t>- 曲名裡的「郭德堡」指的是約翰．哥特利布．郭德堡（Johann Gottlieb Goldberg，1727–1756），伯爵府裡供養的年輕鍵盤好手、巴赫的學生，1741 年他頂多約十四歲：金主花錢養的一名家臣樂師，只因掛在這部作品上，名字被全世界記了兩百多年，這正是講稿第二個重點「付錢的人買到什麼」的極端範例。</a:t>
            </a:r>
          </a:p>
          <a:p>
            <a:r>
              <a:t>- 付錢者身邊人的名字，因一部不屬於他、卻與他相連的作品而不朽。</a:t>
            </a:r>
          </a:p>
          <a:p>
            <a:r>
              <a:t>- 失眠委託故事出自福克爾 1802 年巴赫傳記，屬傳說性質（首版無題獻、哥德堡當時僅約十四歲、成書時距事件已逾六十年）；「領導者最適合聆聽」為講座定位詮釋，非醫療療效宣稱。</a:t>
            </a:r>
          </a:p>
          <a:p>
            <a:r>
              <a:t>- 📖 選帝侯（Kurfürst／Elector）：神聖羅馬帝國中少數有權選舉皇帝的諸侯，地位極高；當時的薩克森選帝侯＝腓特烈．奧古斯特二世，同時兼任波蘭國王奧古斯特三世，德勒斯登即其宮廷所在，凱瑟林克就是派駐這座宮廷的俄國公使。</a:t>
            </a:r>
          </a:p>
          <a:p>
            <a:r>
              <a:t>- 📖 宮廷作曲家（Hofcompositeur／Court Composer）：宮廷授予音樂家的榮譽官銜，＝拿到王室背書的一紙「認證」，可抬高身價、壓制地方雇主（如巴赫任職的萊比錫市議會）的刁難；巴赫求這個頭銜多年，最後靠凱瑟林克才在 1736 年到手。</a:t>
            </a:r>
          </a:p>
          <a:p>
            <a:r>
              <a:t>- 📖 金路易（Louis d'or）：法國通行的金幣，得名自法王路易十三，＝當時歐洲跨國流通的高面額硬通貨；一百枚金路易在十八世紀是相當可觀的一筆賞金。</a:t>
            </a:r>
          </a:p>
          <a:p>
            <a:r>
              <a:t>- 📖 雙層鍵盤大鍵琴（Cembalo mit 2 Manualen／two-manual harpsichord）：以撥弦發聲的巴洛克主力鍵盤樂器，本曲特別指定有上下兩排鍵盤的高階型號，＝方便雙手交叉演奏、也是富貴人家才擺得起的貴重家當。</a:t>
            </a:r>
          </a:p>
          <a:p>
            <a:r>
              <a:t>- 📖 鍵盤練習曲（Clavier-Übung）：巴赫親自命名、分批自費出版的鍵盤曲集總標題，＝供行家自修、同時替作曲家打品牌的「作品集」；郭德堡變奏曲是這套的第四部（1741）。</a:t>
            </a:r>
          </a:p>
          <a:p>
            <a:r>
              <a:t>- 📖 變奏曲（Variation／Variazione）：以一段主題為本，反覆改寫其和聲、節奏與織體而成的曲式，＝同一素材的三十種變身，用來展示作曲家的巧思與技術含量。</a:t>
            </a:r>
          </a:p>
          <a:p>
            <a:r>
              <a:t>- 📖 卡農（Canon）：一個聲部先起、其他聲部依固定音程與時差模仿追趕的嚴格對位手法（童謠〈兩隻老虎〉即最簡單的卡農）；本曲每第三段變奏就是一首卡農，模仿音程從同度一路擴大到九度。</a:t>
            </a:r>
          </a:p>
          <a:p>
            <a:r>
              <a:t>- 📖 詠嘆調（Aria，義大利文原意「曲調、空氣」）：此處指全曲開頭那段主題旋律，經三十段變奏後於結尾以「Aria da Capo」（da Capo＝從頭再奏）原樣再現，首尾呼應、圓滿收束。</a:t>
            </a:r>
          </a:p>
          <a:p>
            <a:r>
              <a:t>- 📖 福克爾（Johann Nikolaus Forkel，1749–1818）：巴赫的第一位傳記作者，1802 年出版德語巴赫傳；失眠委託與金杯故事都出自此書，寫作時距事件已逾一甲子，且多經巴赫兒子輾轉轉述，故細節可信度有限，屬珍貴卻須存疑的軼事來源。</a:t>
            </a:r>
          </a:p>
          <a:p>
            <a:r>
              <a:t>【影片操作】 播《郭德堡變奏曲》Aria 約 3 分鐘。播前：「想像你就是那位失眠的伯爵——這是專屬於你的深夜服務。」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20｜郭德堡是誰？出錢的是伯爵，留名的卻是樂師</a:t>
            </a:r>
          </a:p>
          <a:p/>
          <a:p>
            <a:r>
              <a:t>【講稿】（停留約 60 秒）這部作品的名字，藏著一個對出錢的人很有意思的故事。出錢的金主，是俄國派駐薩克森的凱瑟林克伯爵，長年失眠。相傳他出錢請巴赫寫一組溫柔的鍵盤曲，讓身邊一位年輕樂師夜裡彈給他聽助眠。可是各位注意——這部曲子後來卻不叫「凱瑟林克」，而叫「郭德堡」。郭德堡是誰？是伯爵府裡那位約莫十四歲的年輕鍵盤手、巴赫的學生。於是最妙的一幕發生了：出錢的伯爵沒留下名字，反倒是他身邊那位家臣樂師，因為這部不屬於他、卻與他相連的作品，被全世界記了兩百多年。付錢的人買到什麼？有時候，連身邊人的名字，都一起變成了不朽。</a:t>
            </a:r>
          </a:p>
          <a:p>
            <a:r>
              <a:t>【講義補充】</a:t>
            </a:r>
          </a:p>
          <a:p>
            <a:r>
              <a:t>- 金主全名凱瑟林克伯爵（Count Hermann Carl von Keyserlingk，1697–1764），俄羅斯帝國派駐薩克森選帝侯宮廷（德勒斯登）的常任公使；長期定居、握有實權的外交大員，這樣的人願意掏錢與掛名，份量自然不同。</a:t>
            </a:r>
          </a:p>
          <a:p>
            <a:r>
              <a:t>- 曲名裡的「郭德堡」指約翰·哥特利布·郭德堡（Johann Gottlieb Goldberg，1727–1756），伯爵府裡供養的年輕鍵盤好手、巴赫的學生，1741 年他頂多約十四歲——金主花錢養的一名家臣樂師，只因掛在這部作品上，名字被全世界記了兩百多年。</a:t>
            </a:r>
          </a:p>
          <a:p>
            <a:r>
              <a:t>- 首版扉頁其實沒有任何題獻（既無伯爵名、也無郭德堡名）：全曲 1741 年由紐倫堡出版商施密特（Balthasar Schmid）刊行，原名《鍵盤練習曲》（Clavier-Übung）第四部；這也是學界懷疑「委託故事」的關鍵證據之一。</a:t>
            </a:r>
          </a:p>
          <a:p>
            <a:r>
              <a:t>- 失眠委託故事出自福克爾（Johann Nikolaus Forkel）1802 年的巴赫傳記，屬傳說性質（首版無題獻、郭德堡當時僅約十四歲、成書時距事件已逾六十年）；宜當珍貴軼事看待、講稿以「相傳」帶過。</a:t>
            </a:r>
          </a:p>
          <a:p>
            <a:r>
              <a:t>- 金主更深一層的價值：據載凱瑟林克曾替巴赫關說，促成他 1736 年獲薩克森選帝侯頒「宮廷作曲家」（Hofcompositeur）名銜——金主真正的價值，往往不在單筆訂單，而在替你打通關節。</a:t>
            </a:r>
          </a:p>
          <a:p>
            <a:r>
              <a:t>- 📖 凱瑟林克伯爵（Count Keyserlingk）：俄國駐薩克森公使、巴赫的贊助者與引薦人；他出錢委託卻未留名於曲名，正是「付錢者買到什麼」最耐人尋味的一則。</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21｜郭德堡的另一課：金主真正的價值，是替你打通關節</a:t>
            </a:r>
          </a:p>
          <a:p/>
          <a:p>
            <a:r>
              <a:t>【講稿】（停留約 60 秒）郭德堡這個故事，還藏著給各位金主的第二課。這位凱瑟林克伯爵，給巴赫的其實不只是一筆訂單——他更厲害的一手，是動用自己的人脈，替巴赫打通了關節。巴赫一直想要一個「宮廷作曲家」的頭銜，求了好幾年、屢屢碰壁；最後就是靠這位伯爵從中施力，1736 年才終於拿到。各位是生意人，一定懂這個道理：一紙王室認證的頭銜，讓巴赫在跟雇主談判時整個腰桿都硬了，這是單筆委託費買不到的。所以頂級金主最稀缺的價值，往往不是那筆錢，而是他願意替你背書、引薦、打通門路。</a:t>
            </a:r>
          </a:p>
          <a:p>
            <a:r>
              <a:t>【講義補充】</a:t>
            </a:r>
          </a:p>
          <a:p>
            <a:r>
              <a:t>- 金主先前早已替巴赫「辦成一件大事」：1733 年巴赫把《b 小調彌撒》的〈垂憐經〉與〈榮耀經〉呈給德勒斯登宮廷、想討一個官方頭銜，起初石沉大海；正是靠凱瑟林克從中關說施力，1736 年 11 月 19 日巴赫才終於獲薩克森選帝侯兼波蘭國王腓特烈·奧古斯特二世頒授「宮廷作曲家」（Hofcompositeur）名銜。</a:t>
            </a:r>
          </a:p>
          <a:p>
            <a:r>
              <a:t>- 這個頭銜為什麼重要：它＝拿到王室背書的一紙「認證」，可抬高身價、壓制地方雇主（巴赫任職的萊比錫市議會）的刁難；巴赫求這個頭銜多年，最後靠凱瑟林克才到手。</a:t>
            </a:r>
          </a:p>
          <a:p>
            <a:r>
              <a:t>- 對照前面幾站的贊助模式——梅迪奇之於歌劇、埃斯特哈齊之於海頓——凱瑟林克示範的是「人脈型贊助」：出錢只是一部分，替藝術家背書、引薦、向王室掛保證，才是更稀缺、更難買的資源。</a:t>
            </a:r>
          </a:p>
          <a:p>
            <a:r>
              <a:t>- 據福克爾（Forkel）記載，伯爵事後還回贈巴赫一只裝滿一百枚金路易（Louis d'or）的金杯（此金額出自單一來源、與委託故事同屬傳說範圍，宜當軼事看待）。</a:t>
            </a:r>
          </a:p>
          <a:p>
            <a:r>
              <a:t>- 給企業的一句話：挑金主、找贊助，別只看他出多少錢，要看他能替你打開哪些門。</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22｜葛雷夫勒女伯爵：出錢的贊助者，被藝術寫成傳奇</a:t>
            </a:r>
          </a:p>
          <a:p/>
          <a:p>
            <a:r>
              <a:t>【講稿】（停留約 65 秒）先認識這位金主本人——葛雷夫勒女伯爵。她是巴黎社交圈公認的「女王」，以絕世美貌與品味聞名；而她贊助的底氣，來自夫家——當時法國最富有的銀行世家之一。佛瑞還是個掙扎中的年輕作曲家時，是她把他引進巴黎最高的社交圈，讓他當上自己沙龍的音樂總監。佛瑞感激到什麼程度？他直接稱這位女伯爵是自己的「巴伐利亞國王」——就是我們前面講過、那位砸錢供養華格納的路德維希二世。而她的影響力遠不只佛瑞一人：她把華格納正式引進法國、當俄羅斯芭蕾舞團的金主、甚至資助居禮夫人的鐳研究。頂級的贊助者，影響力是全方位的。</a:t>
            </a:r>
          </a:p>
          <a:p>
            <a:r>
              <a:t>【講義補充】</a:t>
            </a:r>
          </a:p>
          <a:p>
            <a:r>
              <a:t>- 完整身分：伊麗莎白·葛雷夫勒（Élisabeth Greffulhe，本姓 de Riquet de Caraman-Chimay，1860–1952），出身古老貴族，被稱為巴黎福布爾聖日耳曼區沙龍的「女王」，以絕世美貌與品味聞名。</a:t>
            </a:r>
          </a:p>
          <a:p>
            <a:r>
              <a:t>- 贊助底氣來自夫家：丈夫亨利·葛雷夫勒伯爵（1848–1932）出身比利時銀行世家，據載是當時法國最富有的男子之一——是銀行家族的錢，撐起她替音樂家開路的能力。</a:t>
            </a:r>
          </a:p>
          <a:p>
            <a:r>
              <a:t>- 與佛瑞的相遇（1887）：她結識佛瑞、邀他到迪耶普（Dieppe）海崖別墅作客，佛瑞旋即替她在巴黎 rue d'Astorg 8 號的沙龍籌辦音樂會，等於成了她沙龍的音樂總監。</a:t>
            </a:r>
          </a:p>
          <a:p>
            <a:r>
              <a:t>- 佛瑞稱她是自己的「巴伐利亞國王」（roi de Bavière）：直接把她比作砸錢供養華格納的路德維希二世，等於公開承認「她之於我，就是華格納之於那位國王」。</a:t>
            </a:r>
          </a:p>
          <a:p>
            <a:r>
              <a:t>- 影響力全方位：她創辦並主持「法國大型音樂會社」（1890–1913）、把《諸神的黃昏》《崔斯坦與伊索德》引進法國首演、是狄亞吉列夫（Diaghilev）俄羅斯芭蕾舞團的重要金主（促成《春之祭》1913 首演），甚至資助居禮夫人的鐳研究與布朗利的無線電研究（據 Wikipedia）。</a:t>
            </a:r>
          </a:p>
          <a:p>
            <a:r>
              <a:t>- 📖 葛雷夫勒女伯爵：憑財富與社交地位「開門」的典型贊助者，決定哪些藝術家能進入巴黎上流圈、哪些作品能被演出被看見；普魯斯特以她為藍本，塑造出《追憶似水年華》的蓋爾芒特公爵夫人。</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23｜佛瑞與女伯爵：贊助者，因藝術而不朽</a:t>
            </a:r>
          </a:p>
          <a:p/>
          <a:p>
            <a:r>
              <a:t>【講稿】（停留約 75 秒）不朽之名這一樣，也有女性金主的漂亮示範。法國作曲家佛瑞（Fauré）年輕、還在掙扎的時候，有位葛雷夫勒女伯爵（Comtesse Greffulhe）把他引進了巴黎最高的社交圈。佛瑞最美的一首《帕凡舞曲》（Pavane），就是為她的沙龍而寫、題獻給她的。各位看這筆交易：女伯爵出資、給機會、給舞台；而佛瑞——還有把她寫進小說的大文豪普魯斯特——讓這位女伯爵的名字，永遠被後世記得。這就是贊助最美的回報：出錢的人，因為藝術，名留青史。錢會花完，但這種「不朽」，買不到、也搶不走。我們聽這首為她而寫的《帕凡舞曲》。</a:t>
            </a:r>
          </a:p>
          <a:p>
            <a:r>
              <a:t>【講義補充】</a:t>
            </a:r>
          </a:p>
          <a:p>
            <a:r>
              <a:t>- 葛雷夫勒女伯爵（Comtesse Greffulhe）在佛瑞（Gabriel Fauré）還是掙扎中的年輕作曲家時，把他引進巴黎最高社交圈；佛瑞最著名的《帕凡舞曲》（Pavane, Op.50，1887）題獻給她，是這段贊助關係的結晶。</a:t>
            </a:r>
          </a:p>
          <a:p>
            <a:r>
              <a:t>- 這位金主的完整身分：瑪麗·阿納托爾·路易絲·伊麗莎白·葛雷夫勒（Marie Anatole Louise Élisabeth Greffulhe，本姓 de Riquet de Caraman-Chimay，1860–1952），出身古老貴族，被稱為巴黎福布爾聖日耳曼區沙龍的「女王」，本身即以絕世美貌與品味聞名。</a:t>
            </a:r>
          </a:p>
          <a:p>
            <a:r>
              <a:t>- 她贊助的底氣來自夫家的財富：丈夫亨利·葛雷夫勒伯爵（Henri, Comte Greffulhe，1848–1932）出身比利時銀行世家，據載是當時法國最富有的男子之一；兩人於 1878 年成婚。換言之，是銀行家族的錢，撐起了她替音樂家開路的能力。</a:t>
            </a:r>
          </a:p>
          <a:p>
            <a:r>
              <a:t>- 相遇的時間點很清楚：1887 年女伯爵結識佛瑞，並邀他到迪耶普（Dieppe）海崖上的避暑別墅作客；佛瑞旋即開始替她在巴黎 rue d'Astorg 8 號的沙龍籌辦音樂會，等於成了她沙龍的音樂總監。</a:t>
            </a:r>
          </a:p>
          <a:p>
            <a:r>
              <a:t>- 佛瑞感激之餘，稱女伯爵是他的「巴伐利亞國王」（roi de Bavière）——直接把她比作當年砸錢供養華格納（Richard Wagner）的路德維希二世（Ludwig II），等於公開承認：她之於我，就是華格納之於那位國王。這正呼應全片一再出現的「金主造就作曲家」主題。</a:t>
            </a:r>
          </a:p>
          <a:p>
            <a:r>
              <a:t>- 看清這筆交易的兩端：女伯爵付出的是金錢、機會與舞台；她換到的，是被佛瑞題獻、又被大文豪普魯斯特（Marcel Proust）寫進小說——名字被兩種藝術同時保存，永久流傳。這是贊助最漂亮的回報。</a:t>
            </a:r>
          </a:p>
          <a:p>
            <a:r>
              <a:t>- 題獻不是空頭支票，而是升級成盛事：女伯爵於 1891 年 7 月 21 日在布洛涅森林（Bois de Boulogne）湖中小島上舉辦夜宴，依佛瑞的構想以「看不見的樂團」演奏《帕凡》；並且是她本人建議加入隱形合唱團與舞者，歌詞則出自她的表兄蒙德斯鳩（Robert de Montesquiou）。金主不只出錢，還親自參與作品的呈現方式。</a:t>
            </a:r>
          </a:p>
          <a:p>
            <a:r>
              <a:t>- 《帕凡》的公開首演由頂尖資源護航：管弦樂版於 1888 年 11 月 25 日由指揮拉穆勒（Charles Lamoureux）在其 Concert Lamoureux 系列首演，三天後含合唱的版本在國民音樂協會（Société nationale de musique）登場。</a:t>
            </a:r>
          </a:p>
          <a:p>
            <a:r>
              <a:t>- 這位女伯爵遠不只贊助佛瑞一人：她於 1890 年創辦並親自主持「法國大型音樂會社」（Société des Grandes Auditions Musicales de France，1890–1913），宗旨是把乏人問津的歌劇傑作搬上舞台，資金來自包括埃德蒙·德·波利尼亞克親王（Prince Edmond de Polignac）在內的富裕贊助者。</a:t>
            </a:r>
          </a:p>
          <a:p>
            <a:r>
              <a:t>- 她把華格納正式引進法國：據載主辦了《諸神的黃昏》（Götterdämmerung）的法國首演（1902 年 5 月 17 日），以及多場《崔斯坦與伊索德》（Tristan und Isolde）演出。這與全片「贊助者決定觀眾聽到什麼」的命題完全一致。</a:t>
            </a:r>
          </a:p>
          <a:p>
            <a:r>
              <a:t>- 她的贊助一路延伸到二十世紀前衛藝術：據載她是狄亞吉列夫（Sergei Diaghilev）俄羅斯芭蕾舞團（Ballets Russes）的重要金主，並促成史特拉汶斯基（Igor Stravinsky）《春之祭》（The Rite of Spring）於 1913 年 5 月的首演。</a:t>
            </a:r>
          </a:p>
          <a:p>
            <a:r>
              <a:t>- 她的「金主」角色甚至跨出藝術界：據 Wikipedia，她也資助居禮夫人（Marie Curie）的鐳研究院，以及物理學家布朗利（Édouard Branly）的無線電研究——說明頂級贊助者的影響力是全方位的。</a:t>
            </a:r>
          </a:p>
          <a:p>
            <a:r>
              <a:t>- 最終的收支表：錢會花完、莊園會易主，但佛瑞給了她音樂上的不朽、普魯斯特給了她文學上的不朽。同一位出資者，被兩種藝術牢牢記住——這就是「因藝術而不朽」的實例。</a:t>
            </a:r>
          </a:p>
          <a:p>
            <a:r>
              <a:t>- 📖 帕凡舞曲（Pavane）：16 世紀歐洲宮廷的緩慢二拍行列舞曲，貴族踩著莊重步伐列隊而行（詞源一說來自義大利帕多瓦 Padova、一說來自拉丁文孔雀 pavo）；佛瑞借這個古舞之名寫成 Op.50，是一首懷古而優雅的管弦小品，題獻給贊助者女伯爵。</a:t>
            </a:r>
          </a:p>
          <a:p>
            <a:r>
              <a:t>- 📖 葛雷夫勒女伯爵（Comtesse Greffulhe）：Comtesse 即法文「伯爵夫人」；她是憑財富與社交地位「開門」的典型贊助者，決定哪些藝術家能進入巴黎上流圈、哪些作品能被演出被看見。</a:t>
            </a:r>
          </a:p>
          <a:p>
            <a:r>
              <a:t>- 📖 沙龍（salon）：當時＝上流貴婦在自家客廳定期舉辦的社交聚會，集文人、音樂家、畫家、政要於一堂；沒有售票、沒有海報，卻是藝術家取得贊助、人脈與首演機會的關鍵舞台，主人（多為女性）等於私人策展兼星探。</a:t>
            </a:r>
          </a:p>
          <a:p>
            <a:r>
              <a:t>- 📖 福布爾聖日耳曼（Faubourg Saint-Germain）：巴黎塞納河左岸的老貴族聚居區，當時＝法國最頂層舊貴族的地盤，是社交聲望的最高地址，女伯爵的沙龍即坐落於此圈子。</a:t>
            </a:r>
          </a:p>
          <a:p>
            <a:r>
              <a:t>- 📖 題獻（dedication）：在樂譜扉頁把作品「獻給」某人；當時＝作曲家回報金主、攀附權貴或表達敬意的正式方式，被題獻者的名字因此與作品綁在一起、隨作品流傳後世。</a:t>
            </a:r>
          </a:p>
          <a:p>
            <a:r>
              <a:t>- 📖 巴伐利亞國王／路德維希二世（Ludwig II of Bavaria，1845–1886）：狂熱迷戀華格納、傾國庫供養其歌劇與拜羅伊特劇院的德意志君主，是音樂史上「散財金主」的代名詞；佛瑞用他來比喻女伯爵，是把她抬到「華格納級金主」的高度。</a:t>
            </a:r>
          </a:p>
          <a:p>
            <a:r>
              <a:t>- 📖 蒙德斯鳩（Robert de Montesquiou，1855–1921）：女伯爵的表兄，法國唯美主義象徵派詩人、收藏家與著名紈褲子弟（dandy），自封「美的教授」；他為《帕凡》合唱版寫了歌詞，也是普魯斯特筆下夏呂斯男爵（Baron de Charlus）與于斯曼小說主角的原型。</a:t>
            </a:r>
          </a:p>
          <a:p>
            <a:r>
              <a:t>- 📖 普魯斯特（Marcel Proust，1871–1922）：法國小說家，鉅著《追憶似水年華》（À la recherche du temps perdu，1913–1927 出版）；他以葛雷夫勒女伯爵為主要藍本，塑造出書中的蓋爾芒特公爵夫人（Duchesse de Guermantes），讓這位金主在文學史上一併不朽。</a:t>
            </a:r>
          </a:p>
          <a:p>
            <a:r>
              <a:t>- 📖 作品編號（Op.／opus）：opus 為拉丁文「作品」，Op. 後的數字是作曲家依創作或出版順序給作品的編號；《帕凡》為佛瑞的第 50 號作品，故記為 Op.50。</a:t>
            </a:r>
          </a:p>
          <a:p>
            <a:r>
              <a:t>【影片操作】 播佛瑞《帕凡舞曲》約 2 分鐘（開頭長笛主題）。播前：「聽一首曲子，如何讓一位贊助者不朽。」</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24｜普魯斯特讓她第二次不朽：小說裡的公爵夫人</a:t>
            </a:r>
          </a:p>
          <a:p/>
          <a:p>
            <a:r>
              <a:t>【講稿】（停留約 65 秒）我們回到那位葛雷夫勒女伯爵，把「贊助者因藝術而不朽」這件事講到底。各位看，出錢的贊助者能有多不朽？佛瑞用一首《帕凡》題獻給她，是第一次；而大文豪普魯斯特，又用一整部小說把她封存起來，是第二次。普魯斯特以她為藍本，寫出了《追憶似水年華》裡那位氣派的「蓋爾芒特公爵夫人」，讓她成了文學史上的經典人物。而且她從來不只是出錢的人：1891 年，她在布洛涅森林的湖中小島辦了一場夜宴，親自替《帕凡》加上了「看不見的合唱團」和舞者——各位看，金主也能是共同創作者。錢會花完、莊園會易主；但被作曲家題獻、被小說封存的名字，永遠搶不走。這，就是「因藝術而不朽」最完整的樣子。</a:t>
            </a:r>
          </a:p>
          <a:p>
            <a:r>
              <a:t>【講義補充】</a:t>
            </a:r>
          </a:p>
          <a:p>
            <a:r>
              <a:t>- 兩種不朽：佛瑞把《帕凡舞曲》（Pavane, Op.50，1887）題獻給女伯爵；普魯斯特（Marcel Proust）再以她為主要藍本，塑造《追憶似水年華》（1913–1927）裡的蓋爾芒特公爵夫人（Duchesse de Guermantes）——同一位金主，被音樂與文學同時保存。</a:t>
            </a:r>
          </a:p>
          <a:p>
            <a:r>
              <a:t>- 金主也是「共同創作者」：據載女伯爵於 1891 年 7 月 21 日在布洛涅森林（Bois de Boulogne）湖中小島舉辦夜宴，依佛瑞構想以「看不見的樂團」演奏《帕凡》；並且是她本人建議加入隱形合唱團與舞者，歌詞出自她的表兄蒙德斯鳩（Robert de Montesquiou）。</a:t>
            </a:r>
          </a:p>
          <a:p>
            <a:r>
              <a:t>- 蒙德斯鳩本人也是文學原型：他是普魯斯特筆下夏呂斯男爵（Baron de Charlus）的原型——女伯爵的整個圈子，都被寫進了同一部小說。</a:t>
            </a:r>
          </a:p>
          <a:p>
            <a:r>
              <a:t>- 📖 普魯斯特（Marcel Proust，1871–1922）：法國小說家，鉅著《追憶似水年華》；投影片上的肖像由 Otto Wegener 約 1895 年拍攝（與前面女伯爵的名肖像同一位攝影師）。</a:t>
            </a:r>
          </a:p>
          <a:p>
            <a:r>
              <a:t>- 收支表：錢會花完、莊園會易主，但佛瑞給了她音樂上的不朽、普魯斯特給了她文學上的不朽——這就是本站「贊助者因藝術而不朽」的極致。</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25｜梵谷與西奧：一個人的長期贊助，養出一位大師</a:t>
            </a:r>
          </a:p>
          <a:p/>
          <a:p>
            <a:r>
              <a:t>【講稿】（停留約 70 秒）不朽之名的最後一個故事，格局最小，卻最動人。梵谷（Van Gogh）生前幾乎賣不掉畫，那他靠什麼活？靠他弟弟西奧（Theo），一位巴黎畫商，從 1882 年起，按月匯錢養著他。重點是西奧自己說的一句話：「我把給他的錢，視為他工作的報酬。」不是施捨，是報酬——這正是我們今天要一直強調的「對等」。一個人的長期、穩定贊助，養出了一位定義時代的大師。所以請各位破除一個迷思：當金主，不一定要是豪門。梅迪奇可以是一個銀行王朝，也可以只是一個相信家人的弟弟。這句話，請記到今天最後。</a:t>
            </a:r>
          </a:p>
          <a:p>
            <a:r>
              <a:t>【講義補充】</a:t>
            </a:r>
          </a:p>
          <a:p>
            <a:r>
              <a:t>- 這一站刻意把鏡頭對準「金主」西奧：一位巴黎畫商，用長期、穩定、按月的現金流，獨力孵出一位定義時代的大師——證明贊助的關鍵從來不是財力大小，而是「持續」與「對等」。</a:t>
            </a:r>
          </a:p>
          <a:p>
            <a:r>
              <a:t>- 資助的性質是「報酬」而非「施捨」：西奧約於 1885 年 6 月寫給母親的信中表示，他把給梵谷（Vincent van Gogh，1853–1890）的錢視為梵谷工作的報酬、是他掙來的；這正是本場一再強調的「對等」原則的最佳注腳。</a:t>
            </a:r>
          </a:p>
          <a:p>
            <a:r>
              <a:t>- 對價安排很明確：梵谷把畫寄給西奧，西奧可自由處置與販售——等於一種「預付薪資＋作品歸出資者」的委任關係，而不是單向接濟；梵谷本人也堅持要把這筆錢當成「掙來的收入」看待。</a:t>
            </a:r>
          </a:p>
          <a:p>
            <a:r>
              <a:t>- 金額與時程：據梵谷博物館，自 1882 年起這筆匯款成為固定的按月支付，每月約 100–150 法郎（依梵谷居住地而略有增減），一路支撐到梵谷 1890 年 7 月辭世，幾乎貫穿他整個作畫生涯（他 1880 年才轉行認真作畫）。</a:t>
            </a:r>
          </a:p>
          <a:p>
            <a:r>
              <a:t>- 這筆錢有多重？據梵谷博物館，100 法郎約合 47–48 荷蘭盾，遠高於當時一名工廠工人養七口之家的月薪（約 32 盾）；換言之這是一份養得起一位職業藝術家的「薪水」，不是零花。</a:t>
            </a:r>
          </a:p>
          <a:p>
            <a:r>
              <a:t>- 出資者換到了什麼：十年間梵谷產出約 2,100 件作品（含約 860 幅油畫，且多數集中在最後兩年）——一整批日後價值連城的資產，全由一個人的持續投資孵化而成。</a:t>
            </a:r>
          </a:p>
          <a:p>
            <a:r>
              <a:t>- 出資者承擔了全部風險：梵谷生前公認只賣出一幅畫《紅葡萄園》（The Red Vineyard），1890 年在布魯塞爾以 400 法郎售予畫家兼收藏家安娜·波赫（Anna Boch）；市場尚未認可的漫長空窗期，全由西奧一人扛下。</a:t>
            </a:r>
          </a:p>
          <a:p>
            <a:r>
              <a:t>- 投影片上的《星夜》（The Starry Night）正是這段資助期的產物：1889 年 6 月畫於聖雷米療養院，如今已成現代藝術的地標，等於西奧那筆月薪換來的最著名成果之一。</a:t>
            </a:r>
          </a:p>
          <a:p>
            <a:r>
              <a:t>- 西奧的「贊助」不只是家用匯款：他本業就在推新畫風，1886 年起在畫廊夾層陳列印象派作品（莫內、竇加、畢沙羅等），本身就是梵谷接觸最新藝術語言的橋。</a:t>
            </a:r>
          </a:p>
          <a:p>
            <a:r>
              <a:t>- 破除「金主＝豪門」的迷思：對照本場前面登場的梅迪奇銀行王朝（Medici），這裡的金主只是一個相信家人的弟弟——規模天差地遠，但「長期、對等」的機制卻一模一樣。</a:t>
            </a:r>
          </a:p>
          <a:p>
            <a:r>
              <a:t>- 投資在身後才真正兌現：西奧比哥哥只多活半年（1891 年 1 月辭世），把「無人問津」變成「無價」的關鍵推手，是西奧遺孀喬安娜——她整理畫作、編輯出版兄弟書信並持續借展推廣，讓這筆長期投資在身後開花結果。</a:t>
            </a:r>
          </a:p>
          <a:p>
            <a:r>
              <a:t>- 📖 西奧·梵谷（Theo van Gogh，1857–1891）：文森·梵谷的弟弟、本場的「金主」；巴黎畫商，古庇公司巴黎分店經理，是哥哥終生唯一固定的出資者與精神支柱，兩人往來書信也成為研究梵谷的第一手史料。</a:t>
            </a:r>
          </a:p>
          <a:p>
            <a:r>
              <a:t>- 📖 古庇公司／布索-瓦拉東公司（Goupil &amp; Cie ／ Boussod, Valadon &amp; Cie）：西奧任職的巴黎大畫商，巴黎分店位於蒙馬特大道 19 號（19 Boulevard Montmartre）；當時＝橫跨歐美的頂級藝術品經銷與複製版畫帝國，主店於 1884 年改名 Boussod, Valadon &amp; Cie，西奧即在此檯面下推銷印象派。</a:t>
            </a:r>
          </a:p>
          <a:p>
            <a:r>
              <a:t>- 📖 法郎與荷蘭盾（franc ／ guilder）：分別是當時法國與荷蘭通行的貨幣；此處用來換算西奧匯款的實質購買力——每月百餘法郎相當於一份中上收入，說明這是「養得起一位藝術家」的資助，而非可有可無的零用。</a:t>
            </a:r>
          </a:p>
          <a:p>
            <a:r>
              <a:t>- 📖 《星夜》（The Starry Night）：梵谷 1889 年 6 月於聖雷米療養院所繪的油畫，捲曲星空與前景絲柏是其招牌意象；被譽為西方藝術最知名的畫作之一。</a:t>
            </a:r>
          </a:p>
          <a:p>
            <a:r>
              <a:t>- 📖 聖保羅療養院（Saint-Paul-de-Mausole，位於普羅旺斯的聖雷米 Saint-Rémy-de-Provence）：梵谷 1889 年 5 月自願入住的療養院，前身是一座修道院；《星夜》即取景自他二樓病房東窗望出去的景致。</a:t>
            </a:r>
          </a:p>
          <a:p>
            <a:r>
              <a:t>- 📖 現代藝術博物館（MoMA，Museum of Modern Art）：位於紐約、1929 年創立的現代藝術重鎮；《星夜》自 1941 年入藏至今，是該館鎮館之作。</a:t>
            </a:r>
          </a:p>
          <a:p>
            <a:r>
              <a:t>- 📖 莉莉·布利斯遺贈（Lillie P. Bliss Bequest）：MoMA 由布利斯女士（Lillie P. Bliss）等贊助人於 1929 年共同創辦，她過世後留下的藝術收藏與遺產，1941 年促成《星夜》入藏——又是一則「贊助者成就名作歸宿」的例子。</a:t>
            </a:r>
          </a:p>
          <a:p>
            <a:r>
              <a:t>- 📖 《紅葡萄園》（The Red Vineyard）：梵谷 1888 年於法國南部阿爾（Arles）所繪，是他生前公認唯一以畫名記載、確實賣出的作品，今藏莫斯科普希金博物館（Pushkin State Museum of Fine Arts）。</a:t>
            </a:r>
          </a:p>
          <a:p>
            <a:r>
              <a:t>- 📖 安娜·波赫（Anna Boch，1848–1936）：比利時女畫家兼收藏家，前衛藝術團體「二十人展」成員；1890 年以 400 法郎買下《紅葡萄園》，是梵谷生前唯一買主，其兄尤金·波赫（Eugène Boch）亦是梵谷好友。</a:t>
            </a:r>
          </a:p>
          <a:p>
            <a:r>
              <a:t>- 📖 二十人展（Les XX，直譯「二十人」）：1883 至 1893 年活躍於布魯塞爾的前衛藝術家團體，每年辦沙龍並邀請國外新銳參展；梵谷生前唯一賣出的畫即在其 1890 年展中成交。</a:t>
            </a:r>
          </a:p>
          <a:p>
            <a:r>
              <a:t>- 📖 喬安娜·梵谷-邦格（Johanna van Gogh-Bonger，1862–1925）：西奧的妻子；兩兄弟相繼過世後，她保存整理梵谷畫作、編輯出版兩人書信並持續借展推廣，是梵谷身後聲名的關鍵推手，等於把西奧的長期投資真正變現。</a:t>
            </a:r>
          </a:p>
          <a:p>
            <a:r>
              <a:t>- 📖 印象派／後印象派（Impressionism ／ Post-Impressionism）：19 世紀後期的繪畫革新運動，前者重光線與瞬間印象（莫內、竇加），梵谷則屬承接其後、更重主觀情感與筆觸的「後印象派」；西奧正是這批新畫風重要的推手與經銷者。</a:t>
            </a:r>
          </a:p>
          <a:p>
            <a:r>
              <a:t>- 📖 梅迪奇（Medici）：15 至 16 世紀佛羅倫斯的銀行與政治王朝，本場稍早提到的「豪門級」藝術贊助典範；此處用來反襯——同樣是贊助，西奧的規模微小，機制卻同樣奏效。</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26｜第四樣：聖地與冠名</a:t>
            </a:r>
          </a:p>
          <a:p/>
          <a:p>
            <a:r>
              <a:t>【講稿】（停留約 25 秒）第四樣回報，最有氣派，也最有機會被各位複製——聖地與冠名。意思是：出錢蓋一座殿堂，把你的名字，刻進一座城市的天際線。這座殿堂，會自己增值，會在你不在的幾十年後，還天天替你說話。</a:t>
            </a:r>
          </a:p>
          <a:p>
            <a:r>
              <a:t>【講義補充】</a:t>
            </a:r>
          </a:p>
          <a:p>
            <a:r>
              <a:t>- 第四樣回報：聖地與冠名——用一筆錢蓋一座殿堂，把名字刻進一座城市的天際線；建築不會退休、不會跳槽，幾十年後仍每天替出資者說話，而且會自己增值。</a:t>
            </a:r>
          </a:p>
          <a:p>
            <a:r>
              <a:t>- 這是門檻最高、卻最有氣派的贊助形式：不像贊助一場演出（散場即消失）、也不像委託一首曲子（得靠人演才活過來），而是留下一棟「產權明確、名字明確」的地標，等於把品牌鑄進混凝土與石材裡。</a:t>
            </a:r>
          </a:p>
          <a:p>
            <a:r>
              <a:t>- 冠名（naming rights）本質是一筆交易：出資者付建築費，換到「用自己或家族、企業之名為設施命名」的權利，以及隨之而來的數十年曝光與社會聲望；今日職業運動場館、大學講堂、醫院大樓沿用的，正是同一套邏輯。</a:t>
            </a:r>
          </a:p>
          <a:p>
            <a:r>
              <a:t>- 案例一 拜羅伊特節慶劇院（呼應浪漫站）：這是「一位金主蓋一整座劇院、只為一位作曲家」的極端案例，出資者是巴伐利亞國王路德維希二世。1872 年 5 月 22 日（華格納 59 歲生日）奠基，1876 年 8 月 13 至 17 日以《尼貝龍根的指環》全本四部曲首演揭幕，開幕盛會連德皇威廉一世、巴西皇帝佩德羅二世與哲學家尼采都到場。</a:t>
            </a:r>
          </a:p>
          <a:p>
            <a:r>
              <a:t>- 據載路德維希二世 1874 年 1 月撥款十萬塔勒（Thaler），後又以四十萬馬克的信貸擔保工程完工；即使有王室金援，華格納仍得靠巡演與募款補缺口。金主換到的是：一座至今每年仍以「拜羅伊特音樂節」之名運轉、與贊助者永久綁定的音樂聖地。</a:t>
            </a:r>
          </a:p>
          <a:p>
            <a:r>
              <a:t>- 案例二 卡內基音樂廳（Carnegie Hall）：美國鋼鐵鉅子安德魯·卡內基出資（據載造價約一百一十萬美元），1891 年 5 月 5 日於紐約開幕，開幕週由俄國作曲家柴可夫斯基登台指揮（他的美國首演）。這是「冠名」二字最經典的教材。</a:t>
            </a:r>
          </a:p>
          <a:p>
            <a:r>
              <a:t>- 冠名軼事：此廳原名只叫「音樂廳」（Music Hall），1893 年董事會才說服卡內基同意冠上其名；據 Wikipedia 一說，是為了不被歐洲藝術家誤認成低俗的雜耍廳（vulgar music hall）。直到今天，正立面仍留著「Music Hall founded by Andrew Carnegie」字樣——一個名字，換來一百三十餘年、全球音樂家夢想登台的「品牌背書」。</a:t>
            </a:r>
          </a:p>
          <a:p>
            <a:r>
              <a:t>- 案例三 三得利音樂廳（Suntory Hall）：現代企業冠名的樣板。日本飲料與威士忌企業三得利出資興建，1986 年 10 月 12 日於東京赤坂開幕，據 Wikipedia 記載是為紀念其威士忌釀造 60 週年、啤酒釀造 20 週年。</a:t>
            </a:r>
          </a:p>
          <a:p>
            <a:r>
              <a:t>- 名家背書：指揮巨匠卡拉揚盛讚它是「音之寶石盒」（a jewel box of sound），並參與設計、建議採用如柏林愛樂廳的「葡萄園式」座位（觀眾環繞舞台）；1998 年廳前更闢「卡拉揚廣場」。對出資企業而言，這句名家評語本身就是一筆無價的行銷資產。</a:t>
            </a:r>
          </a:p>
          <a:p>
            <a:r>
              <a:t>- 案例四 華特·迪士尼音樂廳（Walt Disney Concert Hall）：家族以逝者之名留下地標的範例。1987 年，華特·迪士尼的遺孀莉蓮·迪士尼捐出五千萬美元啟動興建，作為對亡夫的致敬，也作為送給洛杉磯市民的禮物。</a:t>
            </a:r>
          </a:p>
          <a:p>
            <a:r>
              <a:t>- 由建築名家法蘭克·蓋瑞設計，2003 年 10 月 23 日落成、可容 2,265 席，是洛杉磯愛樂（Los Angeles Philharmonic）的主場。從捐款到啟用歷時十六年——說明「聖地」是長線投資，但一旦落成，迪士尼之名便與這座城市的文化中心永久同框。</a:t>
            </a:r>
          </a:p>
          <a:p>
            <a:r>
              <a:t>- 四座殿堂的共通點：出資者的名字（王室、鋼鐵大王、飲料集團、電影家族）都活得比當年任何一場演出更久；建築是唯一「會自己增值、又天天替金主說話」的贊助形式，這也是本張最鼓勵企業複製的一樣回報。</a:t>
            </a:r>
          </a:p>
          <a:p>
            <a:r>
              <a:t>- 📖 冠名權（naming rights）：以出資換取「用自己或企業之名為建築、場館命名」的權利；當時＝19 世紀末富豪把姓氏刻上音樂廳，今日＝企業買下體育場、劇院、大樓的命名權做長期廣告。</a:t>
            </a:r>
          </a:p>
          <a:p>
            <a:r>
              <a:t>- 📖 拜羅伊特節慶劇院（Bayreuth Festspielhaus）：德國拜羅伊特專為演出華格納歌劇而建的劇院，1876 年啟用；德文「Festspielhaus」意為「節慶劇院」，即專供音樂節使用的殿堂。</a:t>
            </a:r>
          </a:p>
          <a:p>
            <a:r>
              <a:t>- 📖 路德維希二世（Ludwig II of Bavaria，1845 至 1886）：巴伐利亞國王，華格納最大的王室金主，也因大興新天鵝堡等宮殿而被稱「童話國王」；當時＝動用國庫替一位作曲家蓋劇院的贊助者。</a:t>
            </a:r>
          </a:p>
          <a:p>
            <a:r>
              <a:t>- 📖 《尼貝龍根的指環》（Der Ring des Nibelungen）：華格納耗時約四分之一世紀完成的四部曲樂劇聯篇，拜羅伊特劇院即為其全本首演而建。</a:t>
            </a:r>
          </a:p>
          <a:p>
            <a:r>
              <a:t>- 📖 塔勒（Thaler）：19 世紀德語地區通行的大額銀幣，是馬克（Mark）統一通行前的貨幣單位；「十萬塔勒」在當時是興建劇院等級的鉅款。</a:t>
            </a:r>
          </a:p>
          <a:p>
            <a:r>
              <a:t>- 📖 安德魯·卡內基（Andrew Carnegie，1835 至 1919）：蘇格蘭裔美國鋼鐵大王，19 世紀末美國首富之一，晚年大舉捐建圖書館與音樂廳；當時＝把鋼鐵財富轉化為文化冠名的代表人物。</a:t>
            </a:r>
          </a:p>
          <a:p>
            <a:r>
              <a:t>- 📖 柴可夫斯基（Pyotr Ilyich Tchaikovsky，1840 至 1893）：俄國作曲家，代表作有《天鵝湖》《1812 序曲》等；1891 年受邀為卡內基音樂廳開幕登台指揮，是其美國首演。</a:t>
            </a:r>
          </a:p>
          <a:p>
            <a:r>
              <a:t>- 📖 三得利（Suntory）：日本大型飲料與烈酒企業，以威士忌、啤酒聞名；當時＝以企業之名冠名音樂廳、把品牌與高雅音樂綁在一起的亞洲樣板。</a:t>
            </a:r>
          </a:p>
          <a:p>
            <a:r>
              <a:t>- 📖 卡拉揚（Herbert von Karajan，1908 至 1989）：奧地利指揮家，長年執掌柏林愛樂，20 世紀最具影響力的指揮之一；他一句「音之寶石盒」成了三得利音樂廳的金字招牌。</a:t>
            </a:r>
          </a:p>
          <a:p>
            <a:r>
              <a:t>- 📖 葡萄園式座位（vineyard-style seating）：觀眾席如梯田葡萄園般層層環繞舞台四周的音樂廳格局，柏林愛樂廳首創、三得利音樂廳沿用，兼顧音響與親近感。</a:t>
            </a:r>
          </a:p>
          <a:p>
            <a:r>
              <a:t>- 📖 莉蓮·迪士尼（Lillian Disney，1899 至 1997）：華特·迪士尼的遺孀，1987 年以五千萬美元捐款啟動迪士尼音樂廳；當時＝以捐建地標為亡夫立名的家族贊助者。</a:t>
            </a:r>
          </a:p>
          <a:p>
            <a:r>
              <a:t>- 📖 法蘭克·蓋瑞（Frank Gehry，1929 年生）：加拿大裔美國建築師，解構主義代表，以不鏽鋼曲面外觀聞名（如畢爾包古根漢美術館）；迪士尼音樂廳是其代表作之一。</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27｜拜羅伊特：一位國王，砸錢蓋一座「聖地」</a:t>
            </a:r>
          </a:p>
          <a:p/>
          <a:p>
            <a:r>
              <a:t>【講稿】（停留約 85 秒）這個故事，根本就是十九世紀版的「新創燒錢 × 天使投資」。作曲家華格納（Wagner）有個瘋狂的夢：為自己一齣長達 14 小時的歌劇，蓋一座專屬劇院。這要花天文數字。但他遇到了完美的金主——1864 年，巴伐利亞國王路德維希二世（Ludwig II）成了他近乎無上限的「天使投資人」（天使投資人，就是在一個案子最早、最燒錢、最沒人敢投的時候，就砸大錢進來的金主）。國王出資，讓華格納自建了拜羅伊特節慶劇院（Bayreuth Festspielhaus），連樂池都是隱藏式、下沉的，讓觀眾完全沉浸。1876 年首屆音樂節，全歐洲名流朝聖。結果呢？他把德國一座本來沒沒無聞的小鎮拜羅伊特，變成了全球樂迷心中的「麥加」、非去朝聖一次不可的聖地。這對應我們待會兒的企業提案第 3 點：把場館、把音樂節，做成一個 iconic 的品牌。</a:t>
            </a:r>
          </a:p>
          <a:p>
            <a:r>
              <a:t>【講義補充】</a:t>
            </a:r>
          </a:p>
          <a:p>
            <a:r>
              <a:t>- 這場「新創燒錢×天使投資」的主角，是巴伐利亞國王路德維希二世（Ludwig II of Bavaria，1845–1886）與作曲家華格納（Richard Wagner，全名 Wilhelm Richard Wagner，1813–1883）；1864 年路德維希十八歲即位，登基幾週內就把當時為躲債而流亡、聲名狼藉的華格納召到慕尼黑，1864 年 5 月 4 日兩人在慕尼黑王宮（Residenz）密談約一又四分之三小時，國王當場承諾替他清償鉅額債務、供養他、並包辦上演他所有計畫中的歌劇——史上「金主一次見面就決定全投」的極致案例。</a:t>
            </a:r>
          </a:p>
          <a:p>
            <a:r>
              <a:t>- 這筆錢先救活了「產品」：靠國王出資，《崔斯坦與伊索德》（Tristan und Isolde）於 1865 年 6 月 10 日在慕尼黑國家劇院首演，是華格納睽違近十五年的新歌劇；其後的《紐倫堡的名歌手》（Die Meistersinger von Nürnberg），以及日後在拜羅伊特首演的《尼伯龍根的指環》《帕西法爾》（Parsifal），幾乎都靠國王的資金才得以完成，可以說沒有路德維希、就沒有華格納的後半生。</a:t>
            </a:r>
          </a:p>
          <a:p>
            <a:r>
              <a:t>- 華格納真正的「瘋狂夢想」，是為自己那齣長約十五小時的歌劇蓋一座專屬劇院；這座「聖地」最後蓋在拜羅伊特（Bayreuth）城郊的「綠丘」（Grüner Hügel），奠基石於 1872 年 5 月 22 日、他 59 歲生日當天安放，劇院於 1872 至 1876 年間興建。</a:t>
            </a:r>
          </a:p>
          <a:p>
            <a:r>
              <a:t>- 一開始華格納想走「群眾募資」路線：發行一千張「贊助憑證」（Patronatscheine），每張 300 塔勒、目標募 30 萬塔勒，並在全球廣設「華格納協會」（Wagnervereine），從聖彼得堡到開羅、從倫敦到紐約募款，這也是「全歐名流朝聖」的組織基礎。</a:t>
            </a:r>
          </a:p>
          <a:p>
            <a:r>
              <a:t>- 群募遠遠不夠、工程一度停擺，最後仍靠那位天使投資人補位：據 Wikipedia，路德維希二世於 1874 年 1 月批出 10 萬塔勒貸款（約合今日 170 萬歐元）工程才得以續建，該筆款由華格納家族在 1906 年前全數還清；同樣據 Wikipedia，劇院總造價達 428,384 馬克（約合今日 329 萬歐元）。</a:t>
            </a:r>
          </a:p>
          <a:p>
            <a:r>
              <a:t>- 這座劇院不是普通劇院，而是為「沉浸感」量身打造的機器：建築師布呂克瓦德（Otto Brückwald）依森佩爾（Gottfried Semper）未實現的慕尼黑歌劇院草圖改建，招牌設計就是講稿說的「隱藏式下沉樂池」；座位採「歐陸式」單一扇形陡坡看台（不設傳統包廂與馬蹄形樓座、形似古希臘半圓劇場），據 Wikipedia 全場約 1,925 席，號稱每個座位視線完全平等、毫無遮擋。</a:t>
            </a:r>
          </a:p>
          <a:p>
            <a:r>
              <a:t>- 1876 年 8 月 13 至 17 日首屆音樂節，一口氣首演分四晚、全長約十五小時的《尼伯龍根的指環》，由指揮家漢斯·里希特（Hans Richter）執棒。</a:t>
            </a:r>
          </a:p>
          <a:p>
            <a:r>
              <a:t>- 到場的「名流」貨真價實：德意志皇帝威廉一世（Kaiser Wilhelm I）、巴西皇帝佩德羅二世（Dom Pedro II）親臨，路德維希二世則為避開皇帝而低調祕密與會；李斯特（Franz Liszt，兼華格納岳父、其女柯西瑪為華格納之妻）、布魯克納（Anton Bruckner）、葛利格（Edvard Grieg）、以特派記者身分前來的柴可夫斯基（Pyotr Tchaikovsky）與哲學家尼采（Friedrich Nietzsche）皆在座。</a:t>
            </a:r>
          </a:p>
          <a:p>
            <a:r>
              <a:t>- 諷刺的是首屆音樂節票房仍慘賠：據載赤字約合今日 110 萬歐元——短期財報難看，長期品牌卻無價。</a:t>
            </a:r>
          </a:p>
          <a:p>
            <a:r>
              <a:t>- 呼應第 17 張的貝多芬第九〈歡樂頌〉：據載 1872 年奠基典禮上，華格納親自指揮貝多芬第九號交響曲替新劇院「開光」，把最高規格的音樂獻給這座靠贊助撐起的殿堂。</a:t>
            </a:r>
          </a:p>
          <a:p>
            <a:r>
              <a:t>- 金主到底換到什麼？路德維希二世的名字從此與這座「聖地」永久綁定；他一生還砸錢蓋了新天鵝堡（Schloss Neuschwanstein）等童話城堡，人稱「天鵝王」「瘋王」，1886 年離奇死去，但他贊助的作品與場館，成了替他說話一百五十年的品牌資產，正呼應待會兒企業提案第 3 點：把場館、把音樂節做成一個 iconic（標誌性、一看就認得的招牌）品牌。</a:t>
            </a:r>
          </a:p>
          <a:p>
            <a:r>
              <a:t>- 📖 路德維希二世（Ludwig II of Bavaria）：巴伐利亞國王（1864–1886 在位），華格納最重要的贊助者；當時＝一位極度愛美、揮金如土的年輕君主，也是史上最接近「無上限天使投資人」的王室金主。</a:t>
            </a:r>
          </a:p>
          <a:p>
            <a:r>
              <a:t>- 📖 拜羅伊特（Bayreuth）：德國巴伐利亞北部的內陸小城；當時＝一座沒沒無聞的小鎮，因華格納選它蓋劇院而翻身成全球樂迷的朝聖地。</a:t>
            </a:r>
          </a:p>
          <a:p>
            <a:r>
              <a:t>- 📖 拜羅伊特節慶劇院（Bayreuth Festspielhaus）：Festspielhaus 意為「節慶劇院」；當時＝專為上演華格納樂劇而建、由王室與贊助人集資興建的專屬場館，1876 年落成、至今仍每年開演。</a:t>
            </a:r>
          </a:p>
          <a:p>
            <a:r>
              <a:t>- 📖 贊助憑證（Patronatscheine）：字面意為「贊助人證書」；當時＝華格納為籌建劇院發行的募款憑證，每張 300 塔勒、共發一千張，形同十九世紀版的「群眾募資／預售 VIP 席位」。</a:t>
            </a:r>
          </a:p>
          <a:p>
            <a:r>
              <a:t>- 📖 塔勒（Thaler）：德意志地區通行的大型銀幣單位；當時＝馬克統一貨幣之前的主要幣值（英文「dollar／元」一詞即源自 Thaler）。</a:t>
            </a:r>
          </a:p>
          <a:p>
            <a:r>
              <a:t>- 📖 華格納協會（Wagnervereine，Wagner Societies）：各地華格納樂迷自組的支持團體；當時＝從聖彼得堡到開羅、倫敦到紐約替劇院募款的「全球後援會／贊助網絡」。</a:t>
            </a:r>
          </a:p>
          <a:p>
            <a:r>
              <a:t>- 📖 隱藏式下沉樂池／神秘深淵（mystischer Abgrund，mystic gulf）：把樂團藏在舞台下方、加罩使觀眾完全看不見演奏者的設計；當時＝華格納為製造「聲音彷彿無源、全然沉浸」而發明的空間手法，這道橫在舞台與觀眾之間的鴻溝他稱為「神秘的深淵」。</a:t>
            </a:r>
          </a:p>
          <a:p>
            <a:r>
              <a:t>- 📖 總體藝術（Gesamtkunstwerk）：字面意為「整體的藝術作品」；當時＝華格納主張把音樂、戲劇、詩歌、舞台美術與建築熔於一爐的理想，拜羅伊特劇院正是這理想的硬體化。</a:t>
            </a:r>
          </a:p>
          <a:p>
            <a:r>
              <a:t>- 📖 尼伯龍根的指環（Der Ring des Nibelungen）：華格納耗時逾二十年寫成的四聯樂劇（《萊茵的黃金》《女武神》《齊格弗里德》《諸神的黃昏》）；當時＝全長約十五小時、須分四晚演完的空前巨作，也是拜羅伊特劇院為之而生的「產品」。</a:t>
            </a:r>
          </a:p>
          <a:p>
            <a:r>
              <a:t>- 📖 麥加／朝聖（Mecca / pilgrimage）：麥加是伊斯蘭教最神聖、信徒一生至少想去一次的聖城；此處為比喻＝拜羅伊特被樂迷奉為一生必朝聖一次的音樂聖地，音樂節門票長年一票難求、候補常需等上數年。</a:t>
            </a:r>
          </a:p>
          <a:p>
            <a:r>
              <a:t>- 📖 天使投資人（angel investor）：在一個案子最早、最燒錢、風險最高、最沒人敢投的時候，就砸大錢進來的金主，換取未來的巨大回報或影響力；路德維希二世對華格納正是這種角色。</a:t>
            </a:r>
          </a:p>
          <a:p>
            <a:r>
              <a:t>【影片操作】 播華格納〈女武神的騎行〉約 3 分鐘。播前：「想像 14 小時的史詩，這只是其中最著名的 3 分鐘。」</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28｜卡內基音樂廳：賣鋼鐵的錢，換一座以你為名的殿堂</a:t>
            </a:r>
          </a:p>
          <a:p/>
          <a:p>
            <a:r>
              <a:t>【講稿】（停留約 70 秒）把冠名場館玩到最經典的，是鋼鐵大王卡內基（Andrew Carnegie）。1891 年，紐約的卡內基音樂廳（Carnegie Hall）落成，全額出資的就是他；開幕那一夜，登台的是大作曲家柴可夫斯基——氣派一次到位。各位體會一下這筆交易：卡內基把賣鋼鐵賺來的錢，換成了一座以他為名的頂級殿堂。一百多年過去，「卡內基」這三個字，已經等於全世界音樂家最想站上的舞台——一個表演者能說出「我在卡內基演出過」，是無上的榮耀。這就是冠名場館的威力：你出一次錢，這座殿堂就永遠掛著你的名字，替你說話。</a:t>
            </a:r>
          </a:p>
          <a:p>
            <a:r>
              <a:t>【講義補充】</a:t>
            </a:r>
          </a:p>
          <a:p>
            <a:r>
              <a:t>- 冠名場館的邏輯，在這裡被玩到極致：出資者卡內基（Andrew Carnegie）一次埋單，換到一座永遠掛著自己名字、替他向全世界說話的頂級殿堂，這正是本片「贊助換品牌資產」命題最耀眼的案例。</a:t>
            </a:r>
          </a:p>
          <a:p>
            <a:r>
              <a:t>- 卡內基音樂廳（Carnegie Hall）坐落於紐約曼哈頓第七大道與第 57 街東南角，1890 年 5 月 13 日奠基，1891 年 5 月 5 日開幕，工期不到一年；主廳為 2,804 席的義大利文藝復興式音樂廳，另附一座較小的室內樂廳與一座獨奏廳。</a:t>
            </a:r>
          </a:p>
          <a:p>
            <a:r>
              <a:t>- 這座殿堂幾乎是卡內基一人買單的產物：據載興建成本約 110 萬美元，卡內基是主要出資者；連同開辦初期補貼營運虧損，他前後投入的金額據載達約 200 萬美元。</a:t>
            </a:r>
          </a:p>
          <a:p>
            <a:r>
              <a:t>- 關鍵反轉是這座殿堂原本不叫「卡內基」：開幕時它只樸素地叫「音樂廳（Music Hall）」，卡內基原本不願冠名；直到 1893 年，董事會發現歐洲名流不屑光顧一個「music hall」，才說服他掛上自己的姓，正式改名 Carnegie Hall，名字一換，號召力立刻不同，這就是品牌命名的力量。</a:t>
            </a:r>
          </a:p>
          <a:p>
            <a:r>
              <a:t>- 開幕當晚是一場為期五天音樂節的第一夜，冠蓋雲集：先合唱讚美詩〈舊百調（Old Hundredth）〉，再由波特主教（Bishop Henry Codman Potter）致長篇獻堂詞。</a:t>
            </a:r>
          </a:p>
          <a:p>
            <a:r>
              <a:t>- 音樂會由丹羅許（Walter Damrosch）指揮紐約交響樂團演奏《美利堅（America）》與貝多芬《雷奧諾拉序曲第三號（Leonore Overture No. 3）》；壓軸嘉賓是俄國作曲家柴可夫斯基（Pyotr Ilyich Tchaikovsky）親自登台指揮自作《加冕典禮進行曲（Marche Solennelle）》，這也是他的美國首演；全場最後由丹羅許以白遼士《感恩讚（Te Deum）》的美國首演作結。</a:t>
            </a:r>
          </a:p>
          <a:p>
            <a:r>
              <a:t>- 請企業主體會這筆「開幕卡司」的算計：搬來當時歐洲最紅的作曲家柴可夫斯基坐鎮，等於用一線名人替新場館背書、一次把國際聲量拉滿；花錢冠名之外，還懂得花錢辦一場讓全城談論的開幕。</a:t>
            </a:r>
          </a:p>
          <a:p>
            <a:r>
              <a:t>- 據 Carnegie Hall 官網／記載，柴可夫斯基為這五天演出獲酬約 2,500 美元（約合 2024 年 8.6 萬美元），近乎當時一位指揮一整年的薪水，是一筆算得很精的行銷投資。</a:t>
            </a:r>
          </a:p>
          <a:p>
            <a:r>
              <a:t>- 回報有多長：一百三十餘年後，「卡內基」三字已等同於全球音樂家最想站上的舞台，一句「我在卡內基演出過」便是無上榮耀；這座冠名殿堂至今仍每天替卡內基免費打廣告，這就是冠名場館的長期品牌效益。</a:t>
            </a:r>
          </a:p>
          <a:p>
            <a:r>
              <a:t>- 卡內基的錢從何而來，說穿了就是「把賣鋼鐵的巨富換成一座文化地標」：1901 年他把卡內基鋼鐵公司賣給金融家 J.P. 摩根（J. P. Morgan），作價約 4.8 億美元，併成全球第一家市值破十億美元的美國鋼鐵公司（U.S. Steel），賣廠所得讓他一度被視為世界首富。</a:t>
            </a:r>
          </a:p>
          <a:p>
            <a:r>
              <a:t>- 他晚年奉行 1889 年自撰的《財富的福音（The Gospel of Wealth）》信條，認為巨富者有義務在生前把財富回饋社會；據載他一生捐出約 3.5 億美元、近九成身家，遍及圖書館、大學、音樂廳，卡內基音樂廳只是其中最閃亮的一塊招牌。</a:t>
            </a:r>
          </a:p>
          <a:p>
            <a:r>
              <a:t>- 與本片其他站呼應：這是「以贊助者之名冠場館」的又一經典，前有華格納在巴伐利亞國王路德維希二世金援下建成的拜羅伊特節慶劇院，遠有埃斯特哈齊親王供養海頓的宮廷樂團，出錢的人名字都寫進了殿堂。</a:t>
            </a:r>
          </a:p>
          <a:p>
            <a:r>
              <a:t>- 📖 安德魯·卡內基（Andrew Carnegie，1835——1919）：蘇格蘭裔美國實業家、鋼鐵大王，少時隨家移民美國、白手起家建立鋼鐵帝國，晚年轉型為大慈善家。當時＝美國鍍金時代最富有、也最熱衷散財的工業鉅子之一。</a:t>
            </a:r>
          </a:p>
          <a:p>
            <a:r>
              <a:t>- 📖 卡內基鋼鐵公司（Carnegie Steel Company）：卡內基的核心事業，19 世紀末全美規模最大的鋼鐵製造商。當時＝美國工業化的火車頭，也是卡內基巨富與後半生龐大捐款的財源。</a:t>
            </a:r>
          </a:p>
          <a:p>
            <a:r>
              <a:t>- 📖 美國鋼鐵公司與 J.P. 摩根（U.S. Steel／J. P. Morgan）：1901 年華爾街金融家摩根出資約 4.8 億美元，併購卡內基鋼鐵等公司組成 U.S. Steel，是世界第一家十億美元級企業。當時＝史上最大宗的企業併購案之一，也是卡內基套現退休轉做公益的關鍵。</a:t>
            </a:r>
          </a:p>
          <a:p>
            <a:r>
              <a:t>- 📖 《財富的福音》（The Gospel of Wealth，1889）：卡內基發表的文章，主張富人應在生前主動把多餘財富回饋社會，投資能讓人自立的公共事業如圖書館、大學、音樂廳。當時＝為新富階級樹立的「散財」道德範本，也是卡內基砸錢蓋音樂廳的理念根據。</a:t>
            </a:r>
          </a:p>
          <a:p>
            <a:r>
              <a:t>- 📖 冠名場館（naming rights，冠名權）：出資興建或長期贊助者以自己的名字替建築命名，換取持久的品牌曝光與社會聲望。當時＝卡內基音樂廳把這門生意做成了教科書等級的示範。</a:t>
            </a:r>
          </a:p>
          <a:p>
            <a:r>
              <a:t>- 📖 威廉·杜提爾（William Burnet Tuthill）：卡內基音樂廳的建築師，本身是業餘大提琴家、紐約神劇協會董事，設計出音響極佳的義大利文藝復興式廳堂。當時＝橫跨音樂與建築的內行人，讓金主的錢花在對的聲學上。</a:t>
            </a:r>
          </a:p>
          <a:p>
            <a:r>
              <a:t>- 📖 原名「音樂廳」（Music Hall）：卡內基音樂廳最初的樸素稱呼，1893 年才因號召力考量改冠卡內基之名。當時＝一個尚未被品牌加持、連歐洲名流都嫌普通的場館名稱。</a:t>
            </a:r>
          </a:p>
          <a:p>
            <a:r>
              <a:t>- 📖 華爾特·丹羅許（Walter Damrosch，1862——1950）：德裔美國指揮家，紐約交響樂團與紐約神劇協會的靈魂人物，開幕夜實際掌棒者。當時＝紐約樂壇最具號召力的指揮之一，是這場開幕大戲的執行者。</a:t>
            </a:r>
          </a:p>
          <a:p>
            <a:r>
              <a:t>- 📖 柴可夫斯基（Pyotr Ilyich Tchaikovsky，1840——1893）：俄國浪漫派作曲家，《天鵝湖》《1812 序曲》的作者，開幕週應邀來美完成美國首演。當時＝歐洲最炙手可熱的活作曲家、開幕夜花錢請來替新殿堂背書的最大招牌。</a:t>
            </a:r>
          </a:p>
          <a:p>
            <a:r>
              <a:t>- 📖 《加冕典禮進行曲》（Marche Solennelle）：柴可夫斯基開幕夜親自指揮的作品，據載即他 1883 年為俄皇亞歷山大三世加冕所作的《加冕進行曲》。當時＝以隆重國家慶典音樂替新殿堂鍍上皇家氣派。</a:t>
            </a:r>
          </a:p>
          <a:p>
            <a:r>
              <a:t>- 📖 紐約神劇協會與紐約交響協會（Oratorio Society／New York Symphony Society）：促成建廳的兩個駐廳音樂團體，正是它們的需求與人脈牽起了金主卡內基。當時＝把出錢的富豪與需要場館的音樂界撮合起來的推手。</a:t>
            </a:r>
          </a:p>
          <a:p>
            <a:r>
              <a:t>- 📖 白遼士《感恩讚》（Hector Berlioz, Te Deum）：法國浪漫派作曲家白遼士的大型宗教合唱作品，開幕夜以其美國首演壓軸。當時＝彰顯新廳規模與合唱陣容的重磅節目。</a:t>
            </a:r>
          </a:p>
          <a:p>
            <a:r>
              <a:t>【影片操作】 播柴可夫斯基《慶典加冕進行曲》約 2–3 分鐘（正是他 1891 卡內基開幕夜親自指揮的曲子，The Orchestra Now 版）。播前：「一座以企業家為名的殿堂，開幕之聲。」</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29｜三得利音樂廳：威士忌企業的「音之寶石盒」</a:t>
            </a:r>
          </a:p>
          <a:p/>
          <a:p>
            <a:r>
              <a:t>【講稿】（停留約 55 秒）這個模式，亞洲的企業也玩得很漂亮。1986 年，日本的三得利（Suntory）——一家做威士忌的企業——在東京蓋了三得利音樂廳。指揮大師卡拉揚（Herbert von Karajan）親口稱它是「音之寶石盒」。各位想想：一家賣酒的公司，靠一座音樂廳，就把自己的品牌，和「頂級文化」永久綁在了一起。從此你聽到「三得利」，腦中浮現的不只是威士忌，還有世界一流的音樂。這就是亞洲企業版的卡內基：用一座殿堂，替品牌鍍上文化的金身。</a:t>
            </a:r>
          </a:p>
          <a:p>
            <a:r>
              <a:t>【講義補充】</a:t>
            </a:r>
          </a:p>
          <a:p>
            <a:r>
              <a:t>- 三得利音樂廳（Suntory Hall）於 1986 年 10 月 12 日在東京赤坂（Akasaka）開幕，正是三得利威士忌釀造六十週年、啤酒事業二十週年的紀念之作——換句話說，這不是文化基金會蓋的，而是一家酒商用「本業的生日」送給城市的禮物，把企業里程碑直接鑄成一座城市地標。</a:t>
            </a:r>
          </a:p>
          <a:p>
            <a:r>
              <a:t>- 幕後拍板的是三得利第二代社長佐治敬三（Saji Keizo，1919—1999）：蓋音樂廳是他多年的夢想，他要讓古典音樂真正落地成日本的生活文化。對聽眾而言的重點是——一位酒業經營者，選擇把利潤變成一座頂級殿堂，用企業的名字替一整個城市的音樂生活背書。</a:t>
            </a:r>
          </a:p>
          <a:p>
            <a:r>
              <a:t>- 佐治敬三承接父親、創業者鳥井信治郎（Torii Shinjiro）的口頭禪「やってみなはれ」（關西腔，「做做看嘛／放手去試」）；這句「做做看」是三得利的企業 DNA，從跨足啤酒到蓋音樂廳都是同一種賭性——企業願意把錢押在沒把握、但能長期加分的事情上，音樂廳就是最貴的一次「做做看」。</a:t>
            </a:r>
          </a:p>
          <a:p>
            <a:r>
              <a:t>- 冠名回報的核心軼事：指揮大師卡拉揚（Herbert von Karajan，1908—1989）親口稱這座主廳是「音之寶石盒」（a jewel box of sound／音の宝石箱）。一句出自當代最有票房號召力的指揮之口的讚語，等於全球最高規格的品牌背書，至今仍是三得利最划算的一則「廣告詞」——而且是別人免費說的。</a:t>
            </a:r>
          </a:p>
          <a:p>
            <a:r>
              <a:t>- 卡拉揚不只是掛名讚美，他實際參與設計評估，並建議採用他在柏林愛樂廳（Berliner Philharmonie）用過的「葡萄園式」座位（vineyard style）；企業出錢、大師出品味，這種「金主＋權威共同掛保證」的組合，正是贊助換到信任感的關鍵。</a:t>
            </a:r>
          </a:p>
          <a:p>
            <a:r>
              <a:t>- 音樂廳所在的「Ark Hills」（方舟之丘）是森大樓（Mori Building，森稔主導）操盤的日本首批大型都市再開發案之一；三得利把音樂廳嵌進一個複合商業區，等於讓「文化」與「地產、商業」共構——贊助者要的不只是掌聲，還有把品牌與一整片高級街廓綁在一起的長期資產。</a:t>
            </a:r>
          </a:p>
          <a:p>
            <a:r>
              <a:t>- 據 Wikipedia，這座廳造價約 60 億日圓（¥6,000 million，以 1986 年匯率約合 5,000 萬美元以上）。這個數字的意義在於：企業一次性砸下相當於數十億台幣的資本支出，買的不是一年的曝光，而是往後數十年、每一場音樂會都在替品牌加分的「複利型」文化資產。</a:t>
            </a:r>
          </a:p>
          <a:p>
            <a:r>
              <a:t>- 呼應前面投影片的卡內基音樂廳（Carnegie Hall，鋼鐵大王安德魯·卡內基 Andrew Carnegie 1891 年出資興建）：三得利做的正是「亞洲企業版的卡內基」——用一座殿堂，替品牌鍍上文化的金身。從卡內基到三得利，跨越一個世紀、橫跨美日，金主用場館換文化威望的公式一模一樣。</a:t>
            </a:r>
          </a:p>
          <a:p>
            <a:r>
              <a:t>- 品牌綁定的長尾效應看得見：1998 年 4 月，廳前廣場命名為「卡拉揚廣場」（Herbert von Karajan Platz）以紀念這位大師；三得利不只把品牌綁上音樂，還把音樂廳綁上音樂史上最響亮的名字，讓「三得利」與「卡拉揚」在地理上永久並列。</a:t>
            </a:r>
          </a:p>
          <a:p>
            <a:r>
              <a:t>- 對企業家的一句話總結：一家賣威士忌的公司，靠一座音樂廳，把品牌與「頂級文化」永久綁定。從此聽到「三得利」，腦中浮現的不只是酒，還有世界一流的聲音——這就是贊助的終極目標，用文化替商品鍍金。</a:t>
            </a:r>
          </a:p>
          <a:p>
            <a:r>
              <a:t>- 📖 三得利（Suntory）：日本大型酒類與飲料集團，1899 年由鳥井信治郎在大阪創立（初名「鳥井商店」）。公司名是英文「Sun」（太陽，取自暢銷品「赤玉／紅太陽」）＋創辦人姓氏「Torii」的英語化「Tory」的合成詞。當時＝從賣進口葡萄酒起家、1923 年建成日本第一座麥芽威士忌蒸餾所（山崎蒸溜所）的酒業龍頭，蓋音樂廳時已是能一次拿出數十億日圓的巨型企業。</a:t>
            </a:r>
          </a:p>
          <a:p>
            <a:r>
              <a:t>- 📖 佐治敬三（Saji Keizo，1919—1999）：三得利第二代社長、創辦人鳥井信治郎之子（隨母姓佐治）。當時＝拍板興建三得利音樂廳的人，也創立三得利美術館、三得利文化財團等文化事業，被視為日本企業「以文化回饋社會」的代表經營者。</a:t>
            </a:r>
          </a:p>
          <a:p>
            <a:r>
              <a:t>- 📖 鳥井信治郎（Torii Shinjiro）：三得利創辦人。當時＝以「赤玉波特酒」（Akadama Port Wine，赤玉意為「紅色圓球」，即太陽的別名）打響名號、再投入威士忌製造的創業家，其口頭禪「做做看嘛」成為集團精神。</a:t>
            </a:r>
          </a:p>
          <a:p>
            <a:r>
              <a:t>- 📖 やってみなはれ（Yatte minahare）：關西方言，意為「放手去做做看」。當時＝三得利世代相傳的企業座右銘，象徵勇於投入沒把握的新事業（從啤酒到音樂廳皆是），是理解三得利為何肯砸重金搞文化的關鍵心法。</a:t>
            </a:r>
          </a:p>
          <a:p>
            <a:r>
              <a:t>- 📖 卡拉揚（Herbert von Karajan，1908—1989）：奧地利指揮家，二十世紀最著名、唱片賣得最多的指揮之一，長年執掌柏林愛樂。當時＝當代最具票房與權威號召力的音樂家，他一句「音之寶石盒」等於替三得利音樂廳蓋上全球最高等級的認證章。</a:t>
            </a:r>
          </a:p>
          <a:p>
            <a:r>
              <a:t>- 📖 音之寶石盒（a jewel box of sound／音の宝石箱）：卡拉揚對三得利音樂廳音響的讚語。當時＝把這座廳的聲學品質推上「世界頂級」神壇的一句話，也成為三得利長年沿用、卻不花一毛廣告費的品牌標語。</a:t>
            </a:r>
          </a:p>
          <a:p>
            <a:r>
              <a:t>- 📖 葡萄園式座位（vineyard style／ヴィンヤード型）：一種把觀眾席分成多個高低錯落小區、環繞舞台的音樂廳格局，形似層層梯田的葡萄園。當時＝卡拉揚推薦、仿自柏林愛樂廳的先進設計，讓聽眾三百六十度包圍樂團，是這座廳「頂級」形象的硬體基礎。</a:t>
            </a:r>
          </a:p>
          <a:p>
            <a:r>
              <a:t>- 📖 柏林愛樂廳（Berliner Philharmonie）：德國柏林愛樂樂團的主場館，1963 年啟用，以葡萄園式座位聞名。當時＝卡拉揚據以建議三得利採用同款設計的範本，是二十世紀音樂廳建築的標竿。</a:t>
            </a:r>
          </a:p>
          <a:p>
            <a:r>
              <a:t>- 📖 Ark Hills（方舟之丘）：東京赤坂・六本木一帶的複合都市開發區，由森大樓（Mori Building）開發，1986 年啟用，是日本首批大型民間都市再開發案之一。當時＝三得利音樂廳所在的商業街廓，讓文化設施與辦公、商業、住宅共構，象徵企業把「文化」當成都市資產經營。</a:t>
            </a:r>
          </a:p>
          <a:p>
            <a:r>
              <a:t>- 📖 永田音響設計（Nagata Acoustics）：日本頂尖音響顧問公司，創辦人永田穗；三得利音樂廳的聲學由該公司操刀（後由豐田泰久等接續，設計了全球多座名廳）。當時＝用十分之一縮尺模型反覆做聲學實驗、替這座廳打造出卡拉揚讚不絕口音響的幕後技術團隊。</a:t>
            </a:r>
          </a:p>
          <a:p>
            <a:r>
              <a:t>- 📖 卡內基音樂廳（Carnegie Hall）：紐約知名音樂廳，1891 年由鋼鐵大王安德魯·卡內基（Andrew Carnegie）出資興建並冠名。當時＝「企業／富豪用場館替品牌換文化威望」的原型案例，三得利音樂廳被視為它的亞洲企業版對照組。</a:t>
            </a:r>
          </a:p>
          <a:p>
            <a:r>
              <a:t>- 📖 メセナ（Mécénat，企業贊助文化）：源自古羅馬贊助人梅塞納斯（Maecenas）的法語詞，指企業對藝術文化的長期資助。當時＝日本 1980 年代興起的企業文化贊助風潮，三得利音樂廳是其中最具代表性、最豪華的一筆投資。</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30｜迪士尼音樂廳：一筆捐款，一座城市地標</a:t>
            </a:r>
          </a:p>
          <a:p/>
          <a:p>
            <a:r>
              <a:t>【講稿】（停留約 55 秒）再看一個當代的例子。洛杉磯的迪士尼音樂廳（Walt Disney Concert Hall），2003 年啟用。它是怎麼來的？迪士尼的遺孀莉莉安·迪士尼（Lillian Disney），1987 年捐了五千萬美元起建，交給建築大師蓋瑞（Frank Gehry）設計。今天，那棟閃亮的金屬曲面建築，成了整個洛杉磯的城市地標和觀光名片，掛著「迪士尼」的名字。從卡內基、三得利到迪士尼，你會發現一個共同點：企業出資蓋一座殿堂，換到的，是把名字刻進城市的天際線和文化史——一筆會不斷增值的資產。</a:t>
            </a:r>
          </a:p>
          <a:p>
            <a:r>
              <a:t>【講義補充】</a:t>
            </a:r>
          </a:p>
          <a:p>
            <a:r>
              <a:t>- 迪士尼音樂廳（Walt Disney Concert Hall）坐落於洛杉磯市中心的 Grand Avenue（大道），隸屬洛杉磯音樂中心（Los Angeles Music Center）園區；2003 年 10 月 23 日啟用，設 2,265 席，是洛杉磯愛樂（Los Angeles Philharmonic）與洛杉磯大師合唱團（Los Angeles Master Chorale）的主場。</a:t>
            </a:r>
          </a:p>
          <a:p>
            <a:r>
              <a:t>- 這座殿堂的起點是一筆遺孀捐款：1987 年，華特·迪士尼（Walt Disney）的遺孀莉莉安·迪士尼（Lillian Bounds Disney，1899–1997）捐出 5,000 萬美元，指名作為「給洛杉磯市民的禮物」與對亡夫熱愛藝術的紀念；捐款條件之一，就是這座廳必須以「迪士尼」為名。</a:t>
            </a:r>
          </a:p>
          <a:p>
            <a:r>
              <a:t>- 她本人並沒等到剪綵：莉莉安於 1997 年以 98 歲辭世，比落成早了六年（據 laphil.com）；但「迪士尼」這個名字，從此永久掛在洛杉磯的天際線上。</a:t>
            </a:r>
          </a:p>
          <a:p>
            <a:r>
              <a:t>- 從一筆捐款到一座地標，中間走了十六年。據 Wikipedia，總工程費約 2.74 億美元，其中音樂廳本體約 1.3 億美元，地下停車場約 1.1 億美元由洛杉磯郡（Los Angeles County）發行公債埋單；也就是說，公部門扛硬體、家族掛名字，是一場精算過的分工。</a:t>
            </a:r>
          </a:p>
          <a:p>
            <a:r>
              <a:t>- 迪士尼家族後續持續加碼：據 Wikipedia，家族累計捐款約 8,450 萬美元，華特迪士尼公司（The Walt Disney Company）另捐約 2,500 萬美元，合計逾 1 億美元——「冠名」在這裡不是象徵性掛名，而是把整座建築的骨肉幾乎都買了下來。</a:t>
            </a:r>
          </a:p>
          <a:p>
            <a:r>
              <a:t>- 工程一度難產：1990 年代中期因募款缺口停擺數年，直到 1999 年 12 月才正式動工。轉機之一，是蓋瑞另一件作品——1997 年落成的西班牙畢爾包古根漢美術館（Guggenheim Museum Bilbao）——證明了金屬曲面建築的吸金魅力，才促成迪士尼廳最終把外牆從石材改為不鏽鋼。</a:t>
            </a:r>
          </a:p>
          <a:p>
            <a:r>
              <a:t>- 這層閃亮的不鏽鋼曲面，正是它成為「城市名片」的關鍵：今天它出現在旅遊手冊、電影、明信片上的次數，遠多於任何一場音樂會本身——這是贊助者買到、且會不斷增值的品牌曝光。</a:t>
            </a:r>
          </a:p>
          <a:p>
            <a:r>
              <a:t>- 連管風琴都是另一家企業的冠名品：2004 年安裝、造型宛如「一束薯條」的巨型管風琴，是豐田汽車美國銷售公司（Toyota Motor Sales, U.S.A.）捐贈——同一座廳裡，至少兩家企業把名字刻了進去。</a:t>
            </a:r>
          </a:p>
          <a:p>
            <a:r>
              <a:t>- 📖 迪士尼音樂廳（Walt Disney Concert Hall）：洛杉磯的旗艦音樂廳，蓋瑞設計、2003 年啟用；名稱來自出資起建的迪士尼家族，是「家族／企業出資、以其姓氏冠名」在當代最鮮明的範例。</a:t>
            </a:r>
          </a:p>
          <a:p>
            <a:r>
              <a:t>- 📖 莉莉安·迪士尼（Lillian Bounds Disney，1899–1997）：華特·迪士尼的遺孀，早年是迪士尼工作室的女性員工，1925 年與華特結婚；她 1987 年的 5,000 萬美元捐款，讓她成為這座城市地標的奠基贊助者。</a:t>
            </a:r>
          </a:p>
          <a:p>
            <a:r>
              <a:t>- 📖 法蘭克·蓋瑞（Frank Gehry，1929 年生）：加拿大裔美國建築師，解構主義代表人物，1989 年獲普立茲克建築獎（Pritzker Architecture Prize，建築界最高榮譽）。他 1988 年經競圖獲選操刀迪士尼廳；據他回憶，迪士尼家族起初放話「絕不讓華特的名字掛在我設計的任何建築上」，最後被他的方案說服。</a:t>
            </a:r>
          </a:p>
          <a:p>
            <a:r>
              <a:t>- 📖 冠名（naming）：贊助者出資，換取把自己或指定名稱放上場館的權利。對家族／企業而言，這是一種「一次付款、永久曝光」的資產——名字與城市的文化地標綁定，隨建築聲望一同增值。</a:t>
            </a:r>
          </a:p>
          <a:p>
            <a:r>
              <a:t>- 📖 洛杉磯愛樂（Los Angeles Philharmonic）：1919 年創立的美國頂尖交響樂團，迪士尼廳為其主場；2003 年啟用時的音樂總監，是芬蘭指揮埃薩-佩卡·薩洛年（Esa-Pekka Salonen）。</a:t>
            </a:r>
          </a:p>
          <a:p>
            <a:r>
              <a:t>- 📖 永田音響（Nagata Acoustics）／豐田泰久（Yasuhisa Toyota）：操刀迪士尼廳室內聲學的日本音響公司與其代表音響師，採「葡萄園式」座位（觀眾席如梯田般環繞舞台四周），讓一筆捐款換到的不只是外觀，還有世界級的聲音。</a:t>
            </a:r>
          </a:p>
          <a:p>
            <a:r>
              <a:t>- 📖 畢爾包古根漢美術館（Guggenheim Museum Bilbao）：蓋瑞設計、1997 年落成於西班牙畢爾包的金屬曲面美術館，帶動當地觀光暴增，被稱為「畢爾包效應」——正是它讓贊助者相信「一棟明星建築能救活一座城市」，間接催生了迪士尼廳的鋼鐵外衣。</a:t>
            </a:r>
          </a:p>
          <a:p>
            <a:r>
              <a:t>- 📖 卡內基音樂廳（Carnegie Hall）：1891 年於紐約啟用，由鋼鐵大王、慈善家安德魯·卡內基（Andrew Carnegie）出資興建並冠名——十九世紀「企業家出錢、把姓氏變成文化品牌」的原型。</a:t>
            </a:r>
          </a:p>
          <a:p>
            <a:r>
              <a:t>- 📖 三得利音樂廳（Suntory Hall）：日本飲料企業三得利（Suntory）出資、1986 年於東京啟用的音樂廳，為紀念其威士忌釀造六十週年而建；指揮家卡拉揚（Herbert von Karajan）譽為「a jewel box of sound」（聲音的珠寶盒）——亞洲「企業冠名音樂廳」的代表。</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31｜第五樣：人才與凝聚</a:t>
            </a:r>
          </a:p>
          <a:p/>
          <a:p>
            <a:r>
              <a:t>【講稿】（停留約 25 秒）第五樣回報，比較內向，但對經營一家公司極重要——人才與凝聚。長期養一支團隊、蓋一座舞台，換到的不只是面子，還有人才、研發，和整個組織的向心力。這一樣，兩百多年前有一位親王，示範得淋漓盡致。</a:t>
            </a:r>
          </a:p>
          <a:p>
            <a:r>
              <a:t>【講義補充】</a:t>
            </a:r>
          </a:p>
          <a:p>
            <a:r>
              <a:t>- 第五樣回報：人才與凝聚（向心力）。對出錢的一方而言，這是最內向、最不張揚，卻對長期經營一家組織最關鍵的一項——長期養一支團隊、蓋一座舞台，換回的不只是面子，還有頂尖人才、持續的研發創新，以及整個組織的忠誠與凝聚。</a:t>
            </a:r>
          </a:p>
          <a:p>
            <a:r>
              <a:t>- 代表案例：匈牙利埃斯特哈齊家族（Esterházy）用一份長達約三十年的「長期雇用合約」，養出音樂史上分量最重的一位員工——作曲家海頓（Joseph Haydn，1732–1809）。海頓 1761 年由保羅．安東親王（Paul Anton）延攬進府，1766 年升為正樂長，一路支薪服務到 1790 年老親王過世。穩定的俸祿與職位讓他能安心大量實驗，寫出上百首交響曲與大量弦樂四重奏，日後被尊為「交響曲之父」「弦樂四重奏之父」；這些「研發成果」都是在贊助者的薪水單上完成的。</a:t>
            </a:r>
          </a:p>
          <a:p>
            <a:r>
              <a:t>- 蓋一座舞台：主要金主尼古勞斯一世親王（Nikolaus I，1714–1790，因奢華好藝而綽號「輝煌者」）斥資興建埃斯特哈薩宮（Eszterháza），號稱「匈牙利的凡爾賽宮」，內設兩座劇院（主劇院約可容四百人）與常駐樂團，海頓與樂手就住在宮內，一年常演出上百場歌劇。這是「贊助者自己出資、蓋硬體、養班底」最完整的示範。</a:t>
            </a:r>
          </a:p>
          <a:p>
            <a:r>
              <a:t>- 「凝聚」的名場面《告別交響曲》：據載 1772 年樂團被留在鄉間宮殿太久、樂手久未返家，海頓不直接抗議，而把訴求寫進第 45 號交響曲的終樂章——樂手一個接一個吹熄譜架上的蠟燭、依序離場，最後只剩兩把弱音小提琴（相傳由海頓與首席托馬西尼演奏）。親王聽懂了，隔天就放大家回家；這正是上下對等、雙向回應與團隊向心力的縮影，也呼應後面的「歷代贊助對照表」與「給企業五點提案」。</a:t>
            </a:r>
          </a:p>
          <a:p>
            <a:r>
              <a:t>- 📖 埃斯特哈齊家族（Esterházy）：據 Wikipedia／Britannica，十八世紀匈牙利最富有、最有權勢的貴族世家之一，效忠哈布斯堡皇室、坐擁大片領地；當時＝以贊助建築、美術與音樂聞名的「超級金主」，海頓即其支薪家臣。</a:t>
            </a:r>
          </a:p>
          <a:p>
            <a:r>
              <a:t>- 📖 樂長（Kapellmeister）：德文原意「樂隊的長」；當時＝統管一位貴族或教會全部音樂事務的宮廷樂團總監，身兼作曲家與人事主管，是受雇於金主的高階「音樂員工」職位，而非自由接案的藝術家。</a:t>
            </a:r>
          </a:p>
          <a:p>
            <a:r>
              <a:t>- 📖 尼古勞斯一世親王（Nikolaus I, Prince Esterházy，1714–1790）：綽號「輝煌者（the Magnificent）」；當時＝海頓最重要的出資人與雇主，親自出資蓋宮殿、養樂團、命海頓大量創作交響曲與歌劇。</a:t>
            </a:r>
          </a:p>
          <a:p>
            <a:r>
              <a:t>- 📖 埃斯特哈薩宮（Eszterháza）：位於今匈牙利費爾特德（Fertőd）的洛可可式宮殿，號稱「匈牙利的凡爾賽宮」；當時＝親王出資興建的音樂與歌劇重鎮，設兩座劇院與樂手宿舍，是這份贊助關係的「硬體」，海頓在此駐紮約 1766 至 1790 年。</a:t>
            </a:r>
          </a:p>
          <a:p>
            <a:r>
              <a:t>- 📖 《告別交響曲》（Symphony No. 45「Farewell」）：海頓 1772 年之作；當時＝海頓替團隊向金主「委婉陳情」的手段，也是後世傳頌的勞資對等佳話。此故事由海頓晚年口述給傳記作者狄斯（Dies）與格里辛格（Griesinger），親王反應等細節帶軼事性質（相傳）。</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32｜埃斯特哈齊親王：花錢養一座「私人研發中心」</a:t>
            </a:r>
          </a:p>
          <a:p/>
          <a:p>
            <a:r>
              <a:t>【講稿】（停留約 75 秒）匈牙利的埃斯特哈齊（Esterházy）親王，就是一位把「養音樂」當長期投資的貴族企業家。他蓋了一座莊園，人稱「匈牙利的凡爾賽」，裡面歌劇院、劇場、音樂廳一應俱全——等於替自己蓋了一座私人研發中心，兼門面工程：撐排場、招待貴賓、凝聚整個宮廷的聲望，全包了。他長期供養一整支樂團。有意思的是，親王自己愛玩一種冷門的低音樂器叫巴里頓琴（baryton，一種音色特殊、很難演奏的古樂器），樂團就得為它量身打造上百首曲子——你看，金主的品味，直接決定了研發方向。這筆投資的回報是什麼？「埃斯特哈齊」這個姓氏，兩百多年後的今天，我們還在講。這也正是等一下企業提案的第 1 點：長期穩定資助，加上一座能養創新的場館。</a:t>
            </a:r>
          </a:p>
          <a:p>
            <a:r>
              <a:t>【講義補充】</a:t>
            </a:r>
          </a:p>
          <a:p>
            <a:r>
              <a:t>- 主角這位金主：尼古拉一世·埃斯特哈齊親王（Nikolaus I, Prince Esterházy，1714-1790），匈牙利最顯赫貴族家族的當家。1762 年繼承兄長保羅·安東（Paul Anton）繼位為親王，掌權到 1790 年過世。據 Wikipedia，他收入極高，某些說法甚至比奧地利皇帝還富有——口袋有多深，養音樂的事業就能做多大。</a:t>
            </a:r>
          </a:p>
          <a:p>
            <a:r>
              <a:t>- 綽號本身就是品牌定位：時人稱他「愛好奢華者」（德文 der Prachtliebende，英文常譯 "Nikolaus the Magnificent"）。排場、宮廷、音樂，全是他撐聲望的門面工程。</a:t>
            </a:r>
          </a:p>
          <a:p>
            <a:r>
              <a:t>- 投資標的：埃斯特哈齊莊園（Eszterháza，位於今匈牙利費爾特德 Fertőd），1766 年落成入住，一路擴建到 1780 年代。據 Wikipedia，造價高達 1,300 萬奧地利盾（gulden），內含 126 間房、歌劇院、木偶劇院與音樂廳，人稱「匈牙利的凡爾賽」。</a:t>
            </a:r>
          </a:p>
          <a:p>
            <a:r>
              <a:t>- 「凡爾賽」其實是行銷話術：親王 1764 年才親訪法國凡爾賽宮，但學者指出莊園設計實際更多取法維也納近郊的申布倫宮（Schönbrunn）。重點不在像不像，而在「打造一個能對標歐洲頂級宮廷的門面」。</a:t>
            </a:r>
          </a:p>
          <a:p>
            <a:r>
              <a:t>- 這座私人研發中心的產能：歌劇院 1768 年啟用（約可容 400 人，1779 年焚毀後重建），木偶劇院 1773 年開張。海頓在此每年指揮上百場歌劇與音樂會（1766-1790 年），等於一座全年無休的內容工廠。</a:t>
            </a:r>
          </a:p>
          <a:p>
            <a:r>
              <a:t>- 養的是「常設研發團隊」，不是「一次性外包」：親王長期供養固定樂團，1760 年代約 13-15 人，加演歌劇後擴編到 22-24 人。金主給的不只薪水，還有「充足排練時間、足以挖角頂尖樂手的薪資水準、完整的藝術主導權」——這正是稍後提案第 1 點「長期穩定資助」的教科書範例。</a:t>
            </a:r>
          </a:p>
          <a:p>
            <a:r>
              <a:t>- 首席研發長就是海頓：約瑟夫·海頓（Joseph Haydn）1761 年 5 月 1 日先與前一任親王保羅·安東簽約，因舊樂長韋爾納還在位，起初職稱是「副樂長」；1766 年韋爾納過世後升為正樂長。他替這個家族工作近 30 年，職涯與金主深度綁定。</a:t>
            </a:r>
          </a:p>
          <a:p>
            <a:r>
              <a:t>- 金主品味＝研發方向（本張核心軼事）：親王本人熱愛冷門低音樂器巴里頓琴，1765 年購入一把（由維也納製琴師施塔德曼（Johann Joseph Stadlmann）1750 年製作）。為了讓老闆有曲子可拉，海頓在 1762 至 1775 年間為它量身打造約 175 首作品，其中光「巴里頓三重奏」就有 126 首——一位業餘玩家的私人嗜好，硬生生催生出一整批人類音樂遺產。</a:t>
            </a:r>
          </a:p>
          <a:p>
            <a:r>
              <a:t>- 這筆錢買到什麼回報：不是短期收益，而是兩百多年後我們仍在唸的「埃斯特哈齊」這個姓氏，加上一整批傳世曲目——品牌永續與智慧財產的雙重報酬。</a:t>
            </a:r>
          </a:p>
          <a:p>
            <a:r>
              <a:t>- 反面教材（風險提示）：親王雖富，開銷同樣驚人。據 Wikipedia，他 1790 年一過世，繼位的兒子安東（Anton）立刻被迫撙節、解散大半樂團，偏僻的莊園也隨之閒置。提醒企業：贊助要「可持續」，光靠單一金主的個人熱情，人走茶就涼。</a:t>
            </a:r>
          </a:p>
          <a:p>
            <a:r>
              <a:t>- 呼應全片：本張是提案第 1 點「長期穩定資助＋一座能養創新的場館」的原型案例，也預告稍後的「歷代贊助對照表」與記憶點「對等、可持續、共融」。</a:t>
            </a:r>
          </a:p>
          <a:p>
            <a:r>
              <a:t>- 📖 埃斯特哈齊家族（Esterházy）：匈牙利最顯赫的貴族兼大地主家族，18 世紀是哈布斯堡帝國境內數一數二的富豪，長期以贊助藝術、蓋宮殿撐門面著稱。</a:t>
            </a:r>
          </a:p>
          <a:p>
            <a:r>
              <a:t>- 📖 親王（Prince／德文 Fürst）：神聖羅馬帝國體系下僅次於君主的最高貴族頭銜之一，握有大片領地與高度自治權，當時約等於「一方諸侯兼大型莊園集團的總裁」。</a:t>
            </a:r>
          </a:p>
          <a:p>
            <a:r>
              <a:t>- 📖 樂長（Kapellmeister）：字面意思是「宮廷／教堂樂隊之長」，當時＝宮廷音樂總監，統管作曲、指揮、樂手管理、樂器與樂譜庫存，相當於今天的內容長兼研發主管。</a:t>
            </a:r>
          </a:p>
          <a:p>
            <a:r>
              <a:t>- 📖 副樂長（vice-Kapellmeister）：樂長的副手兼接班梯隊。海頓最初的職稱，因前任樂長韋爾納（Gregor Joseph Werner，1693-1766）仍在位而暫居其下。</a:t>
            </a:r>
          </a:p>
          <a:p>
            <a:r>
              <a:t>- 📖 巴里頓琴（baryton）：維也納一帶 18 世紀流行的低音弓弦樂器，屬古大提琴（viola da gamba）家族。6 至 7 條腸弦置於有品的指板上用弓拉奏，琴頸後方另藏一排金屬「共鳴弦」，既能隨拉奏共振增色、又能用左手拇指反手撥彈——一琴兩聲、極難駕馭。18 世紀後幾乎絕跡，20 世紀才因古樂復興運動重生。</a:t>
            </a:r>
          </a:p>
          <a:p>
            <a:r>
              <a:t>- 📖 古大提琴（viola da gamba）：文藝復興到巴洛克盛行的一族弓弦樂器，夾在雙腿間演奏（義大利文 gamba 即「腿」），有品、通常六弦，音色柔和內斂；巴里頓琴即由它衍生而來。</a:t>
            </a:r>
          </a:p>
          <a:p>
            <a:r>
              <a:t>- 📖 木偶劇院（marionette theatre）：埃斯特哈齊莊園 1773 年增建的提線木偶專用劇場，海頓也為它寫過歌劇。貴族拿最尖端的音樂資源辦「偶戲」，可見其資助之奢與品味之刁。</a:t>
            </a:r>
          </a:p>
          <a:p>
            <a:r>
              <a:t>- 📖 奧地利盾（gulden／florin）：當時哈布斯堡帝國通行的銀幣貨幣單位；莊園造價 1,300 萬盾在 18 世紀是天文數字。</a:t>
            </a:r>
          </a:p>
          <a:p>
            <a:r>
              <a:t>- 📖 申布倫宮（Schönbrunn）：維也納近郊的哈布斯堡皇室夏宮，洛可可宮殿代表作；學者認為埃斯特哈齊莊園的設計取法它更甚於凡爾賽。</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33｜第六樣：國家與企業的形象</a:t>
            </a:r>
          </a:p>
          <a:p/>
          <a:p>
            <a:r>
              <a:t>【講稿】（停留約 30 秒）第六樣回報，也是各位最關心的一樣——形象。音樂，能替一個國家、一家企業，寫下一種難以複製的「氣質」。這股氣質，可以是一個國家的凝聚力（國力），可以是一個地方的觀光財（國家形象），也可以是一個品牌讓人想靠近的質感（企業品牌）。接下來，我從國家一路講到你的品牌。</a:t>
            </a:r>
          </a:p>
          <a:p>
            <a:r>
              <a:t>【講義補充】</a:t>
            </a:r>
          </a:p>
          <a:p>
            <a:r>
              <a:t>- 第六樣回報是「形象／氣質」——音樂能替一個國家、一個地方、一個品牌寫下難以複製、也不會折舊的識別；本張把它拆成由大到小三個層次：國家的凝聚力（國力）、地方的觀光財（國家形象），以及品牌讓人想靠近的質感（企業品牌）。</a:t>
            </a:r>
          </a:p>
          <a:p>
            <a:r>
              <a:t>- 三個層次各有代表：國力用威爾第（Giuseppe Verdi），國家形象／觀光用普契尼（Giacomo Puccini）與德布西（Claude Debussy），企業品牌用賓士（Mercedes-Benz）與奇美（Chimei）；這幾個名字在後面幾張會逐一登場。</a:t>
            </a:r>
          </a:p>
          <a:p>
            <a:r>
              <a:t>- 站在出錢的金主這一邊看，形象是最划算的回報——別人可以抄產品、砍價格，卻抄不走你長年贊助音樂累積出來的「氣質資產」。</a:t>
            </a:r>
          </a:p>
          <a:p>
            <a:r>
              <a:t>- 📖 威爾第（Giuseppe Verdi）：19 世紀義大利歌劇作曲家，是「音樂＝國力」的教科書案例。他 1842 年在米蘭史卡拉歌劇院（Teatro alla Scala）首演的歌劇《拿布果（Nabucco）》，第三幕合唱〈飛吧，思想，乘著金色的翅膀（Va, pensiero）〉唱的是被擄希伯來人思念故土，義大利人聽成自己在外族統治下對統一的渴望；統一運動（Risorgimento，19 世紀義大利統一運動）期間，北義牆上的塗鴉「Viva VERDI」表面是「威爾第萬歲」，其實是「Vittorio Emanuele Re D'Italia（義大利國王維托里奧・埃馬努埃萊）」的字首暗號——在奧地利控制北義、審查嚴密的年代，一位作曲家的名字被整個民族拿來當凝聚國力的旗幟。</a:t>
            </a:r>
          </a:p>
          <a:p>
            <a:r>
              <a:t>- 📖 普契尼（Giacomo Puccini）：義大利歌劇作曲家，生於托斯卡尼的盧卡（Lucca），長年住在附近馬薩丘科利湖（Lago di Massaciuccoli）畔的托雷德爾拉戈（Torre del Lago），《波希米亞人（La Bohème）》《托斯卡（Tosca）》《蝴蝶夫人（Madama Butterfly）》《杜蘭朵（Turandot）》多在此寫成。今天湖畔每年夏天辦「普契尼音樂節（Festival Puccini，全世界唯一專演普契尼的音樂節，露天劇場約三千四百席，2026 年為第 72 屆）」，加上盧卡的故居博物館，把一位作曲家變成整片地方的觀光財——這是音樂替「國家形象」帶進真金白銀的例子。</a:t>
            </a:r>
          </a:p>
          <a:p>
            <a:r>
              <a:t>- 📖 德布西（Claude Debussy，1862–1918）：法國作曲家、音樂「印象派（Impressionism）」的代表，作品如《牧神的午後前奏曲（Prélude à l'après-midi d'un faune）》《大海（La Mer）》《月光（Clair de lune）》以朦朧的色彩與氣氛見長。對法國而言，德布西這種細膩品味本身就是一張國家名片——把「法國＝優雅文化之國」的形象輸出到全世界，等於一種不花軍費的軟實力。</a:t>
            </a:r>
          </a:p>
          <a:p>
            <a:r>
              <a:t>- 📖 賓士（Mercedes-Benz）：德國豪華汽車品牌，1926 年由戴姆勒（Gottlieb Daimler）與卡爾・賓士（Carl Benz）兩家車廠合併而成（兩人早在 1886 年各自造出最早的汽車）；「Mercedes」之名來自經銷商兼賽車手耶利內克（Emil Jellinek）女兒的名字，1902 年成為商標，三芒星標誌象徵陸、海、空全面動力化。講稿借「賓士」當「讓人想靠近的質感」的代名詞——說明品牌形象一旦立住，就成了消費者願意多付錢、也主動靠近的無形資產。</a:t>
            </a:r>
          </a:p>
          <a:p>
            <a:r>
              <a:t>- 📖 奇美（Chimei）：台灣奇美集團，以石化、面板起家，創辦人許文龍（1928 年生）愛樂，設立台南的奇美博物館（1992 年成立、2014 年遷入台南都會公園），蒐藏號稱全球最大的提琴群（據載逾一千三百把，含史特拉底瓦里（Stradivari）等名琴），並免費出借給演奏家使用。許文龍說名琴是人類文化遺產、奇美只是暫時保管——一家做石化與面板的企業，就用音樂替品牌與整座城市寫下難以複製的文化氣質。</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34｜大衛《拿破崙加冕》：國家花錢，買一張形象</a:t>
            </a:r>
          </a:p>
          <a:p/>
          <a:p>
            <a:r>
              <a:t>【講稿】（停留約 70 秒）先看國家怎麼花錢買形象。1804 年，拿破崙（Napoléon）當上皇帝，下令委託畫家大衛（Jacques-Louis David）畫下他的加冕大典，還封他為「皇帝首席畫師」——這是一件不折不扣的國家級形象工程。而且這位甲方改稿改得理直氣壯：他的母親其實因家族失和沒出席，卻被要求畫進正中央最尊貴的包廂；教皇原本像個旁觀者，拿破崙看了畫室之後，要求改成「舉手祝福」的姿勢。報酬呢？大衛自估十萬法郎，最後實收六萬五——強勢甲方殺價，兩百年前就這樣。但反過來說，也正是這筆國家委託，讓這幅畫永遠掛進了羅浮宮。出錢的拿破崙，買到的是一整個帝國的「國家形象」。</a:t>
            </a:r>
          </a:p>
          <a:p>
            <a:r>
              <a:t>【講義補充】</a:t>
            </a:r>
          </a:p>
          <a:p>
            <a:r>
              <a:t>- 這是「國家花錢買形象」的教科書級案例：出資方是新生的法蘭西帝國與皇帝本人，買到的不只是一幅畫，而是一份可傳世的政權合法性視覺文件。</a:t>
            </a:r>
          </a:p>
          <a:p>
            <a:r>
              <a:t>- 委託時間與規模：拿破崙（Napoléon Bonaparte）在 1804 年 9 至 10 月間口頭下令委製，一口氣訂了四幅巨畫記錄登基相關大典（登基 L'Intronisation、加冕 Le Sacre、頒鷹旗 La Distribution des aigles、抵市政廳 L'Arrivée à l'Hôtel de Ville），最後大衛（Jacques-Louis David）只完成兩幅：《加冕》與《頒鷹旗》。</a:t>
            </a:r>
          </a:p>
          <a:p>
            <a:r>
              <a:t>- 官方頭銜作為酬庸：1804 年拿破崙封大衛為「皇帝首席畫師」（Premier Peintre de l'Empereur），等於把帝國美術宣傳的最高職位、獨占地位一併交出去——強勢金主給的不只是錢，還有名分。</a:t>
            </a:r>
          </a:p>
          <a:p>
            <a:r>
              <a:t>- 開價與殺價的落差：皇帝原本口頭同意「每幅」付天價 10 萬法郎；但《加冕》實收約 6.5 萬、另一幅《頒鷹旗》更只收約 5.2 萬（據法文維基百科）。先給大訂單、再壓實付金額，兩百年前的強勢甲方就這麼幹。</a:t>
            </a:r>
          </a:p>
          <a:p>
            <a:r>
              <a:t>- 尺寸即預算：畫布 6.21 公尺 × 9.79 公尺（621 × 979 公分），是羅浮宮（Louvre）最大的畫作之一，畫中人物近百且與真人等身；巨幅本身就是「砸重金」的公開宣示。</a:t>
            </a:r>
          </a:p>
          <a:p>
            <a:r>
              <a:t>- 工期是一件國家級文宣專案：1805 年 12 月 21 日開筆，1807 年 11 月大致完成，1808 年初修潤，1808 年 2 至 3 月公開展出，前後歷時約三年。</a:t>
            </a:r>
          </a:p>
          <a:p>
            <a:r>
              <a:t>- 甲方改稿一（史實讓位給形象）：拿破崙的母親萊蒂西亞（Maria Letizia Ramolino，人稱「皇帝之母」Madame Mère）因家族失和（與另一個兒子呂西安 Lucien 鬧翻）根本沒出席典禮，卻被要求端坐畫面正中最尊貴的看台包廂。</a:t>
            </a:r>
          </a:p>
          <a:p>
            <a:r>
              <a:t>- 甲方改稿二（把旁觀者改成背書者）：原稿裡教皇庇護七世（Pius VII）雙手擱膝、被動旁觀；拿破崙看了不滿，相傳留下名言「我大老遠把他請來，可不是讓他什麼都不做」（Je ne l'ai pas fait venir de si loin pour qu'il ne fasse rien），要求改成舉手祝福，好讓宗教權威替新皇背書。</a:t>
            </a:r>
          </a:p>
          <a:p>
            <a:r>
              <a:t>- 甲方改稿三（構圖核心）：原稿是拿破崙把皇冠往自己頭上戴，顯得傲慢挑釁；宮廷肖像畫家熱拉爾（François Gérard）建議改成「皇帝親手替皇后約瑟芬（Joséphine）加冕」，既保住「不受教皇之手、自我加冕」的政治宣示，又化解傲慢觀感——甲方要的是既好看又政治正確的訊息。</a:t>
            </a:r>
          </a:p>
          <a:p>
            <a:r>
              <a:t>- 買到的是長期資產：正因為是國家委託，這幅畫最終永久掛進羅浮宮，成為法國國家收藏的鎮館名作；另有一幅全尺寸複製版（1808–1822，大衛流亡布魯塞爾時期完成）藏於凡爾賽宮（Château de Versailles）。出錢的皇帝，買到的是兩百年不下架的帝國形象。</a:t>
            </a:r>
          </a:p>
          <a:p>
            <a:r>
              <a:t>- 與本講其他站的呼應：這和梅迪奇（Medici）資助歌劇、埃斯特哈齊（Esterházy）供養海頓是同一套邏輯——金主出資，換到「被史冊記住的形象」；差別只在拿破崙買的是視覺政治，樂器與樂譜換成了油彩與畫布。</a:t>
            </a:r>
          </a:p>
          <a:p>
            <a:r>
              <a:t>- 📖 加冕（Le Sacre／The Coronation）：拿破崙於 1804 年 12 月 2 日在巴黎聖母院登基為帝的典禮；法文 sacre 兼指「加冕」與「祝聖」，強調王權與宗教的雙重合法化。</a:t>
            </a:r>
          </a:p>
          <a:p>
            <a:r>
              <a:t>- 📖 皇帝首席畫師（Premier Peintre de l'Empereur）：中文即「皇帝的第一畫家」，當時＝帝國官方美術的最高職位，掌國家肖像與宣傳畫的話語權，是一種帶薪的政治任命。</a:t>
            </a:r>
          </a:p>
          <a:p>
            <a:r>
              <a:t>- 📖 甲方：中文商場口語，指「出錢下訂單、握最終決定權的委託方／業主」；此處＝出資的拿破崙與國家，對照「乙方」＝執行的畫家大衛。</a:t>
            </a:r>
          </a:p>
          <a:p>
            <a:r>
              <a:t>- 📖 大衛（Jacques-Louis David，1748–1825）：法國新古典主義代表畫家，大革命與拿破崙時期的官方畫家；在本片視角下＝金主指定的形象工程執行者。</a:t>
            </a:r>
          </a:p>
          <a:p>
            <a:r>
              <a:t>- 📖 皇帝之母（Madame Mère，本名 Maria Letizia Ramolino，1750–1836）：拿破崙的母親；Madame Mère 是官方尊稱，字面即「母親夫人」，當時＝帝國太后級的第一女性。</a:t>
            </a:r>
          </a:p>
          <a:p>
            <a:r>
              <a:t>- 📖 庇護七世（Pius VII，1742–1823）：當時的天主教教皇；被拿破崙請到巴黎為加冕祝聖，用以換取宗教合法性，畫中被改成舉手祝福以凸顯此角色。</a:t>
            </a:r>
          </a:p>
          <a:p>
            <a:r>
              <a:t>- 📖 約瑟芬（Joséphine de Beauharnais，1763–1814）：拿破崙的第一任皇后；全畫的高潮就是拿破崙親手為她戴上后冠。</a:t>
            </a:r>
          </a:p>
          <a:p>
            <a:r>
              <a:t>- 📖 熱拉爾（François Gérard，1770–1837）：當紅宮廷肖像畫家、大衛的學生，是把「自我加冕」改為「為皇后加冕」構圖的建議者。</a:t>
            </a:r>
          </a:p>
          <a:p>
            <a:r>
              <a:t>- 📖 法郎（franc）：當時法國的貨幣單位；10 萬法郎在 1800 年代屬「天價」等級的委製報酬，足見這是砸重金的國家形象投資。</a:t>
            </a:r>
          </a:p>
          <a:p>
            <a:r>
              <a:t>- 📖 新古典主義（Neoclassicism）：18 世紀末至 19 世紀初的藝術風潮，取法古希臘羅馬的莊嚴、秩序與英雄氣概；拿破崙偏愛它，因為那套視覺語言最能把新政權包裝成「羅馬帝國」式的正統。</a:t>
            </a:r>
          </a:p>
          <a:p>
            <a:r>
              <a:t>- 📖 羅浮宮（Louvre）：巴黎的國家級美術館，原為法國王宮；此畫入藏於此＝進入國家永久收藏，取得最高規格的長期展示。</a:t>
            </a:r>
          </a:p>
          <a:p>
            <a:r>
              <a:t>- 📖 頒鷹旗（La Distribution des aigles）：拿破崙授予各軍團「鷹旗」軍徽的典禮，鷹取法古羅馬軍團標誌；這是四幅委託中大衛完成的另一幅。</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35｜德拉克洛瓦《自由引導人民》：國家花三千法郎，買一份認同</a:t>
            </a:r>
          </a:p>
          <a:p/>
          <a:p>
            <a:r>
              <a:t>【講稿】（停留約 65 秒）國家買形象，還有另一種——買「認同」。1830 年七月革命之後，法國政府用三千法郎，買下畫家德拉克洛瓦（Delacroix）的《自由引導人民》。這幅畫的政治訊息太強烈，掛沒多久就被收起來，一直到 1874 年才正式進羅浮宮。可是後來它翻身了：它被印上法國一百法郎的紙鈔，全國人每天摸著它過日子，變成了國家的視覺識別。各位看，政府買畫、企業贊助，買的其實是同一樣東西——認同。一幅畫、一段音樂，一旦綁上了群眾的情感，它的價值就再也不是三千法郎能衡量的了。</a:t>
            </a:r>
          </a:p>
          <a:p>
            <a:r>
              <a:t>【講義補充】</a:t>
            </a:r>
          </a:p>
          <a:p>
            <a:r>
              <a:t>- 這張延續上一張「國家買形象」的邏輯，換一個更高階的版本：政府採購藝術，買下的不是一塊畫布，而是把一段集體記憶收編成官方認同，德拉克洛瓦這幅畫正是「金主用小錢買下大象徵」的教科書級案例。</a:t>
            </a:r>
          </a:p>
          <a:p>
            <a:r>
              <a:t>- 時代背景：1830 年 7 月，法國波旁復辟王朝的國王查理十世（Charles X）頒布箝制新聞、解散國會的《七月敕令》（Ordonnances de Saint-Cloud），引爆巴黎連續三天的街頭起義，史稱「光榮三日」（Les Trois Glorieuses，1830 年 7 月 27～29 日）；查理十世倒台，改由奧爾良家族的路易-菲利普（Louis-Philippe）登基，開啟「七月王朝」（1830～1848）。</a:t>
            </a:r>
          </a:p>
          <a:p>
            <a:r>
              <a:t>- 畫家在革命當下就決定「參戰」：德拉克洛瓦於 1830 年 10 月 21 日寫信給哥哥，說自己雖沒扛槍為國作戰，「至少我可以為她作畫」（大意），並在數月內完成這幅巨作。</a:t>
            </a:r>
          </a:p>
          <a:p>
            <a:r>
              <a:t>- 這幅畫先於 1831 年官方沙龍（Salon）公開展出，隨即由法國政府（內政部）以 3,000 法郎買入；請注意這裡的買家是「國家」，動機是政治的：新政權想把它掛進盧森堡宮（Palais du Luxembourg）的王座廳，當作提醒路易-菲利普「你的王位是這場革命給的」的背書。</a:t>
            </a:r>
          </a:p>
          <a:p>
            <a:r>
              <a:t>- 但畫面訊息太危險：一位袒胸、高舉三色旗、帶著群眾跨過屍體衝鋒的自由女神，對任何當權者都是雙面刃，它既歌頌革命，也隨時能召喚下一場革命；於是掛沒多久就被收進庫房，1832 年六月起義後乾脆退還給畫家本人。</a:t>
            </a:r>
          </a:p>
          <a:p>
            <a:r>
              <a:t>- 之後它的「政治溫度」隨政局反覆被收放：1848 年二月革命後短暫重見天日，第二帝國時期又於 1855 年沙龍展出；直到 1874 年才由第三共和正式買回、送進羅浮宮（Louvre）永久典藏，從被政府藏起來到被政府請進國家殿堂，前後隔了四十多年。</a:t>
            </a:r>
          </a:p>
          <a:p>
            <a:r>
              <a:t>- 真正的「認同大爆發」發生在紙鈔上：1978 至 1995 年，法蘭西銀行（Banque de France）發行的 100 法郎鈔票，正面就是德拉克洛瓦自畫像加上這幅畫的局部；等於全法國人天天摸著它買菜找零，一幅曾被政府嫌太激進的畫，最終變成國家最日常的視覺識別。</a:t>
            </a:r>
          </a:p>
          <a:p>
            <a:r>
              <a:t>- 對企業的收束：政府花 3,000 法郎買畫、企業掏錢贊助，買的其實是同一樣東西，就是「認同」；一旦作品綁上群眾情感，它的價值就再也不是當初那筆錢能衡量，這正是贊助長期累積出來的複利。</a:t>
            </a:r>
          </a:p>
          <a:p>
            <a:r>
              <a:t>- 📖 德拉克洛瓦（Eugène Delacroix，1798～1863）：法國浪漫主義畫派的代表人物；當時＝法國畫壇最擅長把激情、動勢與政治情緒搬上大畫布的一線畫家，本畫是他最著名的作品。</a:t>
            </a:r>
          </a:p>
          <a:p>
            <a:r>
              <a:t>- 📖 《自由引導人民》（La Liberté guidant le peuple）：1830 年油畫，尺寸約 260×325 公分；當時＝為紀念七月革命而作、把「自由」擬人化並領軍衝鋒的巨型歷史畫。</a:t>
            </a:r>
          </a:p>
          <a:p>
            <a:r>
              <a:t>- 📖 查理十世（Charles X，1757～1836，1824～1830 在位）：波旁復辟王朝的末代國王；當時＝因頒布壓制言論、解散國會的敕令而引爆革命、被迫退位的舊勢力象徵。</a:t>
            </a:r>
          </a:p>
          <a:p>
            <a:r>
              <a:t>- 📖 路易-菲利普（Louis-Philippe，1773～1850，1830～1848 在位）：奧爾良家族出身、七月革命後即位的「公民國王」（roi citoyen，公民國王之意）；當時＝想用這幅畫替自己王位背書、卻又怕它太革命的那位新買家兼統治者。</a:t>
            </a:r>
          </a:p>
          <a:p>
            <a:r>
              <a:t>- 📖 七月革命／光榮三日（Les Trois Glorieuses，三個光榮日之意）：1830 年 7 月 27～29 日巴黎的三天起義；當時＝推翻查理十世、直接催生這幅畫的政治事件。</a:t>
            </a:r>
          </a:p>
          <a:p>
            <a:r>
              <a:t>- 📖 七月王朝（Monarchie de Juillet，1830～1848）：路易-菲利普統治的立憲君主政體；當時＝這幅畫誕生後所處、對它又愛又怕的那個政權。</a:t>
            </a:r>
          </a:p>
          <a:p>
            <a:r>
              <a:t>- 📖 沙龍（Salon）：法國官方定期舉辦的美術大展；當時＝藝術家揚名、作品被政府與收藏家看見並收購的最重要官方舞台，本畫 1831 年即在此首度公開。</a:t>
            </a:r>
          </a:p>
          <a:p>
            <a:r>
              <a:t>- 📖 盧森堡宮（Palais du Luxembourg）：巴黎的宮殿，19 世紀一度充當在世藝術家作品的國家美術館；當時＝政府原本打算把這幅畫掛進其王座廳的地點。</a:t>
            </a:r>
          </a:p>
          <a:p>
            <a:r>
              <a:t>- 📖 瑪麗安娜（Marianne）：法蘭西共和國的擬人化女性象徵；當時＝畫中那位袒胸舉旗的自由女神所代表的「法國／共和國本身」，至今仍出現在法國郵票與各市政廳。</a:t>
            </a:r>
          </a:p>
          <a:p>
            <a:r>
              <a:t>- 📖 弗里吉亞帽（Phrygian cap，bonnet phrygien，弗里吉亞式軟帽）：畫中自由女神頭上的紅色軟帽；當時＝源自古希臘羅馬釋放奴隸時所戴、被法國大革命挪用為「自由」的標誌。</a:t>
            </a:r>
          </a:p>
          <a:p>
            <a:r>
              <a:t>- 📖 三色旗（tricolore，三色之意）：藍白紅三色的法國國旗，1789 年大革命期間確立；當時＝白為國王之色、藍與紅為巴黎之色，象徵王與人民的結合，也是畫中高舉的那面旗。</a:t>
            </a:r>
          </a:p>
          <a:p>
            <a:r>
              <a:t>- 📖 法郎（franc）：法國改用歐元之前的貨幣單位；當時＝3,000 法郎是政府買下此畫的價碼，也是後來印上這幅畫那張鈔票的面額（100 法郎）。</a:t>
            </a:r>
          </a:p>
          <a:p>
            <a:r>
              <a:t>- 📖 羅浮宮（Louvre）：巴黎的國家級美術館；當時＝1874 年起本畫的永久典藏地，也是它從「政治敏感品」升格為「國家瑰寶」的終點站。</a:t>
            </a:r>
          </a:p>
          <a:p>
            <a:r>
              <a:t>- 📖 法蘭西銀行（Banque de France）：法國的中央銀行、法郎的發行機構；當時＝1978～1995 年把這幅畫印上 100 法郎鈔票、讓它成為全民日常視覺識別的發行者。</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36｜威爾第：用一首歌，凝聚一個國家（音樂＝國力）</a:t>
            </a:r>
          </a:p>
          <a:p/>
          <a:p>
            <a:r>
              <a:t>【講稿】（停留約 75 秒）現在把層次拉高到「國力」。十九世紀的義大利，四分五裂、國勢衰弱，還被外國統治著。但作曲家威爾第（Verdi）的歌劇，讓全民因為音樂而振奮。他的歌劇《那布果》（Nabucco）裡有一首〈Va, pensiero〉，是一群被擄的奴隸思念祖國的大合唱。這首歌，成了義大利統一運動（Risorgimento，義大利文「復興」的意思）的非官方國歌。當時外國政府嚴密審查，義大利人不能公開喊獨立，於是他們就高喊「Viva VERDI」——表面上是「威爾第萬歲」，其實 VERDI 這五個字母，是「義大利國王萬歲」那句話的縮寫暗號。你看，一段旋律，凝聚了一個還沒統一的國家。這，就是音樂的國力。</a:t>
            </a:r>
          </a:p>
          <a:p>
            <a:r>
              <a:t>【講義補充】</a:t>
            </a:r>
          </a:p>
          <a:p>
            <a:r>
              <a:t>- 《那布果》全名《Nabucodonosor》（拿布甲尼撒，即《聖經》裡的巴比倫王尼布甲尼撒），1842 年 3 月 9 日在米蘭斯卡拉歌劇院（Teatro alla Scala）首演，是威爾第（Giuseppe Verdi，1813–1901）真正打響名號的第一齣歌劇。</a:t>
            </a:r>
          </a:p>
          <a:p>
            <a:r>
              <a:t>- 劇本取材自《舊約·詩篇》第 137 篇「巴比倫之囚」（西元前 586 年耶路撒冷聖殿被毀、猶太人被擄往巴比倫）；〈Va, pensiero〉是第三幕被擄奴隸思念故土的大合唱，又名〈希伯來奴隸大合唱〉（Coro di schiavi ebrei）。</a:t>
            </a:r>
          </a:p>
          <a:p>
            <a:r>
              <a:t>- 名句「O mia patria, sì bella e perduta」（我的祖國，如此美麗卻已失落）——當時四分五裂、受奧地利統治的義大利人聽來字字入心，於是威爾第《那布果》〈Va, pensiero〉成了義大利統一運動（Risorgimento）的非官方國歌。</a:t>
            </a:r>
          </a:p>
          <a:p>
            <a:r>
              <a:t>- 押寶威爾第的第一個「企業」是斯卡拉歌劇院的戲院經理梅雷利（Bartolomeo Merelli）：他在威爾第首作《奧貝托》（Oberto，1839）後一口氣簽下三部歌劇合約，還把別人退掉的《那布果》腳本硬塞回威爾第口袋，逼出了這齣戲。</a:t>
            </a:r>
          </a:p>
          <a:p>
            <a:r>
              <a:t>- 這一注押得有多值：1842 年首演那季因檔期將盡只演八場，但同年 8 月新季一開，到年底加演約六十場（據載）——對出資者而言，這是壓倒性的票房回報。</a:t>
            </a:r>
          </a:p>
          <a:p>
            <a:r>
              <a:t>- 另一個押寶者是出版商里柯第（Casa Ricordi）：創辦人喬凡尼·里柯第（Giovanni Ricordi）買下版權，並取得「代理作曲家對各劇院演出」的權利，等於日後每一場演出都替他帶進收益——這條「里柯第×威爾第」的商業線貫穿本講座另一張投影片。</a:t>
            </a:r>
          </a:p>
          <a:p>
            <a:r>
              <a:t>- 「Viva VERDI」＝「Viva Vittorio Emanuele Re D'Italia」（義大利國王維托里奧·埃馬努埃萊萬歲）的縮寫暗號：五個字母約 1859 年先在拿坡里出現、再傳遍全義，表面喊「威爾第萬歲」，審查者抓不到把柄，實則為薩丁尼亞國王維托里奧·埃馬努埃萊二世登上未來義大利王位而歡呼。</a:t>
            </a:r>
          </a:p>
          <a:p>
            <a:r>
              <a:t>- 為什麼非用暗號不可：當時義大利北部（倫巴底—威尼西亞）由奧地利帝國統治、審查嚴密，公開喊獨立會被捕，音樂與作曲家的名字於是成了合法的政治掩護。</a:t>
            </a:r>
          </a:p>
          <a:p>
            <a:r>
              <a:t>- 國力的最終見證：1901 年 1 月 27 日威爾第過世，米蘭街頭送葬群眾自發唱起〈Va, pensiero〉；約一個月後遷葬時，年輕的指揮托斯卡尼尼（Arturo Toscanini）率八百二十人合唱團同唱此曲（據 Wikipedia）——一段旋律，成了整個民族半世紀的集體記憶。</a:t>
            </a:r>
          </a:p>
          <a:p>
            <a:r>
              <a:t>- 給企業的一句話：威爾第的例子證明，好內容的最高報酬不只是票房，而是「被一整個民族當成自己的聲音」；這種品牌高度金錢買不到，卻能靠押對內容換到。</a:t>
            </a:r>
          </a:p>
          <a:p>
            <a:r>
              <a:t>- 📖 那布果／尼布甲尼撒（Nabucco / Nabucodonosor）：《聖經》裡攻陷耶路撒冷、擄走猶太人的巴比倫王，歌劇借他的故事影射受外族統治的義大利。</a:t>
            </a:r>
          </a:p>
          <a:p>
            <a:r>
              <a:t>- 📖 斯卡拉歌劇院（Teatro alla Scala）：1778 年啟用的米蘭歌劇院，義大利歌劇的最高殿堂，當時＝一齣戲能否成名的生死舞台。</a:t>
            </a:r>
          </a:p>
          <a:p>
            <a:r>
              <a:t>- 📖 戲院經理／製作人（impresario，義大利文）：歌劇院的經營者兼製作人，負責出資、選戲、簽下作曲家與歌手，相當於今天的製作公司老闆加節目總監。</a:t>
            </a:r>
          </a:p>
          <a:p>
            <a:r>
              <a:t>- 📖 里柯第出版社（Casa Ricordi）：1808 年創立於米蘭的音樂出版商，掌握十九世紀大量義大利歌劇版權，當時＝握有作曲家荷包與作品流通的產業巨頭。</a:t>
            </a:r>
          </a:p>
          <a:p>
            <a:r>
              <a:t>- 📖 復興運動（Risorgimento，義大利文「復興、再起」）：19 世紀義大利脫離奧地利等外族統治、走向統一建國的運動，1861 年義大利王國成立、1870 年攻下羅馬大致完成統一。</a:t>
            </a:r>
          </a:p>
          <a:p>
            <a:r>
              <a:t>- 📖 維托里奧·埃馬努埃萊二世（Vittorio Emanuele II，1820–1878）：原薩丁尼亞王國國王，1861 年成為統一後義大利王國首任國王，「Viva VERDI」暗號指的就是他。</a:t>
            </a:r>
          </a:p>
          <a:p>
            <a:r>
              <a:t>- 📖 薩丁尼亞王國（Kingdom of Sardinia）：以皮埃蒙特與杜林為核心的義大利邦國，是統一運動的主導力量，也是日後義大利王國的前身。</a:t>
            </a:r>
          </a:p>
          <a:p>
            <a:r>
              <a:t>- 📖 巴比倫之囚（Babylonian captivity）：西元前 586 年後猶太人被擄往巴比倫的歷史，〈Va, pensiero〉即以此為背景抒發思鄉之情。</a:t>
            </a:r>
          </a:p>
          <a:p>
            <a:r>
              <a:t>- 📖 劇本／腳本（libretto，義大利文「小書」）：歌劇的文字腳本；《那布果》腳本由索雷拉（Temistocle Solera）撰寫。</a:t>
            </a:r>
          </a:p>
          <a:p>
            <a:r>
              <a:t>- 📖 托斯卡尼尼（Arturo Toscanini，1867–1957）：義大利指揮巨匠，曾長期執掌斯卡拉歌劇院與紐約愛樂，1901 年威爾第遷葬時領八百二十人合唱〈Va, pensiero〉。</a:t>
            </a:r>
          </a:p>
          <a:p>
            <a:r>
              <a:t>【影片操作】 可播〈Va, pensiero〉合唱約 3 分鐘。播前：「聽一個民族，如何用一首歌找回自己。」</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37｜普契尼：作曲家替國家寫下觀光財（音樂＝國家形象）</a:t>
            </a:r>
          </a:p>
          <a:p/>
          <a:p>
            <a:r>
              <a:t>【講稿】（停留約 75 秒）國家形象，還能直接變成觀光財。義大利作曲家普契尼（Puccini）的歌劇，就替一個個地方帶來實實在在的觀光收入。他的《蝴蝶夫人》故事發生在日本長崎，結果長崎的哥拉巴園，就因為這齣歌劇成了「蝴蝶夫人之家」，變成景點，一年吸引近兩百萬訪客；他的《托斯卡》把羅馬的地標寫成歌劇場景，這些地標就變成樂迷的朝聖點。各位聽出來了嗎？一個地方的觀光財，很多時候是作曲家替它寫出來的——音樂替一座城市寫下難以複製的氣質，然後這股氣質，能一直收門票、一直帶客人。對品牌來說也一樣：找對的音樂，能替你寫下一張讓人想靠近的名片。</a:t>
            </a:r>
          </a:p>
          <a:p>
            <a:r>
              <a:t>【講義補充】</a:t>
            </a:r>
          </a:p>
          <a:p>
            <a:r>
              <a:t>- 本張命題：一齣歌劇能替一座城市、甚至一個國家寫下「觀光財」與「國家形象」，而寫的人不收地租、也沒簽合約，卻讓當地一路收門票——對品牌的啟示是，選對音樂等於拿到一張讓人想靠近、又難以複製的名片。</a:t>
            </a:r>
          </a:p>
          <a:p>
            <a:r>
              <a:t>- 《蝴蝶夫人》（Madama Butterfly）1904 年 2 月 17 日在米蘭史卡拉歌劇院（Teatro alla Scala，義大利語 La Scala 即「階梯」之意，1778 年開幕、歐洲最高規格的首演舞台）首演；故事設定在日本長崎（Nagasaki）。首演當晚被觀眾噓爆、視為慘敗，普契尼修訂後同年 5 月 28 日在布雷西亞（Brescia）重演大獲成功，此後風行全球——長崎也就白白得到一張「蝴蝶夫人之家」的觀光招牌。</a:t>
            </a:r>
          </a:p>
          <a:p>
            <a:r>
              <a:t>- 這張招牌靠的是「氣質嫁接」而非實景：長崎的哥拉巴園與普契尼毫無合作、歌劇也從沒在此取景，只因園中洋樓的氛圍「像」劇中場景，就被冠上「蝴蝶夫人之家」，園內更為普契尼與名伶三浦環立起雕像——一段旋律替一個它從未指名的真實地點，貼上了世界級標籤。</a:t>
            </a:r>
          </a:p>
          <a:p>
            <a:r>
              <a:t>- 哥拉巴園年訪客近 200 萬人（據 Wikipedia／Visit Kyushu），是長崎第一號觀光景點；核心建物哥拉巴故居 1863 年落成，是日本現存最古老的西式住宅（原 note 事實保留並擴充）。</a:t>
            </a:r>
          </a:p>
          <a:p>
            <a:r>
              <a:t>- 《托斯卡》（Tosca）1900 年 1 月 14 日在羅馬特奧斯坦齊劇院（Teatro Costanzi）首演，改編自法國劇作家薩杜（Victorien Sardou）1887 年的舞台劇《La Tosca》，故事設定在 1800 年拿破崙進逼下的羅馬；普契尼把三幕分別「釘」在羅馬三處真實地標上，於是這三處全都變成樂迷的朝聖點（原 note 「羅馬地標朝聖點」保留並具體化）。</a:t>
            </a:r>
          </a:p>
          <a:p>
            <a:r>
              <a:t>- 這條「托斯卡之路」（Tosca trail）如今已是羅馬固定行程：據 Seattle Times，第一幕場景聖安德烈亞德拉瓦萊教堂「觀光客往往比信眾還多」——一齣歌劇把宗教建築變成了售票景點。</a:t>
            </a:r>
          </a:p>
          <a:p>
            <a:r>
              <a:t>- 三處地標今天的身分同樣是活招牌：第二幕的法爾內塞宮現為法國駐義大利大使館，第三幕的聖天使堡自 1925 年起是國立博物館，三點步行可達、正好串成一條半日至一日的遊程。</a:t>
            </a:r>
          </a:p>
          <a:p>
            <a:r>
              <a:t>- 國家形象層面：普契尼一生只寫義大利語歌劇，卻把長崎、羅馬、乃至《杜蘭朵》（Turandot）裡的北京「異國氛圍」行銷到全世界，等於替義大利歌劇打造出跨國的軟實力名片；真正的最大受益者，是坐收數十年、上百年門票與周邊財的地方政府與觀光業。</a:t>
            </a:r>
          </a:p>
          <a:p>
            <a:r>
              <a:t>- 與本片其他站呼應：第七樣（實利）會講到的《Funiculì, Funiculà》是登山纜車公司的廣告歌、直接替纜車帶客；本張是它的升級版——不替單一公司，而替整座城市、整個國家寫觀光財。兩者都是同一條「音樂→地點→現金流」公式，正對應本片記憶點「可持續」。</a:t>
            </a:r>
          </a:p>
          <a:p>
            <a:r>
              <a:t>- 對企業與品牌的收斂：史實反覆證明，「找對的音樂」不是文化裝飾，而是能長期、重複變現的資產——它替你寫下一張難以複製、讓人想靠近的名片。</a:t>
            </a:r>
          </a:p>
          <a:p>
            <a:r>
              <a:t>- 📖 賈科莫·普契尼（Giacomo Puccini，1858～1924）：義大利歌劇作曲家，生於托斯卡尼的盧卡（Lucca），代表作《蝴蝶夫人》《托斯卡》《波希米亞人》《杜蘭朵》至今仍是全球歌劇院最賣座的常演劇目；當時＝全歐洲票房與版稅收入最高的在世作曲家之一。</a:t>
            </a:r>
          </a:p>
          <a:p>
            <a:r>
              <a:t>- 📖 蝴蝶夫人（Madama Butterfly）：普契尼 1904 年的三幕（原為兩幕）歌劇，寫美國海軍軍官平克頓（B. F. Pinkerton）娶了長崎年輕藝伎又將她拋棄的悲劇；當時＝把「日本長崎」寫進全球歌劇院曲目、間接替長崎打了百年廣告的作品。</a:t>
            </a:r>
          </a:p>
          <a:p>
            <a:r>
              <a:t>- 📖 蝶蝶さん（Cio-Cio-san）：女主角的名字，日文「蝶」之意，故中譯「蝴蝶夫人」；身分是一位年輕藝伎（geisha，賣藝陪席的日本女子）。</a:t>
            </a:r>
          </a:p>
          <a:p>
            <a:r>
              <a:t>- 📖 哥拉巴園（Glover Garden，日文グラバー園）：位於長崎、依山面港的洋風庭園，因園內洋樓氛圍近似《蝴蝶夫人》劇景而別稱「蝴蝶夫人之家」；當時＝長崎頭號觀光景點，年吸引近 200 萬訪客。</a:t>
            </a:r>
          </a:p>
          <a:p>
            <a:r>
              <a:t>- 📖 湯瑪士·布雷克·哥拉巴（Thomas Blake Glover，1838～1911）：蘇格蘭商人，以造船、煤礦、軍火協助幕末日本近代化並支援明治維新志士，哥拉巴園即其宅邸；當時＝把西方技術引進日本的關鍵掮客，園子後來才被歌劇「借用」成觀光財。</a:t>
            </a:r>
          </a:p>
          <a:p>
            <a:r>
              <a:t>- 📖 三浦環（Tamaki Miura，1884～1946）：日本女高音，1915 年在倫敦歌劇院首度飾演蝴蝶夫人 Cio-Cio-san，據載普契尼稱她是他「理想的蝴蝶夫人」；哥拉巴園內立有她的雕像，是這齣戲替長崎加值的活見證。</a:t>
            </a:r>
          </a:p>
          <a:p>
            <a:r>
              <a:t>- 📖 托斯卡（Tosca）：普契尼 1900 年的三幕歌劇，改編自薩杜的同名舞台劇，寫歌者托斯卡、畫家卡瓦拉多西與惡警長史卡皮亞之間的政治愛情悲劇；當時＝把羅馬三大地標「寫」成劇景、進而變現為觀光路線的作品。</a:t>
            </a:r>
          </a:p>
          <a:p>
            <a:r>
              <a:t>- 📖 聖安德烈亞德拉瓦萊教堂（Sant'Andrea della Valle）：羅馬一座巴洛克大教堂，《托斯卡》第一幕場景，堂內圓頂與壁畫為巴洛克名作；今天＝觀光客往往多過信眾的售票級景點。</a:t>
            </a:r>
          </a:p>
          <a:p>
            <a:r>
              <a:t>- 📖 法爾內塞宮（Palazzo Farnese）：羅馬一座文藝復興名邸，十六世紀興建、米開朗基羅（Michelangelo）曾參與設計，《托斯卡》第二幕即以此為警長官邸；當時是貴族府邸，今為法國駐義大利大使館。</a:t>
            </a:r>
          </a:p>
          <a:p>
            <a:r>
              <a:t>- 📖 聖天使堡（Castel Sant'Angelo）：台伯河（Tiber）畔堡壘，約公元 123 年原為羅馬皇帝哈德良（Hadrian）的陵墓，歷經城堡、教皇避難所與監獄，《托斯卡》女主角在此跳城殉情作結；1925 年起改為國立博物館，是羅馬必看景點之一。</a:t>
            </a:r>
          </a:p>
          <a:p>
            <a:r>
              <a:t>- 📖 特奧斯坦齊劇院（Teatro Costanzi）：羅馬的歌劇院，1900 年《托斯卡》在此首演，即今日羅馬歌劇院（Teatro dell'Opera di Roma）的前身。</a:t>
            </a:r>
          </a:p>
          <a:p>
            <a:r>
              <a:t>【影片操作】 播普契尼詠嘆調約 3 分鐘（〈今夜無人入睡 Nessun dorma〉）。播前：「聽一位作曲家，怎麼替一個地方寫下讓人想去的氣質。」</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38｜德布西＋Chanel：法國浪漫，成了精品廣告的配方</a:t>
            </a:r>
          </a:p>
          <a:p/>
          <a:p>
            <a:r>
              <a:t>【講稿】（停留約 70 秒）再舉一個各位一定有感的例子。我們一想到法國，就想到「浪漫」——這股印象是怎麼來的？很大一部分，是作曲家德布西（Debussy）替它寫的。他的《月光》《海》《牧神的午後》，把「法式浪漫」變成了一種全世界都認得、都嚮往的氣質。各位注意：一個國家的形象，可以由作曲家一筆一筆寫出來；而「形象」，就是最值錢的觀光與品牌資產。而且這股形象，一百多年後被精品品牌直接借走——各位今天進場時聽到的德布西《月光》，正是香奈兒 Chanel No.5 那支「史上最貴香水廣告」用的配樂：2004 年由 Baz Luhrmann 執導、Nicole Kidman 主演，造價約 3,300 萬美元。香奈兒賣的不是香水的成分，是德布西替法國寫下的那種高雅。這，就是形象資產最值錢的地方。</a:t>
            </a:r>
          </a:p>
          <a:p>
            <a:r>
              <a:t>【講義補充】</a:t>
            </a:r>
          </a:p>
          <a:p>
            <a:r>
              <a:t>- 本張的商業命題不在德布西的音樂本身，而在他替「法國＝浪漫、優雅」這個國家形象，一筆一筆寫出了全世界都認得、都嚮往的聲音名片；德布西（Achille-Claude Debussy，1862–1918）正是法國音樂印象派的創立者與代表人物。</a:t>
            </a:r>
          </a:p>
          <a:p>
            <a:r>
              <a:t>- 「形象」是最值錢的無形資產：一個國家（或一個品牌）一旦被認定「＝浪漫、＝精緻」，觀光、時尚、精品、餐飲全都能坐享這股溢價，而且對手很難模仿、更奪不走——這是本張要企業家帶走的核心。</a:t>
            </a:r>
          </a:p>
          <a:p>
            <a:r>
              <a:t>- 法國自十九世紀末起被視為「文化超級強權」（cultural superpower）：巴黎是美術、哲學、時尚之都，法國葡萄酒與料理幾乎等於「精緻」的代名詞。這套形象不是天上掉下來的，是由畫家、詩人、作曲家長年接力「寫」出來的，德布西正是聲音這一路的主筆。</a:t>
            </a:r>
          </a:p>
          <a:p>
            <a:r>
              <a:t>- 呼應本講座的收放安排：各位今天入場、待會兒散場流動的《月光》，就是這張「法國名片」；它是鋼琴獨奏、不能帶動唱，只當暖場與散場的墊樂。</a:t>
            </a:r>
          </a:p>
          <a:p>
            <a:r>
              <a:t>- 📖 印象派（Impressionism，音樂）：十九世紀末由德布西在法國開創的風格，重「音色」（timbre，音的色澤與質感）與朦朧氛圍，而非德奧浪漫派那種厚重旋律與和聲推進；名稱借自莫內等畫家的印象派畫作。有趣的是德布西本人不喜歡這個標籤，自認更接近「象徵主義」。</a:t>
            </a:r>
          </a:p>
          <a:p>
            <a:r>
              <a:t>- 📖 《月光》（Clair de lune，法文「月光」）：德布西《貝加馬斯克組曲》（Suite bergamasque）的第三樂章，約1890年寫成、1905年才由巴黎杜宏出版社（Durand）正式出版，原題叫「感傷的散步」（Promenade sentimentale）。它幾乎成了「法式浪漫」的聽覺標誌，被電影、廣告、婚禮反覆借用，正是「形象資產」被無數品牌免費沾光的活例子。</a:t>
            </a:r>
          </a:p>
          <a:p>
            <a:r>
              <a:t>- 📖 貝加馬斯克組曲（Suite bergamasque）：《月光》所屬的四樂章鋼琴組曲；「bergamasque」意指義大利貝加莫（Bergamo）地方的舞曲風味，也帶有義大利即興喜劇（commedia dell'arte）的聯想，可見「法式浪漫」其實還借用了義大利與其他文化的原料。</a:t>
            </a:r>
          </a:p>
          <a:p>
            <a:r>
              <a:t>- 📖 魏爾崙（Paul Verlaine，1844–1896）：法國象徵主義詩人，1869年詩作〈月光〉正是德布西曲名與意境的來源。這首詩收在詩集《華宴》（Fêtes galantes，直譯「風雅的慶典」），詩集又受十八世紀畫家華鐸的畫啟發，說明「浪漫法國」的形象是詩、畫、樂彼此接力疊出來的。</a:t>
            </a:r>
          </a:p>
          <a:p>
            <a:r>
              <a:t>- 📖 華鐸（Jean-Antoine Watteau，1684–1721）：法國洛可可畫家，擅畫貴族在庭園中嬉遊的「雅宴」（fêtes galantes）場景。他筆下那種優雅、感傷、帶點面具與慾望的氛圍，隔了一百多年還在替法國供應「浪漫」的原料。</a:t>
            </a:r>
          </a:p>
          <a:p>
            <a:r>
              <a:t>- 📖 《海》（La Mer，法文「海」，全名「海，管弦樂三首交響素描」La mer, trois esquisses symphoniques pour orchestre）：1903至1905年作、1905年10月15日在巴黎首演（Camille Chevillard 指揮、拉穆勒管弦樂團 Orchestre Lamoureux），同年由杜宏（Durand）出版，是德布西把「法式管弦色彩」推向世界的招牌大作。</a:t>
            </a:r>
          </a:p>
          <a:p>
            <a:r>
              <a:t>- 📖 《神奈川沖浪裏》（The Great Wave off Kanagawa，北齋大浪）：日本浮世繪大師葛飾北齋（Katsushika Hokusai，約1760–1849）約1831年的木刻版畫。德布西親自選它做《海》首版樂譜封面（據 Wikipedia）——用一張「視覺封面」替作品定調、跨海借別國的招牌形象，這正是今天品牌做聯名（co-branding，共同掛名合作）的祖師爺級操作。</a:t>
            </a:r>
          </a:p>
          <a:p>
            <a:r>
              <a:t>- 📖 《牧神的午後》前奏曲（Prélude à l'après-midi d'un faune）：1894年12月22日在巴黎首演，靈感來自象徵主義詩人馬拉美（Stéphane Mallarmé，1842–1898）的同名長詩，描寫牧神在半夢半醒間對林中仙女的遐想。此曲常被視為印象派與現代音樂的開端，首演當場就被要求整曲再演一次（安可）。</a:t>
            </a:r>
          </a:p>
          <a:p>
            <a:r>
              <a:t>- 📖 象徵主義（Symbolism）：十九世紀末法國文學與藝術運動，主張「不把話說白」，用暗示、氛圍、象徵去傳遞情緒。德布西自認屬於這一派，這也是「法式含蓄浪漫」形象的思想底層。</a:t>
            </a:r>
          </a:p>
          <a:p>
            <a:r>
              <a:t>- 📖 軟實力（soft power）：指一個國家「靠吸引、而非強迫」去影響他人的能力，來源包括文化、藝術、價值觀；它看不見卻極值錢，是無形資產的一種。法國的浪漫形象就是教科書級的軟實力。</a:t>
            </a:r>
          </a:p>
          <a:p>
            <a:r>
              <a:t>- 📖 國家品牌（nation branding，國家形象經營）：國家刻意經營、對外投射某種正面形象（如法國＝浪漫精緻）以換取觀光、貿易、投資與話語權的策略。作曲家、詩人、畫家，等於是這個「國家品牌」不支薪卻最有效的形象代言人。</a:t>
            </a:r>
          </a:p>
          <a:p>
            <a:r>
              <a:t>- 給企業家的換算：形象不是一次燒完的「行銷費用」，而是會增值、會生息的「資產」。法國把「浪漫」這兩個字經營成品牌後，賣香水、賣時裝、賣觀光、賣紅酒都能多收一筆「法國溢價」，這筆錢正是形象資產的股息。</a:t>
            </a:r>
          </a:p>
          <a:p>
            <a:r>
              <a:t>- 精品直接借走這股形象：香奈兒 Chanel No.5《The Film》（2004，Baz Luhrmann 執導、Nicole Kidman 主演）用德布西《月光》當配樂，造價約 3,300 萬美元，是「史上最貴的香水廣告」。品牌花的錢不是買旋律，而是買德布西替法國累積一百多年的「高雅」聯想，一次搬到自家香水上——這正是下一張「企業借古典樂」的先聲（來源：en.wikipedia.org/wiki/No._5_the_Film）。</a:t>
            </a:r>
          </a:p>
          <a:p>
            <a:r>
              <a:t>- 一句話帶走：能被作曲家一筆一筆寫出來的「形象」，就能被企業一次一次投資出來——贊助藝術，本質上是在替自家品牌購置一張別人搶不走的無形資產。</a:t>
            </a:r>
          </a:p>
          <a:p>
            <a:r>
              <a:t>【影片操作】 播德布西《月光》約 2 分鐘。播前：「這首《月光》，就是 Chanel No.5 那支史上最貴香水廣告用的曲子——聽聽看，法式高雅是什麼聲音。」</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39｜英國航空借〈花之二重唱〉，把機位變成精品（音樂＝企業品牌）</a:t>
            </a:r>
          </a:p>
          <a:p/>
          <a:p>
            <a:r>
              <a:t>【講稿】（停留約 80 秒）從國家講回各位最關心的——企業品牌。頂級品牌很懂一件事：借一段古典音樂，就能替冷冰冰的產品鍍上一層「格調」，把「功能」變成「身分」。最經典的例子，是英國航空（British Airways）。他們 1989 年那支經典廣告《Face》，用的是法國作曲家德利伯（Léo Delibes）歌劇《拉克美》裡的〈花之二重唱〉。一段本來相當冷門的詠嘆調，被英航一用，就用了三十五年——2019 年百週年還特地重新編曲。各位想想：這等於把「選對一首曲子」變成一筆會增值的品牌資產，比很多硬體都耐用。而且這招到處都是：Stella Artois 用威爾第、De Beers 用 Jenkins、飛雅特用羅西尼——古典音樂，是最省力的「格調外掛」。我們就聽這段被英航用了三十五年的旋律。</a:t>
            </a:r>
          </a:p>
          <a:p>
            <a:r>
              <a:t>【講義補充】</a:t>
            </a:r>
          </a:p>
          <a:p>
            <a:r>
              <a:t>- 核心命題：頂級品牌借古典音樂替產品「鍍格調」，把功能訴求（性能、規格、價格）轉成身分認同——這是四百年前王公貴族「用藝術洗格調」的當代企業版。</a:t>
            </a:r>
          </a:p>
          <a:p>
            <a:r>
              <a:t>- 英國航空《Face》廣告（1989，Saatchi &amp; Saatchi 製作、Hugh Hudson 執導）採用〈Aria〉——雅尼（Yanni）與 Malcolm McLaren 改編自德利伯（Léo Delibes）歌劇《拉克美》(Lakmé, 1883) 第一幕的〈花之二重唱〉(Flower Duet)；此旋律自此成為英航長達三十五年的品牌主題，2019 年百週年還重新編曲演奏（來源：en.wikipedia.org/wiki/British_Airways_face_advertisement）。</a:t>
            </a:r>
          </a:p>
          <a:p>
            <a:r>
              <a:t>- 為什麼是「資產」不是「開銷」：一段冷門詠嘆調，被一家企業長期綁定、反覆使用，久了聽眾一聽到就想到這個品牌——等於免費、耐用、對手搶不走的聲音商標（sonic logo）。這正是「贊助／選曲」從一次性花費變成長期資產的關鍵。</a:t>
            </a:r>
          </a:p>
          <a:p>
            <a:r>
              <a:t>- 商業機制叫「借光」（光環效應，Halo effect）：聽眾對古典音樂既有的「高品味」印象，會轉嫁到廣告裡的商品身上，讓產品瞬間顯得有教養、有身分；品牌用相對低的成本，買到「高級感」。</a:t>
            </a:r>
          </a:p>
          <a:p>
            <a:r>
              <a:t>- 為什麼挑古典、挑歌劇詠嘆調？因為它安靜、優雅、留白多，自帶「上流、貴氣」的畫面感，最適合替高單價的商品（航空、豪車、精品、珠寶、金融）定調，又不會蓋過旁白。</a:t>
            </a:r>
          </a:p>
          <a:p>
            <a:r>
              <a:t>- 同一招的其他有據案例：Stella Artois 英國廣告用威爾第《命運之力》序曲的旋律，主打「Reassuringly Expensive（貴得有道理）」；De Beers 鑽石廣告用 Karl Jenkins 的〈Palladio〉（「A Diamond is Forever」）；飛雅特（Fiat）1979 年「Handbuilt by Robots」廣告用羅西尼《塞維亞理髮師》裡費加洛的詠嘆調——古典音樂，是廣告界最愛的「格調外掛」。</a:t>
            </a:r>
          </a:p>
          <a:p>
            <a:r>
              <a:t>- 業界提醒：這招用得太多、近年被批評「太老套」，於是有些頂級品牌轉向委託專屬配樂（例如奧迪自製、賓士打造 Sonic DNA），把「借來的高級感」升級成「買斷、獨家的高級感」——這正是贊助模式從「租用」走向「自有」的商業邏輯。</a:t>
            </a:r>
          </a:p>
          <a:p>
            <a:r>
              <a:t>- 📖 德利伯（Léo Delibes，1836–1891）：法國作曲家，以芭蕾《柯貝莉亞》《希爾薇亞》與歌劇《拉克美》聞名；〈花之二重唱〉即出自《拉克美》，是他最廣為人知的旋律。</a:t>
            </a:r>
          </a:p>
          <a:p>
            <a:r>
              <a:t>- 📖 《拉克美》(Lakmé, 1883)：德利伯的三幕歌劇，背景設在英屬印度；第一幕的〈花之二重唱〉(Duo des fleurs／Flower Duet) 由女高音與次女高音對唱，旋律優美，日後被大量用於廣告與影視。</a:t>
            </a:r>
          </a:p>
          <a:p>
            <a:r>
              <a:t>- 📖 〈花之二重唱〉(Flower Duet)：《拉克美》中拉克美與侍女摘花時對唱的二重唱（法文首句「Sous le dôme épais」）；英航〈Aria〉即改編自此。</a:t>
            </a:r>
          </a:p>
          <a:p>
            <a:r>
              <a:t>- 📖 英國航空（British Airways）：英國國家航空公司；1989 年起以〈花之二重唱〉為品牌主題音樂，是「用古典樂替品牌定調」最長壽的案例之一。</a:t>
            </a:r>
          </a:p>
          <a:p>
            <a:r>
              <a:t>- 📖 聲音品牌／聲音商標（Sonic branding／Sound logo）：用固定的音樂或幾秒短音建立品牌識別的行銷手法；英航的〈花之二重唱〉就是一個長壽的聲音商標。</a:t>
            </a:r>
          </a:p>
          <a:p>
            <a:r>
              <a:t>- 📖 光環效應（Halo effect）：心理學名詞，指對某事物的整體好印象會延伸到相關事物；用在廣告＝把古典樂的高品味印象轉嫁到商品，讓產品顯得更高級。</a:t>
            </a:r>
          </a:p>
          <a:p>
            <a:r>
              <a:t>- 📖 嚮往式行銷（Aspirational branding）：賣的不是產品功能，而是「用了它，我這個人就往上升一級」的嚮往感；音樂負責把這種身分想像瞬間營造出來。</a:t>
            </a:r>
          </a:p>
          <a:p>
            <a:r>
              <a:t>【影片操作】 播英國航空〈花之二重唱〉廣告（或德利伯〈花之二重唱〉名演）約 2–3 分鐘。播前：「注意這段旋律——英航用了整整三十五年。感受一下，古典音樂怎麼把一個機位，講成一種精品。」</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40｜奇美：許文龍，台灣的梅迪奇（音樂＝企業品牌）</a:t>
            </a:r>
          </a:p>
          <a:p/>
          <a:p>
            <a:r>
              <a:t>【講稿】（停留約 80 秒）看完國際品牌，我要給各位一個台灣自己的例子，而且是最漂亮的一個——奇美（Chimei）。奇美的創辦人許文龍先生，做的是石化、電子這些「硬邦邦、不起眼」的生意。如果他沒有做接下來這件事，大家對奇美的印象，可能就只是冷冰冰的塑膠和面板。但他做了什麼？他收藏了全世界數量最多的名琴，蓋了一座奇美博物館。結果現在你一想到奇美，畫面裡不再只有電視和塑膠，而是滿滿的藝術氣息。這，就是台灣自己的梅迪奇：用藝術，把整家企業的形象，整個往上升了一級。而且這個例子最貼近各位——你不必在歐洲、不必是貴族，一位台灣的企業家，就在台南，做到了。我們來看奇美的名琴。</a:t>
            </a:r>
          </a:p>
          <a:p>
            <a:r>
              <a:t>【講義補充】</a:t>
            </a:r>
          </a:p>
          <a:p>
            <a:r>
              <a:t>- 這是全片唯一的台灣本土贊助案例，也是最貼近在場企業家的「可複製範本」——把「你成就音樂，音樂也成就你」命題落回台南：一位做塑膠、面板的實業家，用藝術收藏替整家企業的品牌鍍金。</a:t>
            </a:r>
          </a:p>
          <a:p>
            <a:r>
              <a:t>- 許文龍（Hsu Wen-lung，另譯 Shi Wen-long；1928 年 2 月 25 日生於台南、2023 年 11 月 18 日逝世，享耆壽 95 歲）1960 年創辦奇美實業，把 ABS 塑膠做到世界第一，素有「台灣壓克力之父」與「北台塑、南奇美」之稱，晚年（約 1998 年）再跨足面板成立奇美電子；這些冷冰冰的本業，正是講稿要拿來對比的起點。</a:t>
            </a:r>
          </a:p>
          <a:p>
            <a:r>
              <a:t>- 奇美的贊助不是一次性捐款，而是一整套制度：1977 年設奇美文化基金會、1988 年起發獎助金給藝術家、1992 年創奇美博物館——先有基金會再有館舍，示範了企業如何把「贊助」長期化、組織化。</a:t>
            </a:r>
          </a:p>
          <a:p>
            <a:r>
              <a:t>- 奇美博物館現址位於台南市仁德區的台南都會公園，2014 年遷入新館、2015 年重新開館；據奇美官方與 Wikipedia，此館由許文龍興建後捐給台南市政府，體現「為大眾、尤其為沒機會出國看博物館的人而辦」的初衷，且常態免票或低價入場。</a:t>
            </a:r>
          </a:p>
          <a:p>
            <a:r>
              <a:t>- 建築刻意走歐洲古典宮殿路線（圓頂、古典柱式），園區更 1:1 複製凡爾賽宮的「阿波羅噴泉」——企業直接用建築語彙，把一種「文化貴族感」蓋出來、免費開放給市民逛。</a:t>
            </a:r>
          </a:p>
          <a:p>
            <a:r>
              <a:t>- 收藏核心是提琴：據英文維基百科逾 1,370 把（一說 1,376 把、出自 1,122 位製琴師之手），為世界最大規模的私人提琴收藏，網羅史特拉底瓦里、瓜奈里、阿瑪蒂、史坦納等名家之作。</a:t>
            </a:r>
          </a:p>
          <a:p>
            <a:r>
              <a:t>- 起家軼事：據奇美官方沿革，1990 年許文龍向小提琴家林昭亮購入第一把史特拉底瓦里名琴（據 Wikipedia 為 1707 年製、約 100 萬美元），漫漫「建國大業」自此展開。</a:t>
            </a:r>
          </a:p>
          <a:p>
            <a:r>
              <a:t>- 最關鍵、也最像「現代梅迪奇」的一步：這些動輒上億的名琴不鎖在保險箱，而是免費出借給演奏家使用——據奇美與 Wikipedia，多年來借還逾 3,000 人次、同時在外借出逾 220 把，企業把靜態資產變成扶植人才的工具。</a:t>
            </a:r>
          </a:p>
          <a:p>
            <a:r>
              <a:t>- 借琴名單星光熠熠：大提琴家馬友友（Yo-Yo Ma，1999 年借用 Pawle 史特拉底瓦里大提琴）、小提琴家林昭亮、呂思清（Lü Siqing）等名家都借過奇美的琴。</a:t>
            </a:r>
          </a:p>
          <a:p>
            <a:r>
              <a:t>- 最能打動企業主的「投資回收」案例是曾宇謙：他 11 歲起向奇美借琴、9 年間換借 14 把，2015 年以奇美所藏 1732 年瓜奈里名琴「塔里希奧」（Tarisio）在第 15 屆柴可夫斯基國際音樂比賽奪下小提琴銀牌（首獎從缺），是台灣第一人；贊助者的名字，就這樣隨世界舞台一起被念出來。</a:t>
            </a:r>
          </a:p>
          <a:p>
            <a:r>
              <a:t>- 對企業的啟示（扣講稿「往上升一級」）：奇美付出的是收藏與維護成本，換回的是本業形象從「冷冰冰的塑膠與面板」翻轉成「滿滿藝術氣息」，等於用文化資產替品牌做了最高規格、最長效的公關。</a:t>
            </a:r>
          </a:p>
          <a:p>
            <a:r>
              <a:t>- 本張搭配的影片來自奇美博物館官方頻道（已驗證）——由奇美自製、自播，影片本身就是企業以內容行銷延續品牌形象的一環。</a:t>
            </a:r>
          </a:p>
          <a:p>
            <a:r>
              <a:t>- 📖 奇美（Chimei）：品牌名取「真、善、美」之美意，許文龍 1960 年創立奇美實業所用；今泛指奇美實業、奇美電子（面板）、奇美博物館等關係企業與其贊助體系。</a:t>
            </a:r>
          </a:p>
          <a:p>
            <a:r>
              <a:t>- 📖 許文龍（Hsu Wen-lung，另譯 Shi Wen-long）：奇美集團創辦人、藝術贊助人，台南農工化工科出身，自學拉小提琴，主張「賺錢是追求幸福的手段」、「有錢沒文化叫土」，是本張所謂「台灣的梅迪奇」本尊。</a:t>
            </a:r>
          </a:p>
          <a:p>
            <a:r>
              <a:t>- 📖 ABS 樹脂與壓克力（ABS＝Acrylonitrile Butadiene Styrene，丙烯腈-丁二烯-苯乙烯共聚物；壓克力＝PMMA，聚甲基丙烯酸甲酯）：兩種塑膠原料，前者是家電、玩具外殼常用的工程塑膠、奇美一度為全球最大 ABS 廠，後者透明如玻璃、許文龍因此得「台灣壓克力之父」之名。</a:t>
            </a:r>
          </a:p>
          <a:p>
            <a:r>
              <a:t>- 📖 北台塑、南奇美：形容台灣石化業兩強分庭抗禮的說法——北部王永慶的台塑集團、南部許文龍的奇美。</a:t>
            </a:r>
          </a:p>
          <a:p>
            <a:r>
              <a:t>- 📖 梅迪奇（Medici）：15 至 16 世紀統治佛羅倫斯的銀行家族、文藝復興最大的藝術贊助者（呼應前段站頭）；講稿以之比喻許文龍「用藝術替企業升等」的手法。</a:t>
            </a:r>
          </a:p>
          <a:p>
            <a:r>
              <a:t>- 📖 史特拉底瓦里（Antonio Stradivari，約 1644 至 1737 年）：義大利克雷莫納製琴大師，其提琴（Stradivarius）被視為史上最高標竿、市價動輒上億，是奇美收藏與出借的核心資產。</a:t>
            </a:r>
          </a:p>
          <a:p>
            <a:r>
              <a:t>- 📖 瓜奈里（Guarneri del Gesù，本名 Bartolomeo Giuseppe Guarneri，1698 至 1744 年）：克雷莫納製琴家族代表，「耶穌·瓜奈里」名琴與史特拉底瓦里齊名；曾宇謙奪銀所用的「塔里希奧」即其 1732 年作品。</a:t>
            </a:r>
          </a:p>
          <a:p>
            <a:r>
              <a:t>- 📖 阿瑪蒂與史坦納（Amati／Jacob Stainer）：阿瑪蒂是克雷莫納製琴始祖家族、史特拉底瓦里的師承源頭，史坦納為 17 世紀奧地利名匠；都是奇美「有系統、有派別」蒐藏所網羅的名家。</a:t>
            </a:r>
          </a:p>
          <a:p>
            <a:r>
              <a:t>- 📖 林昭亮（Cho-Liang Lin，1960 年生）：台裔國際小提琴家；1990 年賣給奇美第一把史特拉底瓦里，等於替奇美的收藏按下啟動鍵。</a:t>
            </a:r>
          </a:p>
          <a:p>
            <a:r>
              <a:t>- 📖 曾宇謙（Tseng Yu-chien，1994 年生）：台灣小提琴家，2015 年第 15 屆柴可夫斯基大賽小提琴銀牌（首獎從缺），自幼長年使用奇美免費出借的名琴，是奇美贊助結出的代表性果實。</a:t>
            </a:r>
          </a:p>
          <a:p>
            <a:r>
              <a:t>- 📖 柴可夫斯基國際音樂比賽（International Tchaikovsky Competition）：1958 年創辦、每四年於莫斯科舉行的頂級古典樂賽事，與蕭邦鋼琴大賽、比利時伊莉莎白女王大賽齊名。</a:t>
            </a:r>
          </a:p>
          <a:p>
            <a:r>
              <a:t>- 📖 奇美文化基金會（Chi Mei Culture Foundation）：1977 年成立、1988 年起頒獎助金給藝術家的奇美贊助機構，是奇美博物館與名琴免費出借制度的母體。</a:t>
            </a:r>
          </a:p>
          <a:p>
            <a:r>
              <a:t>【影片操作】 播奇美博物館名琴音樂饗宴影片約 2–3 分鐘。播前：「看一家台灣企業，怎麼用名琴替自己換一張臉。」</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41｜奇美的高招：把價值連城的名琴，免費借出去</a:t>
            </a:r>
          </a:p>
          <a:p/>
          <a:p>
            <a:r>
              <a:t>【講稿】（停留約 70 秒）奇美還有一步棋，特別高明，值得各位學起來。他不只是把名琴收藏起來擺著看——他把價值連城的史特拉底瓦里（Stradivari，史上最頂級的小提琴品牌）名琴，免費借給頂尖的音樂家使用。從台灣之光曾宇謙，到國際大師馬友友（Yo-Yo Ma），這些名家在世界各大舞台上拉的那把琴，掛著的是「奇美」的名字。各位算算這筆帳：一把琴借出去，換來的是全球最高規格的舞台上、源源不絕的品牌曝光與好感。這就是「以藝術養品牌」最聰明的槓桿——你不必自己上台，讓世界級的大師，替你發光。</a:t>
            </a:r>
          </a:p>
          <a:p>
            <a:r>
              <a:t>【講義補充】</a:t>
            </a:r>
          </a:p>
          <a:p>
            <a:r>
              <a:t>- 奇美免費出借名琴給頂尖音樂家（曾宇謙、馬友友等）——但真正的高招不在「買」而在「借」：不把琴鎖進恆溫櫃，而是送到年輕演奏家手上，讓琴替奇美上台。</a:t>
            </a:r>
          </a:p>
          <a:p>
            <a:r>
              <a:t>- 幕後金主是奇美集團創辦人許文龍（Hsu Wen-lung）：1960 年創立奇美實業，把它做成全球最大的 ABS 樹脂廠、有「台灣壓克力之父」之稱，再把石化生意賺來的錢，砸進全世界規模最大的私人提琴收藏——這是一個「先有企業、才有收藏」的贊助故事。</a:t>
            </a:r>
          </a:p>
          <a:p>
            <a:r>
              <a:t>- 收藏規模傲視全球：逾 1,300 把（部分報導稱 1,376 把、出自逾 1,100 位製琴師之手）小提琴族樂器，在私人提琴機構中名列世界第一；其中不乏鎮館級名件，如阿瑪蒂 1566 年製、現存全球最古老的大提琴。</a:t>
            </a:r>
          </a:p>
          <a:p>
            <a:r>
              <a:t>- 起點在 1990 年：許文龍向旅外小提琴家林昭亮（Cho-Liang Lin）買下一把 1707 年的史特拉底瓦里（別名「杜希金／Dushkin」），從此一頭栽進名琴收藏與出借。</a:t>
            </a:r>
          </a:p>
          <a:p>
            <a:r>
              <a:t>- 基金會的信念一句話講完——好琴是要「拉」的，不是關在玻璃櫃裡展示的；據載許文龍不喜歡頂級名琴被鎖在博物館玻璃後或恆溫庫房裡，這正是「出借」策略的思想根源。</a:t>
            </a:r>
          </a:p>
          <a:p>
            <a:r>
              <a:t>- 規模化的慷慨：據 CNN／台北時報報導，自 2004 年起（舊館時期更早即開始）累計出借給逾 4,000 位（一說 3,000 餘位）音樂家；目前約 270 把琴（近全館兩成）長期借在演奏家手上，每年約收 400 件申請，約七成給旅外台灣學子、三成給島內學生與職業演奏家。</a:t>
            </a:r>
          </a:p>
          <a:p>
            <a:r>
              <a:t>- 借給誰有審查：由專門委員會依年齡、成熟度、比賽成績與用途（錄音、演出或參賽）評選，用「通過奇美審查」把慷慨變成一套可控、可長可久的制度，而非隨興施捨。</a:t>
            </a:r>
          </a:p>
          <a:p>
            <a:r>
              <a:t>- 招牌戰績——曾宇謙：自 11 歲起向奇美借琴，9 年間換借過 14 把；2015 年拿下柴可夫斯基國際音樂比賽小提琴銀牌（當屆金牌從缺、等於實質第一），是台灣第一人，他手上那把是 1732 年的瓜奈里名琴，也用過維奧第與瑪麗．霍爾都持有過的史特拉底瓦里「瑪麗．霍爾—維奧第」。</a:t>
            </a:r>
          </a:p>
          <a:p>
            <a:r>
              <a:t>- 名家背書不只一人：據報導，林昭亮、呂思清、馬友友都曾以奇美典藏演奏；新生代如林品任（Richard Lin，2018 年印第安納波利斯國際小提琴大賽金牌）也是借琴受惠者——每一位在國際舞台發光，都替「奇美」這塊招牌背書一次。</a:t>
            </a:r>
          </a:p>
          <a:p>
            <a:r>
              <a:t>- 關於馬友友：他是大提琴家（與曾宇謙的小提琴分屬不同樂器）；據 CNN 報導，他曾在來台演出前大提琴出狀況、臨時向奇美借琴救場——奇美藏品正好也涵蓋頂級大提琴，這種「關鍵時刻救援」本身就是最好的品牌故事。</a:t>
            </a:r>
          </a:p>
          <a:p>
            <a:r>
              <a:t>- 對出錢的一方，這是「以藝術養品牌」最省力的槓桿：一把不必自己上台的琴，換來世界級舞台上、由頂尖大師之手源源不絕的品牌曝光與好感度——企業不必親自演出，讓大師替你發光。</a:t>
            </a:r>
          </a:p>
          <a:p>
            <a:r>
              <a:t>- 呼應全片「你成就音樂，音樂也成就你」命題：奇美（企業）扶植提琴人才，人才替奇美揚名國際，正是「對等、可持續、共融」的當代範本，也和後面「給企業五點提案」互相呼應。</a:t>
            </a:r>
          </a:p>
          <a:p>
            <a:r>
              <a:t>- 📖 許文龍（Hsu Wen-lung）：奇美集團創辦人，1928 年生於台南、2023 年 11 月 18 日辭世、享耆壽 95 歲；白手起家的實業家兼提琴收藏家與業餘小提琴愛好者，英文文獻亦作 Shi Wen-long。</a:t>
            </a:r>
          </a:p>
          <a:p>
            <a:r>
              <a:t>- 📖 奇美實業（Chi Mei Corporation）：許文龍 1960 年創立的石化集團，台灣第一家壓克力（PMMA）生產商，後成為全球最大的 ABS 樹脂製造商；提琴收藏的財源即來自這門化工生意。</a:t>
            </a:r>
          </a:p>
          <a:p>
            <a:r>
              <a:t>- 📖 ABS 樹脂（ABS resin）：一種泛用工程塑膠，由丙烯腈、丁二烯、苯乙烯三種單體共聚而成，當時＝家電、汽車、電腦外殼最常用的塑料之一，奇美是這項產品的世界龍頭。</a:t>
            </a:r>
          </a:p>
          <a:p>
            <a:r>
              <a:t>- 📖 史特拉底瓦里（Stradivari）：義大利製琴大師安東尼奧．史特拉底瓦里（Antonio Stradivari，約 1644–1737）在克雷莫納手工製作的名琴，並非現代量產「廠牌」、而是一位巨匠畢生手作；其一生約製千餘件、存世約六百餘把，音色傳奇、極為稀少，單把在國際拍場常喊到數千萬美元，是頂級名琴的代名詞。</a:t>
            </a:r>
          </a:p>
          <a:p>
            <a:r>
              <a:t>- 📖 克雷莫納（Cremona）：義大利北部小城，16 至 18 世紀的製琴聖地，當時＝全歐洲最好的提琴產地，阿瑪蒂、史特拉底瓦里、瓜奈里三大製琴家族都在此開業。</a:t>
            </a:r>
          </a:p>
          <a:p>
            <a:r>
              <a:t>- 📖 阿瑪蒂（Amati）：克雷莫納最早的製琴世家，被視為現代小提琴形制的奠基者；奇美藏有安德烈亞．阿瑪蒂（Andrea Amati）1566 年製、現存全球最古老的大提琴。</a:t>
            </a:r>
          </a:p>
          <a:p>
            <a:r>
              <a:t>- 📖 瓜奈里（Guarneri del Gesù）：18 世紀克雷莫納製琴大師朱塞佩．瓜奈里（Giuseppe Guarneri），與史特拉底瓦里齊名的兩大頂級小提琴血統之一；曾宇謙的 1732 年名琴即出自瓜奈里之手。</a:t>
            </a:r>
          </a:p>
          <a:p>
            <a:r>
              <a:t>- 📖 名琴「別名」（instrument nickname／provenance）：頂級古琴慣以歷代著名持有者命名，如「瑪麗．霍爾—維奧第」即因名家維奧第（Viotti）與瑪麗．霍爾（Marie Hall）先後擁有而得名；別名等於一把琴的身世履歷，也是它的價值與話題來源。</a:t>
            </a:r>
          </a:p>
          <a:p>
            <a:r>
              <a:t>- 📖 曾宇謙（Tseng Yu-chien）：台灣旅外小提琴家、德意志留聲機（Deutsche Grammophon，DG）簽約藝人；自幼靠奇美借琴成長，2015 年柴可夫斯基大賽小提琴銀牌是其代表戰績。</a:t>
            </a:r>
          </a:p>
          <a:p>
            <a:r>
              <a:t>- 📖 馬友友（Yo-Yo Ma）：華裔美籍大提琴巨星，1955 年生於巴黎，當代最著名的古典音樂家之一、多次葛萊美獎得主；此處＝奇美出借對象中知名度最高的國際大師。</a:t>
            </a:r>
          </a:p>
          <a:p>
            <a:r>
              <a:t>- 📖 柴可夫斯基國際音樂比賽（International Tchaikovsky Competition）：1958 年創辦、每四年於莫斯科舉行的世界頂級古典音樂賽事，與蕭邦、伊莉莎白女王大賽齊名，分小提琴、鋼琴、大提琴、聲樂等組，得獎＝一步登上國際舞台。</a:t>
            </a:r>
          </a:p>
          <a:p>
            <a:r>
              <a:t>- 📖 林昭亮（Cho-Liang Lin）：國際知名台裔小提琴家，許文龍 1990 年買下的第一把史特拉底瓦里即向他購入，可謂奇美提琴收藏的引路人。</a:t>
            </a:r>
          </a:p>
          <a:p>
            <a:r>
              <a:t>- 槓桿效應：一把琴外借＝全球舞台的持續品牌曝光；奇美用「一次採購、長期出借」把靜態藏品變成會替品牌工作的活資產。</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42｜台灣的贊助廠商：不只奇美</a:t>
            </a:r>
          </a:p>
          <a:p/>
          <a:p>
            <a:r>
              <a:t>【講稿】（停留約 65 秒）我特別要跟在座各位台灣的企業家說：這不是遙遠的歐洲故事，台灣早就有一批企業，在當「現代的梅迪奇」，奇美只是最亮眼的那一個。台積電的文教基金會，長年支持藝文和音樂教育；富邦藝術基金會深耕藝術推廣。給各位一個最有感的數字：光是國泰金控贊助雲門舞集的免費戶外公演，就辦了近三十年、累積超過兩百六十五萬人次進場——這就是企業把品牌，和「全民藝術」牢牢綁在一起。我講這些，是想告訴各位：贊助藝術，不是有錢有閒才能做的事，而是台灣很多聰明的企業，正在做、而且各位也做得到的事。今天散場之後，這件事就可以放進你的口袋名單。</a:t>
            </a:r>
          </a:p>
          <a:p>
            <a:r>
              <a:t>【講義補充】</a:t>
            </a:r>
          </a:p>
          <a:p>
            <a:r>
              <a:t>- 核心視角：這一張把四百年前佛羅倫斯梅迪奇家族的角色，直接對照到今天的台灣——梅迪奇當年出錢養藝術家、把家族名字刻進文藝復興；台灣今天也有一批企業在做一樣的事，用贊助把品牌名字綁上藝術與全民記憶，奇美只是最亮的一顆，不是唯一一顆。</a:t>
            </a:r>
          </a:p>
          <a:p>
            <a:r>
              <a:t>- 奇美的模式，是「企業家個人收藏＋無償出借」這條路：奇美集團創辦人許文龍（1928—2023）1990 年從旅美小提琴家林昭亮手中買下第一把史特拉底瓦里名琴，之後系統性蒐藏，奇美博物館（Chimei Museum，1992 年創設於奇美實業廠內、2014 年遷入台南都會公園）成為全球數量與完整度居冠的提琴典藏機構（據奇美博物館，館藏逾一千三百件弦樂器）。</a:t>
            </a:r>
          </a:p>
          <a:p>
            <a:r>
              <a:t>- 奇美贊助換到什麼：不是把琴鎖進保險庫，而是「免費借給有才華、買不起的音樂家」——據報導奇美出借逾兩百二十把名琴、十餘年借還逾三千人次；2004 年前後成立出借審查委員會，音樂系學生到職業演奏家經審核都可免費借用（據自由時報、中央社）。這讓「奇美」兩個字跟每一位得獎者的舞台一起出現，是最划算的品牌投資。</a:t>
            </a:r>
          </a:p>
          <a:p>
            <a:r>
              <a:t>- 最有感的案例：小提琴家曾宇謙 11 歲起與奇美結緣、9 年間借過 14 把名琴，2015 年參加莫斯科柴可夫斯基國際音樂大賽時，用的正是奇美出借的 1732 年瓜奈里名琴，奪下銀牌（該屆首獎從缺），成為台灣第一人（據自由時報、信傳媒）；大提琴家馬友友也曾受奇美之助（據中央社）。</a:t>
            </a:r>
          </a:p>
          <a:p>
            <a:r>
              <a:t>- 許文龍的贊助哲學可當企業家座右銘：他生前說「不要為我造墓，辦一場音樂會就夠了」，2023 年 11 月 18 日辭世、享耆壽 95 歲，家屬遵遺願不發訃聞、不辦公祭（據中央社、商周）——把「文化」當成企業家最後的名片，正是這一站要傳達的訊息。</a:t>
            </a:r>
          </a:p>
          <a:p>
            <a:r>
              <a:t>- 台積電走的是「基金會＋長期育才」路線：台積電文教基金會（TSMC Education and Culture Foundation）1998 年（民國 87 年初）成立，以「培育青年人才、推廣藝術文化、推動教育合作」三大主軸為基石；音樂面與 NSO 國家交響樂團合作「指揮大師班」「一分鐘作曲計畫」，另有京劇傳承計畫、樂無界教育計畫（據台積電文教基金會官網）。對企業而言，這是把品牌形象與「人才培育」長期綁定的做法。</a:t>
            </a:r>
          </a:p>
          <a:p>
            <a:r>
              <a:t>- 富邦走的是「當代藝術＋城市體驗」路線：富邦藝術基金會（Fubon Art Foundation）1997 年由蔡楊湘薰創辦、翁美慧任執行長，信念「一切從分享開始」、宗旨「藝術生活化，生活藝術化」；招牌展覽「粉樂町」2001—2019 年共辦 12 檔，累計進駐 500 個場域、邀約 550 位國內外藝術家、展出 983 件作品、逾 400 萬觀展人次（據富邦藝術基金會官網），並於 2024 年再設富邦美術館，把贊助升級為自有品牌館舍。</a:t>
            </a:r>
          </a:p>
          <a:p>
            <a:r>
              <a:t>- 國泰的模式是「冠名贊助＋全民戶外公演」，也是最好複製的一種：國泰金控自 1996 年起連續贊助雲門舞集戶外公演（今名「國泰雲門隨行吧」），把品牌名字直接放進活動名稱。數字驗證品牌效益：據雲門官網早年公告已辦 62 場、走遍 17 縣市、近 200 萬人次；2024 年報導累積逾 265 萬人次（雲門官網）；2025 年報導邁入第 30 年、走遍 22 縣市、演出逾 300 場、累積逾 270 萬人次（據聯合新聞網）。</a:t>
            </a:r>
          </a:p>
          <a:p>
            <a:r>
              <a:t>- 為什麼戶外公演對贊助商特別值：它是免費、開放、全民都進得來的活動，等於把「國泰」和「全民藝術」「回饋社會」的形象牢牢綁在一起，近三十年不斷累積的品牌好感，遠比一次廣告買到的更深、更持久。</a:t>
            </a:r>
          </a:p>
          <a:p>
            <a:r>
              <a:t>- 給企業家的收攏：贊助藝術不是「有錢有閒才能做」，而是可大可小、路數多元——個人收藏無償出借（奇美）、基金會長期育才（台積電）、當代藝術策展（富邦）、冠名全民公演（國泰）四條路，各家挑最合自己的一條走，這正是散場後可以放進口袋名單的事。</a:t>
            </a:r>
          </a:p>
          <a:p>
            <a:r>
              <a:t>- 📖 梅迪奇（Medici）：15—17 世紀統治佛羅倫斯的銀行與政治家族，是文藝復興最著名的藝術贊助者，出資扶植達文西、米開朗基羅等人；「現代的梅迪奇」即用來比喻今天出錢養藝術、藉此留名的企業或富商。</a:t>
            </a:r>
          </a:p>
          <a:p>
            <a:r>
              <a:t>- 📖 許文龍：奇美集團（生產壓克力、ABS 塑膠與奇美電子等）創辦人，被稱「台灣壓克力之父」，白手起家後把大量財富投入醫療（奇美醫院）與藝術（奇美博物館），主張「有錢沒文化叫土」。</a:t>
            </a:r>
          </a:p>
          <a:p>
            <a:r>
              <a:t>- 📖 奇美博物館（Chimei Museum）：許文龍創辦、位於台南的私人捐建博物館，以西洋藝術、樂器、兵器、自然史為主，其中提琴收藏為全球規模最大之一；營運宗旨是「為大眾而設」，免費或低價開放。</a:t>
            </a:r>
          </a:p>
          <a:p>
            <a:r>
              <a:t>- 📖 史特拉底瓦里（Stradivari）：17—18 世紀義大利克雷莫納（Cremona）的傳奇製琴家族，安東尼奧·史特拉底瓦里所製小提琴音色與工藝被奉為極品，今日拍賣動輒上億元台幣，是頂級名琴的代名詞。</a:t>
            </a:r>
          </a:p>
          <a:p>
            <a:r>
              <a:t>- 📖 瓜奈里（Guarneri）：與史特拉底瓦里齊名的克雷莫納製琴世家，其中「耶穌·瓜奈里」（Guarneri del Gesù）所製小提琴音色宏亮、深受帕格尼尼等大師鍾愛；曾宇謙比賽用的即這一系名琴。</a:t>
            </a:r>
          </a:p>
          <a:p>
            <a:r>
              <a:t>- 📖 林昭亮（Cho-Liang Lin）：台灣出身、活躍國際的小提琴演奏家與教育家；奇美的第一把史特拉底瓦里名琴即 1990 年向他購入。</a:t>
            </a:r>
          </a:p>
          <a:p>
            <a:r>
              <a:t>- 📖 曾宇謙：台灣小提琴家，2015 年柴可夫斯基國際音樂大賽（Tchaikovsky Competition，四年一屆、全球最具份量的古典音樂賽事之一）小提琴組銀牌（首獎從缺）得主，長年借用奇美名琴。</a:t>
            </a:r>
          </a:p>
          <a:p>
            <a:r>
              <a:t>- 📖 文教／藝術基金會：企業依法捐資成立的財團法人，把公益與藝術贊助制度化、長期化；相較一次性捐款，基金會能持續運作專案、也把企業品牌與「回饋社會」的形象長期綁定，台積電文教基金會、富邦藝術基金會皆屬此類。</a:t>
            </a:r>
          </a:p>
          <a:p>
            <a:r>
              <a:t>- 📖 NSO 國家交響樂團（National Symphony Orchestra）：台灣代表性的職業交響樂團，隸屬國家表演藝術中心；台積電文教基金會與其合作辦「指揮大師班」等育才計畫。</a:t>
            </a:r>
          </a:p>
          <a:p>
            <a:r>
              <a:t>- 📖 粉樂町（Very Fun Park）：富邦藝術基金會的招牌「無牆美術館」當代藝術展，讓藝術作品進駐台北東區店家、街角等非典型空間，把逛街人潮變成看展人潮。</a:t>
            </a:r>
          </a:p>
          <a:p>
            <a:r>
              <a:t>- 📖 雲門舞集（Cloud Gate Dance Theatre）：林懷民 1973 年創立的台灣第一個職業現代舞團，名字取自中國最古老的舞蹈名「雲門」，是台灣最具國際知名度的表演團體之一；國泰長年贊助的戶外公演即由其演出。</a:t>
            </a:r>
          </a:p>
          <a:p>
            <a:r>
              <a:t>- 📖 冠名贊助：贊助商把自己的名字放進活動或場館名稱（如「國泰雲門隨行吧」）以換取最大品牌曝光的贊助方式，是企業把「出錢」直接轉成「留名」最直接的一招。</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43｜第七樣，最硬的回報：實實在在的錢</a:t>
            </a:r>
          </a:p>
          <a:p/>
          <a:p>
            <a:r>
              <a:t>【講稿】（停留約 30 秒）前面講的六樣——地位、曝光、不朽、聖地、人才、形象——你可能會說，這些都有點「虛」。那好，最後這第七樣，是最硬的一樣，白花花的鈔票。我要用一個故事證明：出錢贊助一段音樂，可以直接、實實在在地，撐起一家公司一百年的生意。</a:t>
            </a:r>
          </a:p>
          <a:p>
            <a:r>
              <a:t>【講義補充】</a:t>
            </a:r>
          </a:p>
          <a:p>
            <a:r>
              <a:t>- 全片壓軸的第七樣回報是「實利」——最硬、最能量化的一項：贊助方掏一筆錢促成一段音樂，換回可直接計進帳本的營收與跨世代的品牌效益，收束前六樣（地位、曝光、不朽、聖地、人才、形象）由虛到實的整條回報清單。</a:t>
            </a:r>
          </a:p>
          <a:p>
            <a:r>
              <a:t>- 招牌案例＝維蘇威纜車公司與《Funiculì, Funiculà》：1880 年義大利那不勒斯（Naples）近郊的維蘇威火山（Mount Vesuvius）啟用第一條登山纜索鐵路，但據載通車初期乘客稀少——民眾與遊客怕危險，寧可沿用騎驢、騎馬上山（據義大利語資料 tizianasavarese.it），營運方於是想到用一首歌替這項新交通工具打廣告。</a:t>
            </a:r>
          </a:p>
          <a:p>
            <a:r>
              <a:t>- 這首「廣告歌」由那不勒斯記者佩皮諾·圖爾科（Peppino Turco，本名 Giuseppe Turco）填詞、作曲家路易吉·丹薩（Luigi Denza，1846–1922）譜曲，1880 年為紀念纜車通車而作；同年在那不勒斯的皮耶迪格羅塔歌謠節（Piedigrotta）首度公開推廣，等於把一項交通建設包裝成一支「音樂廣告」，因此常被視為史上最早的商業廣告歌（jingle）之一（據義大利語資料）。</a:t>
            </a:r>
          </a:p>
          <a:p>
            <a:r>
              <a:t>- 回報有多硬：樂譜由米蘭里柯第（Casa Ricordi）出版社印行，一年內售出逾百萬份（據 Wikipedia），迅速紅遍義大利與海外——營運方以一首歌的小成本，換回一支跨國、跨世代、日後不必再付費的長效廣告。</a:t>
            </a:r>
          </a:p>
          <a:p>
            <a:r>
              <a:t>- 更關鍵的對比（呼應本站纜車公司的故事）：纜車本體命運多舛，數度毀於火山噴發（1906、1944 年）、幾度易主（原始開發者奧布利希特（Ernesto Emanuele Oblieght）財務吃緊，1886 年轉予法國公司，1887 年由英國旅行社湯瑪斯·庫克父子（Thomas Cook &amp;amp; Son）的約翰·梅森·庫克（John Mason Cook）買下整修，1889 年重新開張），最終於 1945 年低價出售；纜車設施早已不在，那首歌卻至今仍被傳唱——這正是本張要證明的：一段音樂帶來的回報，可以活得比公司本身還久。</a:t>
            </a:r>
          </a:p>
          <a:p>
            <a:r>
              <a:t>- 📖 實利（可量化的營收與回報）：本片開給企業家的第七樣、也是最後一樣贊助回報，指能直接反映在營收與品牌資產、可用金額衡量的「硬」報酬，相對於前六樣較「虛」的名聲類回報。</a:t>
            </a:r>
          </a:p>
          <a:p>
            <a:r>
              <a:t>- 📖 《Funiculì, Funiculà》（拿波里語，字面意為「纜車上、纜車下」，可譯〈登山纜車之歌〉）：1880 年為維蘇威纜車通車而作的拿波里歌曲，也是本場講座定案的全場「帶動唱」曲目。</a:t>
            </a:r>
          </a:p>
          <a:p>
            <a:r>
              <a:t>- 📖 纜索鐵路／登山纜車（funicular）：以纜繩牽引、兩節車廂一上一下互為配重、專走陡坡的軌道交通；維蘇威這條 1880 年 6 月通車，長約 800 公尺、爬升約 390 公尺（據湯瑪斯·庫克 Thomas Cook 相關史料）。</a:t>
            </a:r>
          </a:p>
          <a:p>
            <a:r>
              <a:t>- 📖 皮耶迪格羅塔歌謠節（Festa di Piedigrotta）：那不勒斯每年 9 月在皮耶迪格羅塔聖母教堂一帶舉辦的宗教慶典兼新歌發表競賽，19 世紀起成為拿波里歌曲（canzone napoletana）最重要的發表舞台，《Funiculì, Funiculà》即在此一炮而紅。</a:t>
            </a:r>
          </a:p>
          <a:p>
            <a:r>
              <a:t>- 📖 里柯第（Casa Ricordi）：1808 年創立於米蘭的義大利大型樂譜出版社，握有威爾第等作曲家的歌劇版權（呼應浪漫站「里柯第×威爾第」一張），把《Funiculì, Funiculà》的樂譜行銷全球。</a:t>
            </a:r>
          </a:p>
          <a:p>
            <a:r>
              <a:t>- 📖 廣告歌（jingle）：專為推銷產品或服務、用好記旋律與重複短句「洗腦」聽眾的商業歌曲；《Funiculì, Funiculà》以反覆的擬聲短句「Funiculì…Funiculà…」製造記憶點，被視為這類手法的早期範例。</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44｜Funiculì：纜車公司花錢委創，一首宣傳歌</a:t>
            </a:r>
          </a:p>
          <a:p/>
          <a:p>
            <a:r>
              <a:t>【講稿】（停留約 70 秒）1880 年，義大利拿坡里的維蘇威火山，蓋了一條登山纜車，開通了。但纜車公司碰到一個每個做新產品的人都懂的難題：東西是好的，客人不敢用——大家怕火山、不敢坐。他們的解方，各位猜到了嗎？花錢，委託作曲家丹薩（Denza）寫了一首宣傳歌，就叫《Funiculì, Funiculà》，歌名的意思就是「纜車上山、纜車下山」。這首歌，後來常被稱為「史上最早的廣告歌」之一——它從第一天起，就不是為了藝術，而是為了賣一項產品而寫的。各位注意：出錢的是誰？是纜車公司。他們要的，不是留名青史，是把客人的「怕」，變成「想去」。</a:t>
            </a:r>
          </a:p>
          <a:p>
            <a:r>
              <a:t>【講義補充】</a:t>
            </a:r>
          </a:p>
          <a:p>
            <a:r>
              <a:t>- 舞台：1880 年義大利拿坡里（Napoli／Naples）近郊的維蘇威火山（Monte Vesuvio）。這座火山正是西元 79 年埋掉龐貝城（Pompeii）的那一座；對當時遊客而言它既是必看奇景、也是「會不會又爆」的恐懼來源——這正是纜車公司要用一首歌去化解的行銷難題（承本站纜車公司的故事）。</a:t>
            </a:r>
          </a:p>
          <a:p>
            <a:r>
              <a:t>- 產品本身：這條登山纜車據載於 1880 年 6 月 6 日通車，由米蘭工程商奧利維耶里（E. Olivieri）承建；幕後推手是匈牙利籍軌道交通商奧布利希特（Ernesto Emanuele Oblieght），並由羅馬銀行（Banco di Roma）出資背書，1879 年以約 16,000 英鎊發包（據日本鐵道史刊 JRTR 整理的 Thomas Cook 檔案）。</a:t>
            </a:r>
          </a:p>
          <a:p>
            <a:r>
              <a:t>- 規格：全長約 806 公尺、爬升約 391 公尺、最陡坡度約 63%，兩節車廂分別取名「維蘇威」（Vesuvio）與「埃特納」（Etna，義大利另一座名火山），單程各載約 15 人——運量有限，更凸顯「讓人願意來坐」比「把車蓋好」還難。</a:t>
            </a:r>
          </a:p>
          <a:p>
            <a:r>
              <a:t>- 真正的金主與出手法：經營纜車的維蘇威纜車鐵道股份公司（法文原名 Société anonyme du chemin de fer funiculaire du Vésuve）把新歌安排在拿坡里最大的歌謠節「皮耶迪格羅塔節」上首演，等於買下當年最大的曝光舞台替纜車打廣告（據 tizianasavarese.it 等整理）。</a:t>
            </a:r>
          </a:p>
          <a:p>
            <a:r>
              <a:t>- 行銷目的很直白：要遊客別再騎驢、騎馬慢慢上山，改坐纜車。歌詞把火山口寫成情人約會的浪漫終點，把「怕火山」轉譯成「想帶心上人一起搭纜車上去」——這是把恐懼行銷成嚮往的教科書案例，也對應本張講稿說的「把客人的怕變成想去」。</a:t>
            </a:r>
          </a:p>
          <a:p>
            <a:r>
              <a:t>- 效益驚人：里柯第出版社（Casa Ricordi）發行的樂譜，據 Wikipedia／Ricordi 所載「一年內賣破百萬份」；歌名與旋律紅遍義大利與海外。等於纜車公司花一次委創（或首演推廣）的錢，換到跨國、跨世紀、至今仍在傳唱的品牌曝光。</a:t>
            </a:r>
          </a:p>
          <a:p>
            <a:r>
              <a:t>- 一個常被引用的定位：這是「史上最早的廣告歌／廣告神曲」之一。丹薩用短動機不斷重複、加上「Funiculì…Funiculà」這種擬聲口號當記憶點，正是今天廣告神曲（jingle）洗腦手法的老祖宗。</a:t>
            </a:r>
          </a:p>
          <a:p>
            <a:r>
              <a:t>- 史實小提醒（相傳）：也有一說是記者圖爾科「半開玩笑」向丹薩提議、為慶祝纜車通車而寫，未必是公司白紙黑字下單委製；但無論哪個版本，公司出錢把它推上皮耶迪格羅塔舞台替纜車宣傳這一段是站得住的（據 Wikipedia）。</a:t>
            </a:r>
          </a:p>
          <a:p>
            <a:r>
              <a:t>- 意外的版稅紅利：1886 年德國作曲家理察·史特勞斯（Richard Strauss）遊義大利時聽到此曲，誤以為是拿坡里民謠，寫進交響幻想曲《義大利》（Aus Italien）。丹薩打官司勝訴，史特勞斯得付版稅——一首「廣告歌」反過來替作者、也替這門生意創造了智財收入（呼應後面談版稅、ASCAP 的投影片）。</a:t>
            </a:r>
          </a:p>
          <a:p>
            <a:r>
              <a:t>- 給企業的一句提煉：好產品賣不動，缺的往往不是工程而是「一個讓人克服恐懼、願意嘗試」的記憶點；一百四十多年前的纜車公司，就已經懂得花錢買一首歌來做這件事。</a:t>
            </a:r>
          </a:p>
          <a:p>
            <a:r>
              <a:t>- 📖 維蘇威火山（Monte Vesuvio／Mount Vesuvius）：拿坡里灣東側的活火山，西元 79 年大爆發掩埋龐貝城。19 世紀是歐洲「壯遊」（Grand Tour）行程必看奇景，遊客想登頂俯瞰火山口。</a:t>
            </a:r>
          </a:p>
          <a:p>
            <a:r>
              <a:t>- 📖 拿坡里（Napoli／Naples）：義大利南部第一大港與文化重鎮；19 世紀拿坡里歌謠（canzone napoletana）風行全歐，是這類城市行銷歌曲的溫床。</a:t>
            </a:r>
          </a:p>
          <a:p>
            <a:r>
              <a:t>- 📖 纜索鐵路／纜車（funicolare／funicular）：靠鋼纜牽引、上下兩車對拉以爬陡坡的軌道交通。歌名「Funiculì, Funiculà」即由此字變化而來，可理解為「纜車上山、纜車下山」的擬聲呼喊。</a:t>
            </a:r>
          </a:p>
          <a:p>
            <a:r>
              <a:t>- 📖 皮耶迪格羅塔節（Festa di Piedigrotta）：拿坡里每年 9 月圍繞「皮耶迪格羅塔聖母」節慶舉辦的歌謠盛會，是當時新歌打歌、一炮而紅的最大舞台，地位約等於今天的大型頒獎典禮加售票演唱會。</a:t>
            </a:r>
          </a:p>
          <a:p>
            <a:r>
              <a:t>- 📖 里柯第出版社（Casa Ricordi）：1808 年創於米蘭的義大利音樂出版巨頭（威爾第、普契尼歌劇的東家），掌握樂譜印行通路；交給它發行等於接上全國銷售網（呼應本片講里柯第×威爾第的段落）。</a:t>
            </a:r>
          </a:p>
          <a:p>
            <a:r>
              <a:t>- 📖 路易吉·丹薩（Luigi Denza, 1846–1922）：出身拿坡里近郊斯塔比亞海堡（Castellammare di Stabia）的作曲家，本曲作曲者，晚年赴倫敦皇家音樂院任教。</a:t>
            </a:r>
          </a:p>
          <a:p>
            <a:r>
              <a:t>- 📖 佩皮諾·圖爾科（Peppino Turco，本名 Giuseppe Turco）：拿坡里記者兼作詞人，以拿坡里方言寫下本曲歌詞。</a:t>
            </a:r>
          </a:p>
          <a:p>
            <a:r>
              <a:t>- 📖 拿坡里語（napoletano）：拿坡里及義大利南部通用的地方語言（非標準義大利語）；本曲原詞即以拿坡里語寫成，濃厚鄉土味是其魅力之一。</a:t>
            </a:r>
          </a:p>
          <a:p>
            <a:r>
              <a:t>- 📖 股份公司（Société anonyme，法文）：字面意為「匿名（股份）公司」，相當於英文 joint-stock company、今日的股份有限公司；纜車經營方即以這種現代企業型態運作，才有資本與動機去花錢做行銷。</a:t>
            </a:r>
          </a:p>
          <a:p>
            <a:r>
              <a:t>- 📖 廣告神曲（jingle）：專為推銷某項產品或品牌而寫、靠好記重複的短句旋律讓人朗朗上口的音樂，本曲被視為其極早期範例。</a:t>
            </a:r>
          </a:p>
          <a:p>
            <a:r>
              <a:t>- 📖 《義大利》交響幻想曲（Aus Italien）：史特勞斯 1886 年的四樂章管弦樂作品，末樂章因引用本曲旋律而引發前述版權訴訟。</a:t>
            </a:r>
          </a:p>
          <a:p>
            <a:r>
              <a:t>【影片操作】 無（壓軸帶動唱時才播伴唱）。</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45｜一首歌，把客人唱上山</a:t>
            </a:r>
          </a:p>
          <a:p/>
          <a:p>
            <a:r>
              <a:t>【講稿】（停留約 70 秒）這首委創的廣告歌，效果好到什麼程度？樂譜一年之內賣破一百萬份，歌聲傳遍全歐洲的沙龍和街頭，「去拿坡里、坐纜車上維蘇威」變成整個歐洲的旅遊夢想。各位想想：一首三分鐘的歌，把大家心裡的「怕」，唱成了「想去」。而且名氣接著就兌現成生意：1888 年，旅行社的老祖宗、英國的湯瑪斯·庫克公司（Thomas Cook），把這條纜車編進國際觀光行程，全世界的旅客跟著行程表上山，運量一路倍增。各位看，這條漂亮的成長曲線，起點就是纜車公司當年花錢委託的那一首歌。這就是我說的「第七樣、最硬的回報」——實實在在的客人、實實在在的錢。</a:t>
            </a:r>
          </a:p>
          <a:p>
            <a:r>
              <a:t>【講義補充】</a:t>
            </a:r>
          </a:p>
          <a:p>
            <a:r>
              <a:t>- 這張講的是「贊助一首歌，最後換到什麼」：出資的一方是維蘇威火山（Mount Vesuvius）纜車公司，回報不是掌聲，而是數十年真金白銀的觀光客流。</a:t>
            </a:r>
          </a:p>
          <a:p>
            <a:r>
              <a:t>- 這首歌本來就是纜車生意的「開幕造勢禮」：1880 年 6 月維蘇威纜車落成通車，同年拿坡里記者佩皮諾·圖爾科（Peppino Turco）填詞、路易吉·丹薩（Luigi Denza）譜曲，把「坐纜車直上火山口」寫成一首輕快的拿坡里歌，替新路線暖場（據英文維基百科，此曲為紀念纜車開幕而作）。</a:t>
            </a:r>
          </a:p>
          <a:p>
            <a:r>
              <a:t>- 幕後金主的來龍去脈：這條纜車最早由金融家歐布利耶特（Ernest Emmanuel Oblieght）於 1870 年代發想、1878 年取得三十年土地租約，工程師奧利維耶里（Olivieri）設計，用約 45 匹馬力蒸汽機拉動鋼纜、每節車廂重約 5000 公斤，1880 年 6 月 6 日揭幕、6 月 10 日正式對外營運（據義大利地方史料）。</a:t>
            </a:r>
          </a:p>
          <a:p>
            <a:r>
              <a:t>- 首演不在音樂廳，而在觀光現場：歌曲先在山腳卡斯特拉馬雷（Castellammare di Stabia）的 Quisisana 大飯店唱出，接著被推上同年的皮迪格羅塔歌謠節（Festa di Piedigrotta）打響，等於把景點的廣告歌塞進全拿坡里最大的曝光平台。</a:t>
            </a:r>
          </a:p>
          <a:p>
            <a:r>
              <a:t>- 通路放大器是里柯第（Casa Ricordi）——就是投影片前面扶植威爾第（Giuseppe Verdi）的那家米蘭樂譜出版巨頭；靠它的發行網，樂譜一年賣破百萬份（據 Treccani《義大利人物傳記辭典》，另英文維基百科亦記「一年售出逾百萬份」），纜車客人還沒排隊上山，公司招牌已先傳遍全歐洲的沙龍與街頭。</a:t>
            </a:r>
          </a:p>
          <a:p>
            <a:r>
              <a:t>- 對贊助方最划算的地方：一次性的開幕造勢，買到的是持續數十年的免費廣告；著名軼事是這首歌紅到德國作曲家理查·史特勞斯（Richard Strauss）1886 年在交響幻想曲《義大利》（Aus Italien）引用時，誤以為它是拿坡里民謠，丹薩打官司求償並勝訴、拿到版稅；俄國作曲家林姆斯基-高沙可夫（Rimsky-Korsakov）1907 年也犯同樣的錯——一首「廣告歌」紅到被當成幾百年的老民謠，等於纜車公司的名號被全世界替它免費傳唱。</a:t>
            </a:r>
          </a:p>
          <a:p>
            <a:r>
              <a:t>- 名氣兌現成生意的關鍵人物是庫克父子：纜車開幕後幾年經營困難，1882 年約翰·梅森·庫克（John Mason Cook）首度搭乘，1886 年他先墊錢維持營運，1887 至 1888 年間乾脆把整條纜車（及其特許經營權）收下、變成自家旅行社的獨家資產（不同來源記為 1887 買下／1888 取得特許，故此處採區間）。</a:t>
            </a:r>
          </a:p>
          <a:p>
            <a:r>
              <a:t>- 買下後怎麼把人潮變現金：庫克廢掉當地導遊層層抽佣的亂象，改成「一價全包」的套裝行程，把拿坡里到火山口的來回全包票定在 20 先令（合 1 英鎊，在當年是相當高的價位，據日本鐵道誌 JRTR 史料），再把纜車編進湯瑪斯·庫克父子公司（Thomas Cook &amp; Son）的國際觀光行程表，旅客照著行程表上山，運量一路翻倍。</a:t>
            </a:r>
          </a:p>
          <a:p>
            <a:r>
              <a:t>- 贊助長成產業鏈：庫克過世（1899）後，公司接手瑞士 SLM 與布朗·包法利（Brown, Boveri）的合約，1903 年 9 月把登山段改建成 7.7 公里電氣鐵路、上山縮進一小時內；1904 年更在半山蓋了 25 間房的「隱廬」（Hermitage）旅館，把一首歌帶來的人潮，一路加蓋成完整的觀光生意。</a:t>
            </a:r>
          </a:p>
          <a:p>
            <a:r>
              <a:t>- 收束就是「第七樣、最硬的回報」：不是名聲、不是掌聲，而是實實在在買票上山的客人與現金流；一首委創的廣告歌，就是這條纜車公司成長曲線的起點。</a:t>
            </a:r>
          </a:p>
          <a:p>
            <a:r>
              <a:t>- 📖 維蘇威火山纜車（Funicolare del Vesuvio）：1880 年通車、直上維蘇威火山口的登山纜車，是本張的「贊助主體」；1944 年 3 月維蘇威噴發時被摧毀，之後未再重建。</a:t>
            </a:r>
          </a:p>
          <a:p>
            <a:r>
              <a:t>- 📖 「委創廣告歌」的定位（宜留彈性）：這首歌廣泛被稱作「史上第一首商業廣告歌」、傳為纜車公司委託促銷之作；但據英文維基百科，並無直接證據證明它由纜車公司正式出資委託，較穩妥的說法是「為纜車開幕而作、替新路線造勢」（相傳／傳說成分請保留彈性）。</a:t>
            </a:r>
          </a:p>
          <a:p>
            <a:r>
              <a:t>- 📖 佩皮諾·圖爾科（Peppino Turco，1846–1907）：拿坡里記者兼作詞人，本曲填詞者；相傳是他起鬨慫恿丹薩把曲子寫出來。</a:t>
            </a:r>
          </a:p>
          <a:p>
            <a:r>
              <a:t>- 📖 路易吉·丹薩（Luigi Denza，1846–1922）：生於卡斯特拉馬雷的作曲家，本曲作曲者；後半生移居倫敦，1922 年於當地過世（曲子的版權由他持有，才有後來向史特勞斯求償成功一事）。</a:t>
            </a:r>
          </a:p>
          <a:p>
            <a:r>
              <a:t>- 📖 皮迪格羅塔歌謠節（Festa di Piedigrotta）：拿坡里每年在皮迪格羅塔聖母教堂周邊舉行的宗教節慶兼歌謠競賽，是十九世紀拿坡里新歌最大的發表舞台；本曲在此一炮而紅。</a:t>
            </a:r>
          </a:p>
          <a:p>
            <a:r>
              <a:t>- 📖 里柯第（Casa Ricordi）：1808 年創於米蘭的樂譜出版巨頭，握有威爾第等人版權（呼應前面「里柯第×威爾第」那張）；本曲由它出版，靠它的通路一年賣破百萬份。</a:t>
            </a:r>
          </a:p>
          <a:p>
            <a:r>
              <a:t>- 📖 湯瑪斯·庫克父子公司（Thomas Cook &amp; Son）：由湯瑪斯·庫克（Thomas Cook，1808–1892）於 1841 年創立、被視為近代套裝旅遊與旅行社鼻祖的英國企業；由其子擴張為橫跨歐洲的觀光帝國。</a:t>
            </a:r>
          </a:p>
          <a:p>
            <a:r>
              <a:t>- 📖 約翰·梅森·庫克（John Mason Cook，1834–1899）：湯瑪斯·庫克之子、公司實際經營者；1880 年代出手買下維蘇威纜車，把它變成庫克行程的獨家景點與收費站。</a:t>
            </a:r>
          </a:p>
          <a:p>
            <a:r>
              <a:t>- 📖 一價全包／套裝行程（inclusive tour）：把交通、門票、導遊、餐食綁成單一價格一次賣出的旅遊模式，是庫克的招牌打法；他用它取代原本導遊沿途各自喊價、層層抽佣的亂象。</a:t>
            </a:r>
          </a:p>
          <a:p>
            <a:r>
              <a:t>- 📖 先令與英鎊（shilling / pound）：當時英國貨幣，20 先令＝1 英鎊；庫克把拿坡里到火山口的來回全包票定在 1 英鎊，在當年是不算便宜的價位（據 JRTR 史料）。</a:t>
            </a:r>
          </a:p>
          <a:p>
            <a:r>
              <a:t>- 📖 卡斯特拉馬雷（Castellammare di Stabia）：拿坡里灣沿岸城鎮、丹薩的故鄉，本曲首唱地 Quisisana 大飯店的所在。</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46｜維蘇威纜車：打不倒的百年行銷資產</a:t>
            </a:r>
          </a:p>
          <a:p/>
          <a:p>
            <a:r>
              <a:t>【講稿】（停留約 75 秒）這門生意後來怎麼樣？它經歷了大概是商業史上最硬核的「不可抗力」測試。1906 年，維蘇威火山大噴發，車站、車廂全部埋進二、三十公尺深的火山灰——照理說故事該結束了吧？可是三年後，1909 年，纜車重建、復駛；1911 年山崩再停，1912 年又開。為什麼值得一次又一次重建？因為那首歌帶來的名氣和穩定客源，讓每一次重建都算得過來。硬體會被天災淘汰——但那首 1880 年的委創歌，到今天還在全世界的電影、廣告、音樂會裡，替維蘇威、替拿坡里「免費帶客」。所以給在座企業家的啟示很簡單：產品有生命週期，但一次到位的贊助內容，是跨世紀的資產。一次委創，回報以百年計——這就是「投資美」最極致的複利。好，講完它的身世，等一下，換我們自己來把這首歌唱一遍。</a:t>
            </a:r>
          </a:p>
          <a:p>
            <a:r>
              <a:t>【講義補充】</a:t>
            </a:r>
          </a:p>
          <a:p>
            <a:r>
              <a:t>- 這張延續前面「Funiculì, Funiculà」四張的收尾，把鏡頭從「那首歌」拉回到「出錢蓋纜車、又一次次掏錢重建的業主」身上：主角不是作曲家，而是這門生意的金主與它百年不敗的行銷資產。</a:t>
            </a:r>
          </a:p>
          <a:p>
            <a:r>
              <a:t>- 舞台是維蘇威登山纜車（Funicolare del Vesuvio），1880 年 6 月 6 日通車，位於拿坡里（Napoli）近郊的活火山維蘇威（Vesuvio）南坡，是全世界最早用機械把觀光客送上活火山口的設施之一；路線約 806 公尺、爬升約 391 公尺，最陡處坡度可達 63%。</a:t>
            </a:r>
          </a:p>
          <a:p>
            <a:r>
              <a:t>- 誰出的錢：發起人是匈牙利企業家歐布利特（Ernesto Emanuele Oblieght），背後由羅馬銀行（Banco di Roma）提供資金；1879 年以約 16,000 英鎊發包給米蘭的奧利維耶里（Emilio Olivieri）承建（金額據 JRTR／Thomas Cook 史料）。最初只有兩節 8 人座車廂，分別取名「Etna」（埃特納火山）與「Vesuvio」（維蘇威火山）。</a:t>
            </a:r>
          </a:p>
          <a:p>
            <a:r>
              <a:t>- 委創的那件內容資產：通車同年，業主方委請作曲家鄧札（Luigi Denza）與記者兼作詞人圖爾科（Peppino Turco）寫了 Funiculì, Funiculà 為纜車開幕站台，等於今天品牌開幕請人量身寫的「主題曲＋廣告歌」——這是全片「一次委創、跨世紀回收」的最強案例。</a:t>
            </a:r>
          </a:p>
          <a:p>
            <a:r>
              <a:t>- 立刻回本：該曲 1880 年在拿坡里的皮耶迪格羅塔音樂節（Festa di Piedigrotta）首演，由米蘭的里柯第出版社（Casa Ricordi）發行樂譜，一年內賣破一百萬份（據 Wikipedia／Britannica）；一筆開幕委創費，換來即刻的全國知名度與長銷樂譜收入。</a:t>
            </a:r>
          </a:p>
          <a:p>
            <a:r>
              <a:t>- 英國金主接手把名氣做成金流：這門生意早年並不賺錢，英國旅行社湯瑪士·庫克父子公司（Thomas Cook &amp; Son）的小庫克（John Mason Cook）1882 年首度搭乘，1886 年起先墊錢救急，1887 至 1888 年間乾脆把纜車特許權整個買下，1889 年 5 月以翻新設備重新開幕。</a:t>
            </a:r>
          </a:p>
          <a:p>
            <a:r>
              <a:t>- 買下後怎麼經營：庫克掃除了當地嚮導對觀光客的敲詐陋習，1903 年再自普利亞諾（Pugliano）蓋電氣化登山鐵路接駁，並在山腰蓋了 25 間客房的「隱廬飯店」（Hermitage Hotel），把一首歌帶來的名氣，串成「鐵路→纜車→飯店」一整條觀光金流。</a:t>
            </a:r>
          </a:p>
          <a:p>
            <a:r>
              <a:t>- 第一次歸零（1906 大噴發）：1906 年 4 月 7 至 8 日維蘇威大噴發，上下站房、機房、纜線與兩節車廂全被埋進 20 至 30 公尺深的火山灰（據 pompeiiinpictures），照商業常理，故事到這裡就該結束。</a:t>
            </a:r>
          </a:p>
          <a:p>
            <a:r>
              <a:t>- 為什麼還一次次重建：重建工程 1909 年完工、1910 年正式復駛（由工程師特萊伯（Enrico Treiber）主持），新纜車還加了架空電線、車燈、電鈴與電話，甚至開辦夜間登山班次；1911 年山崩再停、1912 年又開——每一次重建都算得過來，因為那首歌帶來的名氣撐住了穩定客源。</a:t>
            </a:r>
          </a:p>
          <a:p>
            <a:r>
              <a:t>- 第二次歸零（1944）：1944 年 3 月維蘇威再度噴發、又逢二戰戰火，上段纜車再次被毀；庫克公司評估重建不划算，1945 年 12 月以 310 萬里拉把整條線賣給義大利南方次要鐵路公司（SFSM），自己保留 120 萬里拉股份（據 JRTR／Thomas Cook 史料）。</a:t>
            </a:r>
          </a:p>
          <a:p>
            <a:r>
              <a:t>- 轉型吊椅：新業主放棄重建軌道纜車，1951 年改找瑞士伯恩的 Von Roll 公司蓋吊椅（chair-lift），造價僅重建纜車的三分之一，1953 年起載客，這套吊椅一路營運到 1984 年才走入歷史。</a:t>
            </a:r>
          </a:p>
          <a:p>
            <a:r>
              <a:t>- 硬體與內容的對照，正是本張金句的骨架：纜車、電氣鐵路、飯店、吊椅——四代硬體全被天災、戰火或成本淘汰；唯一沒被淘汰的，是那首 1880 年一次委創的歌。</a:t>
            </a:r>
          </a:p>
          <a:p>
            <a:r>
              <a:t>- 「歌變成永久資產」還有鐵證：這首歌紅到讓後世大作曲家「誤當民謠」——德國作曲家理查·史特勞斯（Richard Strauss）約 1886 年遊義大利聽到，以為是拿坡里民謠，把旋律寫進管弦作品《Aus Italien》（義大利之旅），被鄧札告上法院、判賠版稅；1907 年俄國作曲家林姆斯基-高沙可夫（Rimsky-Korsakov）也犯同樣的錯。委創內容不只免費帶客，還能反過來替金主收版稅。</a:t>
            </a:r>
          </a:p>
          <a:p>
            <a:r>
              <a:t>- 到今天仍在免費帶客：Funiculì, Funiculà 至今活在全球電影、廣告、音樂會與教科書裡，等於替維蘇威、替拿坡里做了一百四十多年不用再付錢的宣傳（該曲 1993 年 1 月 1 日進入公共領域）；硬體的生命週期以年計，這件委創內容的生命週期以世紀計。</a:t>
            </a:r>
          </a:p>
          <a:p>
            <a:r>
              <a:t>- 📖 維蘇威登山纜車（Funicolare del Vesuvio）：義大利拿坡里維蘇威火山上的鋼纜牽引陡坡鐵道，1880 年通車、1944 年後改為吊椅、1984 年停用；它的開幕催生了 Funiculì, Funiculà 這首歌。</a:t>
            </a:r>
          </a:p>
          <a:p>
            <a:r>
              <a:t>- 📖 Funiculì, Funiculà：拿坡里方言歌名，字面約為「纜車上、纜車下」，「Funiculì」就是方言的「纜車」；它是為維蘇威纜車開幕而寫的宣傳歌，被視為近代拿坡里歌謠的開端。</a:t>
            </a:r>
          </a:p>
          <a:p>
            <a:r>
              <a:t>- 📖 委創（commission，委託創作）：出資者指定題目、付錢請人量身創作作品的模式；當時＝金主替一件產品或場館訂做專屬內容，本張的歌就是纜車業主委創的行銷資產。</a:t>
            </a:r>
          </a:p>
          <a:p>
            <a:r>
              <a:t>- 📖 不可抗力（force majeure）：源自法律與商業合約的用語，指地震、火山、戰爭等人力無法防止的重大事故，常被寫進合約當免責條款；本張借它形容火山噴發對這門生意的極限壓力測試。</a:t>
            </a:r>
          </a:p>
          <a:p>
            <a:r>
              <a:t>- 📖 產品生命週期（product life cycle）：行銷學名詞，指產品從導入、成長、成熟到衰退的必然歷程；本張用它點出「硬體會過時、會被淘汰」，與能跨世紀的內容資產形成對比。</a:t>
            </a:r>
          </a:p>
          <a:p>
            <a:r>
              <a:t>- 📖 複利（compound interest）：本金滾利、利上加利、時間拖越久回報越可觀的財務概念；此處借喻「一次委創、回報以百年計」，把美的投資講成最極致的複利。</a:t>
            </a:r>
          </a:p>
          <a:p>
            <a:r>
              <a:t>- 📖 行銷資產（marketing asset）：能長期重複帶來知名度或客流、且不必反覆付費的無形資產；本張主張一首到位的委創歌，就是跨世紀的行銷資產。</a:t>
            </a:r>
          </a:p>
          <a:p>
            <a:r>
              <a:t>- 📖 湯瑪士·庫克父子公司（Thomas Cook &amp; Son）：19 世紀英國創立、世界最早的大型旅行社之一，當時＝套裝行程與觀光票務的開創者，買下並經營維蘇威纜車數十年，把歌帶來的名氣變現。</a:t>
            </a:r>
          </a:p>
          <a:p>
            <a:r>
              <a:t>- 📖 約翰·梅森·庫克（John Mason Cook）：旅行社創辦人湯瑪士·庫克（Thomas Cook）之子，實際出手買下維蘇威纜車、整頓嚮導亂象並擴建鐵路與飯店的人。</a:t>
            </a:r>
          </a:p>
          <a:p>
            <a:r>
              <a:t>- 📖 里柯第出版社（Casa Ricordi）：1808 年創立於米蘭的義大利大型樂譜出版商，威爾第（Verdi）歌劇也由它出版；當時＝掌握樂譜印製與版權的音樂出版龍頭，Funiculì 的樂譜就由它發行、一年破百萬份。</a:t>
            </a:r>
          </a:p>
          <a:p>
            <a:r>
              <a:t>- 📖 皮耶迪格羅塔音樂節（Festa di Piedigrotta）：拿坡里每年 9 月的宗教兼歌謠慶典，當時＝拿坡里新歌一年一度的官方發表會，Funiculì 在此首演一炮而紅。</a:t>
            </a:r>
          </a:p>
          <a:p>
            <a:r>
              <a:t>- 📖 吊椅（chair-lift）／Von Roll：吊椅是以鋼纜懸掛座椅、把乘客凌空送上山的纜索設施，比軌道纜車便宜；Von Roll 是承建維蘇威 1953 年吊椅的瑞士伯恩纜索工程公司。</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47｜企業的回報：贊助藝術，買到錢買不到的東西</a:t>
            </a:r>
          </a:p>
          <a:p/>
          <a:p>
            <a:r>
              <a:t>【講稿】（停留約 80 秒）我們把七樣回報，收攏成四個各位董事會上聽得懂的面向。第一，品牌聲望與差異化——像卡內基、像拜羅伊特，把名字刻進文化史。第二，客戶關係與高端形象——像賓士、像奇美，用藝術替品牌鍍格調，緊緊綁住最高價值的客群。第三，人才吸引與員工凝聚——像埃斯特哈齊，長期養才、養場館，凝聚內部認同。第四，也是各位老闆最想聽的，可量化的溢價——藝文投資會變成實打實的品牌溢價和實利：奇美的形象、普契尼帶來的兩百萬觀光客、纜車那條百年的成長曲線，這些都算得出來。所以請記住這句話：贊助藝術，不是成本，是一筆會增值的長期資產。（順帶一提，文化藝術贊助在稅務上也可能有優惠，這部分請洽你的會計師。）</a:t>
            </a:r>
          </a:p>
          <a:p>
            <a:r>
              <a:t>【講義補充】</a:t>
            </a:r>
          </a:p>
          <a:p>
            <a:r>
              <a:t>- 這張是收尾綜整頁：把前面談過的「七樣回報」收攏成董事會聽得懂的四個面向——①品牌聲望與差異化（卡內基／拜羅伊特）②客戶關係與高端形象（賓士／奇美）③人才吸引與員工凝聚（埃斯特哈齊）④可量化的品牌溢價（品牌溢價、觀光訪客數、纜車百年運量）；每一項都對應本片前面出現過的贊助者實例。</a:t>
            </a:r>
          </a:p>
          <a:p>
            <a:r>
              <a:t>- 面向①「把名字刻進文化史」的兩個範本：鋼鐵大王卡內基把姓氏刻上紐約最頂級的音樂廳、巴伐利亞王室與華格納樂迷把拜羅伊特打造成朝聖地——出資者用一座建築，換到一個世紀以上、免費滾動的品牌聲量。</a:t>
            </a:r>
          </a:p>
          <a:p>
            <a:r>
              <a:t>- 📖 卡內基音樂廳（Carnegie Hall）：位於紐約曼哈頓第七大道與 57 街口的頂級音樂廳，1890 年動工、1891 年 5 月 5 日正式開幕，開幕週由俄國作曲家柴可夫斯基（Pyotr Ilyich Tchaikovsky）親自登台指揮、完成其美國首演；全案約 110 萬美元幾乎由卡內基一人獨資（據 Carnegie Hall 官方與 Wikipedia）。</a:t>
            </a:r>
          </a:p>
          <a:p>
            <a:r>
              <a:t>- 📖 安德魯·卡內基（Andrew Carnegie，1835–1919）：蘇格蘭裔美國鋼鐵大亨、十九世紀末美國首富之一。此案罕見地未套用他平時要求他人配捐的「卡內基公式」，而是獨力補足音樂廳虧損直到 1919 年過世；他換到的，是把家族姓氏永久掛在世界最具聲望的舞台上——一種錢買不到的品牌資產。</a:t>
            </a:r>
          </a:p>
          <a:p>
            <a:r>
              <a:t>- 📖 拜羅伊特節慶劇院／音樂節（Bayreuth Festspielhaus／Festspiele）：德國巴伐利亞拜羅伊特專為華格納（Richard Wagner）歌劇量身打造的劇院，1872 年 5 月 22 日（華格納 59 歲生日）奠基，1876 年 8 月 13 日以《尼伯龍根的指環》（Der Ring des Nibelungen）全本首演揭幕，至今仍是全球樂迷朝聖地與德國的文化名片。</a:t>
            </a:r>
          </a:p>
          <a:p>
            <a:r>
              <a:t>- 📖 路德維希二世（Ludwig II of Bavaria，1845–1886）：巴伐利亞國王、華格納最關鍵的金主。民間認股募資不順時，他於 1874 年 1 月撥款十萬塔勒（Thaler，當時德語區通行的銀幣單位）以信貸方式挹注，工程才得以加速、音樂節才辦得成——王室這筆錢，直接決定了一個文化品牌能否誕生。</a:t>
            </a:r>
          </a:p>
          <a:p>
            <a:r>
              <a:t>- 📖 華格納協會（Wagner Societies）：在華格納友人海克爾（Emil Heckel）建議下，於萊比錫、柏林、維也納等地成立的支持者社團，透過集體認股分攤劇院經費——等於十九世紀版的「品牌會員制／群眾募資」，讓一群企業與仕紳把自己綁進拜羅伊特的長期聲望裡。</a:t>
            </a:r>
          </a:p>
          <a:p>
            <a:r>
              <a:t>- 面向②「用藝術替品牌鍍格調、綁住高端客群」：當代豪華車廠賓士、台灣奇美，都用藝文收藏把品牌從「賣產品」拉高到「賣品味」，讓最高價值的客群產生情感黏著。</a:t>
            </a:r>
          </a:p>
          <a:p>
            <a:r>
              <a:t>- 📖 賓士（Mercedes-Benz）：德國高級汽車品牌，源出戴姆勒（Daimler）體系，品牌名結合早期經銷商顧問女兒 Mercedes 之名與汽車先驅卡爾·賓士（Karl Benz）之姓。品牌長期以藝術與音樂贊助（如 Mercedes-Benz 藝術收藏、擔任表演藝術中心與音樂活動的季度贊助商）維繫高端形象、並藉此接觸新世代潛在買主（據 Mercedes-Benz 官方與 The Marketing Society）。</a:t>
            </a:r>
          </a:p>
          <a:p>
            <a:r>
              <a:t>- 📖 奇美博物館／許文龍（Chimei Museum／Shi Wen-long，1928– ）：台南奇美實業創辦人許文龍以企業之力創建的私人博物館，自 1990 年起大量蒐藏西洋名琴，藏量逾一千把，為全球最大的提琴典藏機構（據奇美博物館官網與中央社）；企業用文化收藏換到的，是難以被競爭者複製的品牌格調與社會聲望。</a:t>
            </a:r>
          </a:p>
          <a:p>
            <a:r>
              <a:t>- 📖 史特拉底瓦里（Stradivari）：十七至十八世紀義大利克雷莫納（Cremona）製琴大師安東尼奧·史特拉底瓦里所製名琴的統稱，被視為小提琴工藝巔峰、拍賣價動輒上億台幣。奇美 1990 年購入的第一把即史氏 1709 年巔峰期名琴「瑪麗·霍爾」（Marie Hall），曾被權威提琴雜誌評為音色最佳的史氏名琴之一。</a:t>
            </a:r>
          </a:p>
          <a:p>
            <a:r>
              <a:t>- 面向③「長期養才、養場館、凝聚內部認同」的古典範本：埃斯特哈齊家族用近三十年的穩定雇用與專屬樂團場館，把海頓（Joseph Haydn）從一名樂師養成「交響曲之父」——這是最早的「企業長期育才＋內部品牌」案例。</a:t>
            </a:r>
          </a:p>
          <a:p>
            <a:r>
              <a:t>- 📖 埃斯特哈齊家族（Esterházy）：匈牙利最富有的貴族世家。尼古勞斯一世親王（Nikolaus I，人稱「輝煌者」）自 1761 年起雇用海頓，1766 年升任其為樂長，前後任職近三十年；親王在自家宮殿埃斯特哈薩（Eszterháza，號稱「匈牙利的凡爾賽宮」）設歌劇院與常設樂團，供海頓創作、排練與演出。</a:t>
            </a:r>
          </a:p>
          <a:p>
            <a:r>
              <a:t>- 📖 樂長（Kapellmeister）：德語意為「樂團／樂隊長」，指宮廷或教會的音樂總負責人，統籌作曲、排練、演出與樂手管理——相當於金主養在體制內、由贊助者包底薪的「音樂總監／內容總監」，職位穩定，才有餘裕長期實驗與量產作品。</a:t>
            </a:r>
          </a:p>
          <a:p>
            <a:r>
              <a:t>- 面向④「藝文投資會變成算得出來的實利」：普契尼讓故鄉變成長銷觀光財、纜車靠一首歌拉出百年成長曲線——這兩例把「贊助＝成本」的直覺，翻成「贊助＝可量化資產」。</a:t>
            </a:r>
          </a:p>
          <a:p>
            <a:r>
              <a:t>- 📖 普契尼（Giacomo Puccini，1858–1924）：義大利歌劇作曲家，1858 年生於盧卡（Lucca），代表作《波希米亞人》《托斯卡》《蝴蝶夫人》。他長居托雷德爾拉戈（Torre del Lago），當地自 1930 年起每年夏天舉辦全球唯一的普契尼歌劇節（Festival Puccini），露天劇場每季約吸引四萬名觀眾（據 Wikipedia／Visit Tuscany）；盧卡與托雷德爾拉戈整條「普契尼路線」則長年替地方帶來觀光財（講稿所稱「兩百萬觀光客」為本片前述引用之數字，確切口徑待查證）。</a:t>
            </a:r>
          </a:p>
          <a:p>
            <a:r>
              <a:t>- 📖 《Funiculì, Funiculà》：1880 年由作曲家盧伊吉·丹薩（Luigi Denza）作曲、佩皮諾·圖爾科（Peppino Turco）填詞的拿波里歌謠，為慶祝維蘇威火山纜車開通而寫，堪稱史上最早的「企業主題曲／廣告歌」；樂譜由里柯第（Ricordi）出版，一年內售出逾百萬份，等於免費替纜車做了全球行銷。</a:t>
            </a:r>
          </a:p>
          <a:p>
            <a:r>
              <a:t>- 📖 維蘇威火山纜車（Funicolare del Vesuvio）：1880 年 6 月 6 日通車的登山纜車。初期經營困難、幾乎倒閉，1887 年後由英國旅遊業者湯瑪士·庫克（Thomas Cook）之子約翰·梅森·庫克（John Mason Cook）接手整修，並於 1888 年買下特許經營權，靠自家觀光客源把它救活——一首帶動唱的歌加上一條纜車路線，撐起橫跨百年的運量與品牌成長曲線（詳見本站纜車公司的故事）。</a:t>
            </a:r>
          </a:p>
          <a:p>
            <a:r>
              <a:t>- 核心金句（原封保留）：贊助藝術不是成本，而是一筆會增值的長期資產——建築掛名、名琴收藏、育才養團、觀光客流，都是「錢一次投入、聲望與實利長期回流」。</a:t>
            </a:r>
          </a:p>
          <a:p>
            <a:r>
              <a:t>- 稅務提醒：文化藝術贊助在台灣可能適用《文化藝術獎助及促進條例》等相關法規的租稅優惠，但實際認列項目與額度須依個案評估，董事會定案前務必先洽你的會計師或稅務顧問。</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48｜企業家最適合聽的音樂</a:t>
            </a:r>
          </a:p>
          <a:p/>
          <a:p>
            <a:r>
              <a:t>【講稿】（停留約 60 秒）在給各位提案之前，先送大家一份「實用清單」——企業家最適合聽的四首音樂，按場合分。第一，需要專注、需要沉澱、壓力大的時候，聽今天的《郭德堡變奏曲》，它規律、清澈，能幫你把腦子清乾淨。第二，尾牙、開工、團隊誓師，要凝聚人心、鼓舞士氣，放貝多芬的〈歡樂頌〉，保證全場熱血。第三，要炒熱氣氛、帶動全場，就用我們今天的壓軸，那首輕快好上口的《Funiculì》。第四，一個人獨處、或招待重要客人，需要安靜有品味的背景音，放德布西的《月光》。學會用音樂管理情緒、管理場合，這是各位當領導者，最低成本的一項軟實力。</a:t>
            </a:r>
          </a:p>
          <a:p>
            <a:r>
              <a:t>【講義補充】</a:t>
            </a:r>
          </a:p>
          <a:p>
            <a:r>
              <a:t>- 這四首都是全片走過的贊助案例回訪——多數背後都連著贊助者、題獻對象或出資企業，選它們給企業家聽，等於把金主當年換到的成果再用一次。</a:t>
            </a:r>
          </a:p>
          <a:p>
            <a:r>
              <a:t>- 📖 郭德堡變奏曲（Goldberg Variations，BWV 988）：巴赫（Johann Sebastian Bach）1741 年出版的鍵盤名作，一段詠嘆調（Aria，抒情主題）加 30 段變奏；曲名取自演奏者哥德堡（Johann Gottlieb Goldberg）。相傳由前俄國駐薩克森宮廷大使凱瑟林伯爵（Count Hermann Karl von Keyserlingk）委託，供他失眠長夜聆聽（此說為傳說，出自 1802 年福克爾（Johann Nikolaus Forkel）所寫的巴赫傳記，距事發逾六十年、真偽有爭議）；正是「贊助者出題、音樂家交件」的典型，呼應「不朽之名」一站的私人委託。場合：需要專注、沉澱、紓壓。</a:t>
            </a:r>
          </a:p>
          <a:p>
            <a:r>
              <a:t>- 📖 〈歡樂頌〉（Ode to Joy，德文原題 An die Freude）：貝多芬（Ludwig van Beethoven）第九號交響曲（作品 125）末樂章的合唱主題，歌詞改編自席勒（Friedrich Schiller）1785 年寫、1803 年修訂的同名詩；1824 年 5 月 7 日在維也納首演。全曲題獻給普魯士國王腓特烈．威廉三世（Friedrich Wilhelm III），呼應「不朽之名」一站的題獻故事——把作品獻給有權有錢的贊助者，本身就是一樁交換。場合：尾牙、開工、團隊誓師，凝聚人心、鼓舞士氣。</a:t>
            </a:r>
          </a:p>
          <a:p>
            <a:r>
              <a:t>- 📖 《Funiculì, Funiculà》（拿坡里方言，意為「纜車上、纜車下」）：1880 年的拿坡里歌曲，鄧扎（Luigi Denza）作曲、圖爾科（Peppino Turco）作詞，為慶祝維蘇威火山（Mount Vesuvius）第一條纜車（1879 年建、1880 年通車）啟用而寫；因通車後乘客稀少，索性用一首歌替新交通工具打廣告，堪稱最早的「商業廣告歌」之一。當年於皮耶迪格洛塔（Piedigrotta）音樂節首演，由里柯第（Casa Ricordi）出版，一年內賣出上百萬份樂譜（據 Wikipedia）；這正是第七樣（實利）的主角，企業花錢、音樂帶客。場合：炒熱氣氛、帶動全場。</a:t>
            </a:r>
          </a:p>
          <a:p>
            <a:r>
              <a:t>- 📖 《月光》（Clair de lune，法文即「月光」）：德布西（Claude Debussy）《貝加馬斯克組曲》（Suite bergamasque）的第三樂章，約 1890 年寫成、1905 年修訂後出版；曲名取自象徵派詩人魏爾倫（Paul Verlaine）詩集《風流慶典》（Fêtes galantes，1869）中的同名詩。它是鋼琴獨奏曲、不能帶動唱，全片用作暖場與散場的墊樂。場合：獨處沉澱、招待貴客時安靜有品味的背景音。</a:t>
            </a:r>
          </a:p>
          <a:p>
            <a:r>
              <a:t>- 📖 軟實力（soft power）：美國政治學者奈伊（Joseph Nye）1990 年提出的概念，指不靠強制、金錢或命令，而靠吸引力、品味與認同去影響他人的能力；此處借指領導者用音樂經營氣氛與個人形象的本事。</a:t>
            </a:r>
          </a:p>
          <a:p>
            <a:r>
              <a:t>- 場合對照（延續現有講義）：郭德堡＝專注／紓壓、〈歡樂頌〉＝凝聚／士氣、Funiculì＝炒熱氣氛、月光＝沉澱／招待；四首各司其職，按場合點播即可。</a:t>
            </a:r>
          </a:p>
          <a:p>
            <a:r>
              <a:t>- 用音樂管理情緒與場合，是領導者最低成本的一項軟實力；以上皆為「情境定位」的實用建議，屬個人聆聽偏好與氣氛營造，非醫療或療效宣稱。</a:t>
            </a:r>
          </a:p>
          <a:p>
            <a:r>
              <a:t>【影片操作】 無（可輕放《月光》當背景）。</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49｜給企業的五點提案（一）</a:t>
            </a:r>
          </a:p>
          <a:p/>
          <a:p>
            <a:r>
              <a:t>【講稿】（停留約 60 秒）那麼，今天的企業具體可以怎麼做？我整理成五點，這是全場最實用的部分。第 1 點，像埃斯特哈齊：給藝術家長期、穩定的資助，並用一座場館養創新——給他一個能安心研發的家。第 2 點，像佛瑞的女伯爵：找一位「對的」藝術家，深度綁定、長期陪他成名——與其把預算灑給一百個人，不如成就一個人。</a:t>
            </a:r>
          </a:p>
          <a:p>
            <a:r>
              <a:t>【講義補充】</a:t>
            </a:r>
          </a:p>
          <a:p>
            <a:r>
              <a:t>- 提案 1「像埃斯特哈齊」：長期、穩定的資助＋一座自家場館養創新，等於給藝術家一個能安心研發的「家」——埃斯特哈齊家族 1761 年起聘海頓（Joseph Haydn，先任副樂長），1762 年繼位的尼古拉斯親王（Prince Nikolaus Esterházy，1714–1790，綽號「輝煌者」the Magnificent）1766 年把他升為正樂長，一路留用到 1790 年親王過世，海頓將近三十年只服務同一位金主。</a:t>
            </a:r>
          </a:p>
          <a:p>
            <a:r>
              <a:t>- 這位金主買到的不是幾首曲子，而是「用我的名字冠名的整支樂團與整個劇季」：埃斯特哈齊宮（Eszterháza，號稱「匈牙利的凡爾賽宮」）據 Wikipedia／H. C. Robbins Landon 有 126 個房間、造價約 1,300 萬奧地利盾（gulden）；宮內 1768 年落成的歌劇院可容 400 人（1779 年焚毀後重建），另有 1773 年的木偶劇院，海頓在此一年常辦逾百場演出、並為親王樂團寫下他大半的交響曲——場館就是研發室，冠名就是回報。</a:t>
            </a:r>
          </a:p>
          <a:p>
            <a:r>
              <a:t>- 對企業的啟示：與其一次性打賞，不如包養「薪水＋住所＋樂團＋舞台」的整套系統，讓人才不必為下一餐分心，長線傑作才生得出來；埃斯特哈齊家族沒沒無聞的地產，就靠海頓的音樂成了世界文化地標。</a:t>
            </a:r>
          </a:p>
          <a:p>
            <a:r>
              <a:t>- 提案 2「像佛瑞的女伯爵」：與其把預算灑給一百個人，不如押注一位「對的」藝術家、深度綁定、長期陪他成名——葛雷菲勒女伯爵（Comtesse Élisabeth Greffulhe，1860–1952）1886 年經表兄孟德斯鳩（Robert de Montesquiou）引介，認識當時還紅不起來的佛瑞（Gabriel Fauré，1845–1924），此後傾力捧他。</a:t>
            </a:r>
          </a:p>
          <a:p>
            <a:r>
              <a:t>- 她怎麼捧、換到什麼：1890 年主持成立「法國大型音樂會協會」（Société des Grandes Auditions Musicales de France）把冷門與新作搬上舞台，替佛瑞爭取演出，並於 1909 年替他運作角逐法蘭西學會（Institut de France）院士；佛瑞則把《帕凡舞曲》（Pavane，作品 50）題獻給她，完整合唱版首演就辦在她布洛涅森林（Bois de Boulogne）的花園派對——贊助者換到的，是名字被永久刻進傳世名曲與一整段沙龍史。</a:t>
            </a:r>
          </a:p>
          <a:p>
            <a:r>
              <a:t>- 押對一個人的複利：這位女伯爵同時是普魯斯特（Marcel Proust）筆下蓋爾芒特公爵夫人（duchesse de Guermantes）的原型、狄亞吉列夫（Sergei Diaghilev）俄羅斯芭蕾舞團的金主——集中資源成就一個人，最後讓贊助者自己成了一個時代的文化座標。</a:t>
            </a:r>
          </a:p>
          <a:p>
            <a:r>
              <a:t>- 📖 宮廷樂長（Kapellmeister）：德語「樂隊隊長」，統籌一個宮廷所有音樂事務的最高職位；當時＝領主花錢雇來的「音樂總監兼首席研發長」，海頓 1766 年老樂長去世後接任此職。</a:t>
            </a:r>
          </a:p>
          <a:p>
            <a:r>
              <a:t>- 📖 埃斯特哈齊親王（Prince Nikolaus Esterházy）：匈牙利最顯赫貴族之一的當家親王，1714–1790，愛樂成痴、揮金如土，人稱「輝煌者」；當時＝把整支宮廷樂團與歌劇院當私人配備、又願意長年供養作曲家的超級金主。</a:t>
            </a:r>
          </a:p>
          <a:p>
            <a:r>
              <a:t>- 📖 埃斯特哈齊宮（Eszterháza）：親王 1760 年代在匈牙利平原上蓋的洛可可宮殿，內含歌劇院與木偶劇院，因排場而號稱「匈牙利的凡爾賽宮」；當時＝金主砸重金造出的一座「藝術研發園區」。</a:t>
            </a:r>
          </a:p>
          <a:p>
            <a:r>
              <a:t>- 📖 葛雷菲勒女伯爵（Comtesse Élisabeth Greffulhe）：巴黎「美好年代」（Belle Époque）最有影響力的貴族沙龍女主人，1860–1952，全名 Marie Anatole Louise Élisabeth Greffulhe（née de Riquet de Caraman-Chimay）；當時＝能一句話決定誰紅、誰被演出的文化門神，也贊助羅丹、居禮夫人的鐳研究院等。</a:t>
            </a:r>
          </a:p>
          <a:p>
            <a:r>
              <a:t>- 📖 法國大型音樂會協會（Société des Grandes Auditions Musicales de France）：女伯爵 1890 年成立並主持的音樂贊助組織，專演冷門與新作（含華格納、白遼士等），1913 年停辦；當時＝由金主出錢、把「還沒被市場接受的傑作」推上舞台的平台。</a:t>
            </a:r>
          </a:p>
          <a:p>
            <a:r>
              <a:t>- 📖 法蘭西學會（Institut de France）：法國最高學術榮譽機構，轄下有法蘭西學術院、美術院等五院；當時＝藝文界的「終身成就殿堂」，入選等於國家級蓋章，女伯爵 1909 年替佛瑞出力運作。</a:t>
            </a:r>
          </a:p>
          <a:p>
            <a:r>
              <a:t>- 📖 帕凡舞曲（Pavane）：佛瑞 1887 年的作品 50，取名自 16 世紀莊重緩步的宮廷舞；此曲題獻給葛雷菲勒女伯爵，等於把金主的名字永久寫進樂譜扉頁，是「贊助換冠名」最典雅的範例。</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50｜給企業的五點提案（二）</a:t>
            </a:r>
          </a:p>
          <a:p/>
          <a:p>
            <a:r>
              <a:t>【講稿】（停留約 60 秒）第 3 點，像拜羅伊特、像卡內基：把你的場館、或你辦的音樂節，做成一個 iconic 的品牌，把名字冠上去，做成一個讓人非朝聖不可的地方。第 4 點，像維蘇威纜車公司：委託一支「屬於你品牌」的作品，或一首主題曲，讓它替你長期帶客——記住，一次委創，回報可以用百年計。</a:t>
            </a:r>
          </a:p>
          <a:p>
            <a:r>
              <a:t>【講義補充】</a:t>
            </a:r>
          </a:p>
          <a:p>
            <a:r>
              <a:t>- 提案 3＝冠名，提案 4＝委創；兩者共通的算盤，是把「一次性花掉的贊助費」變成「掛著你名字、能自己長期招客的資產」——場館替你聚人氣、收租一百年，一首主題曲替你打廣告一百年。</a:t>
            </a:r>
          </a:p>
          <a:p>
            <a:r>
              <a:t>- 提案 3 造聖地／冠名，經典案例拜羅伊特（Bayreuth）：華格納（Richard Wagner）自建的節慶劇院，原想靠「認股眾籌」募款卻失敗，最後全靠巴伐利亞國王路德維希二世（Ludwig II）一筆約 40 萬馬克的信貸才蓋成（總造價約 42.8 萬馬克，據 Wikipedia），1876 年 8 月首演《尼伯龍根的指環》（Der Ring des Nibelungen）；一座只演單一品牌作品的劇院，至今仍讓全球樂迷每年非去朝聖不可。</a:t>
            </a:r>
          </a:p>
          <a:p>
            <a:r>
              <a:t>- 提案 3 冠名另一經典案例卡內基音樂廳（Carnegie Hall）：鋼鐵大王安德魯·卡內基（Andrew Carnegie）獨資約 110 萬美元（據 Carnegie Hall 官方）興建，1891 年開幕，破例不套用他慣常「你出一半我出一半」的配捐公式、獨力補貼虧損到 1919 年過世；他換到的是紐約最高規格的表演殿堂永遠冠著他的姓，「Carnegie」四個字如今等於音樂界的最高招牌。</a:t>
            </a:r>
          </a:p>
          <a:p>
            <a:r>
              <a:t>- 提案 4 委創帶客，經典案例維蘇威纜車（第七樣的實利案例）：1880 年 6 月維蘇威火山首條登山纜車通車，一首《Funiculì, Funiculà》替它宣傳，樂譜首年賣破百萬份、紅了一百多年；纜車雖在 1944 年火山爆發中毀掉，主題曲卻讓「搭纜車上維蘇威」這件事被永遠記得——一次委創，回報可以用百年計。</a:t>
            </a:r>
          </a:p>
          <a:p>
            <a:r>
              <a:t>- 📖 冠名（naming rights，名稱權）：出資者把企業或個人的名字掛到場館、活動、獎項上，換取長期曝光與品牌連結；當時＝卡內基把姓氏永久刻上一座音樂廳。</a:t>
            </a:r>
          </a:p>
          <a:p>
            <a:r>
              <a:t>- 📖 iconic（標誌性的）：一提到就代表某事物、地位無可取代的；當時＝把場館或音樂節做成「提到它就想到你、非親自去一趟不可」的地標級品牌。</a:t>
            </a:r>
          </a:p>
          <a:p>
            <a:r>
              <a:t>- 📖 拜羅伊特節慶劇院（Bayreuth Festspielhaus）：德國拜羅伊特一座 1876 年落成、專為演出華格納歌劇而建的劇院；每年夏天的拜羅伊特音樂節（Bayreuth Festival）是華格納樂迷的朝聖地，也是「把單一品牌做成聖地」的樣板。</a:t>
            </a:r>
          </a:p>
          <a:p>
            <a:r>
              <a:t>- 📖 卡內基音樂廳（Carnegie Hall）：紐約 1891 年開幕的頂級音樂廳，由鋼鐵鉅子安德魯·卡內基出資並冠名；開幕演出由俄國作曲家柴可夫斯基（Pyotr Ilyich Tchaikovsky）親自指揮，也是他的美國首演。</a:t>
            </a:r>
          </a:p>
          <a:p>
            <a:r>
              <a:t>- 📖 委創／委託創作（commission）：贊助者出錢、指定作曲家為某場合或某品牌量身寫一部新作品；當時＝纜車通車，就催生出替它宣傳的《Funiculì, Funiculà》。</a:t>
            </a:r>
          </a:p>
          <a:p>
            <a:r>
              <a:t>- 📖 《Funiculì, Funiculà》：義大利拿坡里語，意近「纜車上、纜車下」，1880 年鄧扎（Luigi Denza）作曲、記者圖爾科（Peppino Turco）作詞，為慶祝維蘇威火山首條登山纜車通車而作，由里柯第（Ricordi）出版、首年售出逾百萬份樂譜；嚴格說它並非白紙黑字的商業委託（相傳由圖爾科起意、一說當玩笑而作），卻成了纜車事實上的百年主題曲，正是提案 4 想複製的效果。</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51｜給企業的五點提案（三）</a:t>
            </a:r>
          </a:p>
          <a:p/>
          <a:p>
            <a:r>
              <a:t>【講稿】（停留約 65 秒）第 5 點，我要特別講給在座的各位——像梅迪奇，但也像《夜巡》裡那群合資的生意人：當金主，換取聲望與差異化。你可以自己來，也可以揪你的公會、你的交流會，大家合資一起當金主。最後，請把三個詞帶回家，這是所有提案的靈魂：對等、可持續、共融。不是施捨，是對等的合作；不是一次性的曝光，是可持續的關係；不是高高在上，是跟藝術家、跟社群共融。做到這三個詞，你的每一分贊助，都會加倍地回到你身上。</a:t>
            </a:r>
          </a:p>
          <a:p>
            <a:r>
              <a:t>【講義補充】</a:t>
            </a:r>
          </a:p>
          <a:p>
            <a:r>
              <a:t>- 提案 5 的核心：當金主，用贊助換聲望與差異化，而且「一個人來」或「揪公會、揪交流會集體合資」都行——把成本攤到每位成員身上，換到的是集體的名聲與能見度；兩個歷史範本一是個人／家族金主的梅迪奇，二是集體合資金主的《夜巡》民兵連。</a:t>
            </a:r>
          </a:p>
          <a:p>
            <a:r>
              <a:t>- 梅迪奇模式（個人金主）：把銀行獲利回投文化，形成「經濟→文化→政治」的正向循環，用藝術贊助換來社會聲望與統治正當性、再回頭鞏固生意；此模式效率高到連對手都被迫模仿、擴散到全義大利（據 Palladium／Wikipedia）；梅迪奇也是本片巴洛克段落「歌劇金主」的同一個家族，前後呼應。</a:t>
            </a:r>
          </a:p>
          <a:p>
            <a:r>
              <a:t>- 《夜巡》模式（集體金主）：關鍵是沒有人獨扛、也不必獨扛——一群生意人合資把自己畫進同一幅傑作，讓「連隊」這個團體被四百年後的人記得；而且站得越前面、畫得越清楚的人付得越多（每人約 100 荷蘭盾上下浮動），是「投入越多、能見度越高」的分級投資，不是齊頭式的公益攤派。</a:t>
            </a:r>
          </a:p>
          <a:p>
            <a:r>
              <a:t>- 📖 梅迪奇家族（House of Medici）：15 世紀翡冷翠（Florence，今譯佛羅倫斯）的銀行世家，梅迪奇銀行（1397–1494）一度是全歐最富、最受信賴的金融機構，家族亦曾是全歐首富；他們是唐納太羅（Donatello）、波提切利（Botticelli）、米開朗基羅（Michelangelo）、達文西（Leonardo da Vinci）的金主——當時＝把商業獲利投進藝術、換取家族聲望與統治正當性的「贊助教科書」。</a:t>
            </a:r>
          </a:p>
          <a:p>
            <a:r>
              <a:t>- 📖《夜巡》（The Night Watch，1642）：荷蘭畫家林布蘭（Rembrandt van Rijn）的巨幅團體肖像，正式名稱是「班寧．柯克隊長麾下第二區民兵連」；當時＝阿姆斯特丹一群城市民兵合資、每人約 100 荷蘭盾、合計約 1,600 荷蘭盾委製（據載），原本掛在火槍手會館（Kloveniersdoelen）大廳，今藏於荷蘭國家博物館（Rijksmuseum）。</a:t>
            </a:r>
          </a:p>
          <a:p>
            <a:r>
              <a:t>- 📖 城市民兵／火槍手公會（schutterij／kloveniers）：荷蘭城市裡由市民（多為商人、工匠）組成的自衛兼社交團體；當時＝有錢有地位的生意人結社，既維持治安、也一起吃飯應酬、集體出錢彰顯身分——本質就是那個年代的「跨業交流會」，也正好呼應本片講給企業聽的合資當金主。</a:t>
            </a:r>
          </a:p>
          <a:p>
            <a:r>
              <a:t>- 📖 荷蘭盾（guilder／gulden）：17 世紀荷蘭黃金時代的通用貨幣單位；當時＝阿姆斯特丹商人日常記帳的錢，一位民兵掏 100 盾入股一幅團體畫像，是一筆體面、但遠非天價的社交投資。</a:t>
            </a:r>
          </a:p>
          <a:p>
            <a:r>
              <a:t>- 三個記憶點是所有提案的靈魂：對等（不是施捨，是對等的合作）、可持續（不是一次性的曝光，是長期經營的關係）、共融（不是高高在上，是與藝術家、與社群共融）——做到這三點，贊助者投下的每一分錢，都會加倍回到自己身上。</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52｜當代委創（樂譜頁）：今天輪到你當金主</a:t>
            </a:r>
          </a:p>
          <a:p/>
          <a:p>
            <a:r>
              <a:t>【講稿】（停留約 50 秒）各位看這一頁樂譜，它是空白的——因為它還沒被寫出來。從梅迪奇，到路德維希二世，到卡內基，每一個願意委託新作品的金主，都把自己的名字，寫進了未來的文化史。今天，輪到你了。你不需要懂作曲，你只需要做一個決定：委託一部屬於這個時代、屬於你品牌的新作品。三百年後，也許還有人會記得，是誰當年付了這筆錢。</a:t>
            </a:r>
          </a:p>
          <a:p>
            <a:r>
              <a:t>【講義補充】</a:t>
            </a:r>
          </a:p>
          <a:p>
            <a:r>
              <a:t>- 這一頁樂譜刻意留白（佔位代號 d2-modern-piano）：它還沒被寫出來，因為委託它的金主還沒出現——講者把「決定權」交回台下的企業家手上，全場的金主故事到這裡收束成一句提案：你不必懂作曲，你只需要做一個決定、簽一張支票，剩下的交給作曲家。</a:t>
            </a:r>
          </a:p>
          <a:p>
            <a:r>
              <a:t>- 委創的本質是「把品牌名字寫進未來文化史」：付錢的人買到的不是一場演出，而是一部會掛著他名字、自己流傳幾百年的作品；這是本張把四百年贊助史收攏到企業家眼前的核心賣點。</a:t>
            </a:r>
          </a:p>
          <a:p>
            <a:r>
              <a:t>- 三個金主、三種回報——梅迪奇用一場婚慶換來「歌劇之城」的永久聲望、路德維希二世用金援換到一座以他情感為名的劇院神話、卡內基用一棟建築把姓氏刻進世界舞台；共同點是他們付的錢買到的都是一個名字，而不是一次消費。</a:t>
            </a:r>
          </a:p>
          <a:p>
            <a:r>
              <a:t>- 📖 委創（commission，委託創作）：指出資者付錢請作曲家為特定場合或目的寫一部全新的原創作品，不是買現成樂譜，而是「從無到有」把作品叫出來；委託者可以是個人、品牌、樂團或機構，付錢的一方名字就跟著這部作品進入音樂史，這是本場全片「金主視角」的最終行動呼籲。</a:t>
            </a:r>
          </a:p>
          <a:p>
            <a:r>
              <a:t>- 📖 梅迪奇家族（House of Medici）：十五到十八世紀統治佛羅倫斯（Florence，義大利中部城市）的銀行世家與藝術金主；1600 年瑪麗亞．德．梅迪奇（Maria de' Medici）下嫁法王亨利四世（Henry IV of France）的婚慶場合，催生了佩里（Jacopo Peri）的歌劇《尤麗狄茜》（Euridice，據載為現存最早的一部歌劇），等於用一場皇室婚禮的預算替人類催生了「歌劇」這個新產品，呼應開場巴洛克站的梅迪奇／歌劇一頁。</a:t>
            </a:r>
          </a:p>
          <a:p>
            <a:r>
              <a:t>- 📖 路德維希二世（Ludwig II of Bavaria，1845–1886）：巴伐利亞國王，人稱「天鵝王」；1864 年即位後立刻召見負債累累的華格納（Richard Wagner），替他還清債務、贊助《崔斯坦與伊索德》（Tristan und Isolde）與《紐倫堡的名歌手》（Die Meistersinger）首演，據載更以三萬弗羅林（Florin，當時金幣）委託華格納完成《尼伯龍根的指環》（Der Ring des Nibelungen，四聯劇），並借出約十萬塔勒（Taler，約佔預算三分之一）促成拜羅伊特節慶劇院（Bayreuth Festspielhaus）落成，呼應浪漫站的拜羅伊特一頁。</a:t>
            </a:r>
          </a:p>
          <a:p>
            <a:r>
              <a:t>- 📖 卡內基（Andrew Carnegie，1835–1919）：蘇格蘭裔美國「鋼鐵大王」、十九世紀首富之一；他出資約一百一十萬美元（總造價約一百二十五萬美元，據 Wikipedia）在紐約蓋了一座音樂廳，1891 年 5 月 5 日開幕，開幕音樂會請到俄國作曲家柴可夫斯基（Pyotr Tchaikovsky）親自指揮自己的作品完成美國首演，這座廳從此就叫「卡內基音樂廳」（Carnegie Hall），一百三十多年後全世界仍在替他念這個姓氏。</a:t>
            </a:r>
          </a:p>
          <a:p>
            <a:r>
              <a:t>- 📖 樂譜佔位 d2-modern-piano：本張採用的空白樂譜版面代號（d2 為投影片樣式、modern 指全片最後的「現代橋接」站、piano 為鋼琴譜），刻意不放任何譜例，象徵「一部尚未被委託出來的當代新作」，把譜上的空白留給下一位願意出錢的品牌。</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53｜重點回顧：贊助，換到七樣東西</a:t>
            </a:r>
          </a:p>
          <a:p/>
          <a:p>
            <a:r>
              <a:t>【講稿】（停留約 60 秒）我們快速回顧今天的地圖。出錢贊助藝術，你會換到七樣東西：一、地位與權力，梅迪奇；二、集體曝光，《夜巡》那群公會生意人，也就是各位；三、不朽之名，貝多芬的三位貴族、佛瑞的女伯爵、郭德堡的伯爵、梵谷的弟弟；四、聖地與冠名，拜羅伊特、卡內基、三得利、迪士尼；五、人才與凝聚，埃斯特哈齊；六、國家與企業的形象，拿破崙、威爾第、普契尼、賓士、奇美；七、最硬的實利，那家靠一首歌撐起百年的纜車公司。不論你的公司多大、多小，你都當得起這個金主。所以帶走今天唯一的這句話：你成就音樂，音樂也成就你。</a:t>
            </a:r>
          </a:p>
          <a:p>
            <a:r>
              <a:t>【講義補充】</a:t>
            </a:r>
          </a:p>
          <a:p>
            <a:r>
              <a:t>- 這張是全片的「金主資產負債表」——把四百年間出錢者換到的東西收攏成七欄：地位與權力、集體曝光、不朽之名、聖地與冠名、人才與凝聚、國家與企業形象、最硬的實利；聽眾要帶走的不是音樂史，而是「贊助能換到什麼」這份對照表。</a:t>
            </a:r>
          </a:p>
          <a:p>
            <a:r>
              <a:t>- 七欄的代表金主一次對位：地位＝梅迪奇（Medici，佛羅倫斯銀行世家）；曝光＝林布蘭（Rembrandt）《夜巡》裡合資入畫的阿姆斯特丹民兵連商紳（每人分攤畫費、據載出錢多寡還影響在畫中位置，正是「集資也能當金主」的原型，也就是台下各位）；不朽＝替貝多芬、佛瑞、巴赫、梵谷埋單的貴族與親人；冠名＝拜羅伊特、卡內基、三得利、迪士尼四座以出資者命名的殿堂；凝聚＝養整支宮廷樂團的埃斯特哈齊（Esterházy）親王家；形象＝拿破崙、威爾第、普契尼與賓士、奇美；實利＝靠一首歌撐起百年的維蘇威纜車公司。</a:t>
            </a:r>
          </a:p>
          <a:p>
            <a:r>
              <a:t>- 保留原點：豪門（梅迪奇）與集體合資（《夜巡》公會）都可以是金主，規模不是門檻——關鍵是願不願意出錢對號入座。</a:t>
            </a:r>
          </a:p>
          <a:p>
            <a:r>
              <a:t>- 📖 葛雷菲勒女伯爵（Élisabeth, comtesse Greffulhe，1860–1952）：美好年代（Belle Époque，法國十九世紀末的太平繁榮期）巴黎最著名的沙龍名媛；她出資支持並要求把佛瑞（Gabriel Fauré）的《帕凡舞曲》（Pavane, Op. 50）加上合唱與舞蹈，1891 年搬進自家布洛涅森林（Bois de Boulogne）花園派對盛大搬演；當時＝用私人財力把一首管弦小品升級成大型製作、也替自己掙下「藝術贊助者」名聲的金主。</a:t>
            </a:r>
          </a:p>
          <a:p>
            <a:r>
              <a:t>- 📖 凱瑟林伯爵（Hermann Karl von Keyserlingk）：俄國駐薩克森選帝侯宮廷大使；相傳（傳說性質）他長期失眠，出錢請巴赫（Johann Sebastian Bach）寫一套供家中大鍵琴手郭德堡（Johann Gottlieb Goldberg）夜間彈奏的變奏曲，即《郭德堡變奏曲》；當時＝把作品「私人訂製」而讓自己名字與名曲永遠綁在一起的金主（呼應投影片 10）。</a:t>
            </a:r>
          </a:p>
          <a:p>
            <a:r>
              <a:t>- 📖 貝多芬的三位貴族（Beethoven's three noble patrons）：1809 年魯道夫大公（Archduke Rudolph）、洛布科維茨親王（Prince Lobkowitz）、金斯基親王（Prince Kinsky）三方簽約，合力每年給貝多芬（Ludwig van Beethoven）四千弗羅林（florin，當時奧地利的貨幣單位；據 Beethoven-Haus 分別出 1500／700／1800）年金，只求他別接受外地聘約、留在維也納；當時＝用「合資養人」把頂尖創作者留在城裡的機構型金主。</a:t>
            </a:r>
          </a:p>
          <a:p>
            <a:r>
              <a:t>- 📖 西奧·梵谷（Theo van Gogh，1857–1891）：畫家文森·梵谷（Vincent van Gogh）的弟弟、巴黎畫商；他長年寄錢、供顏料與畫布養哥哥作畫；當時＝以親情持續「包養」一位生前幾乎賣不出畫、事後才被證明眼光精準的創作者的私人金主。</a:t>
            </a:r>
          </a:p>
          <a:p>
            <a:r>
              <a:t>- 📖 奇美（Chimei，奇美實業／奇美博物館）：台灣企業家許文龍（Shi Wen-long）1992 年創立於台南的私人博物館，藏有世界最大的提琴收藏（史特拉底瓦里（Stradivari）、瓜奈里（Guarneri）等名琴），並據館方逾三千位台灣裔年輕演奏家免費借用（含馬友友（Yo-Yo Ma）、曾宇謙）；當時＝用「借琴」把企業形象與扶植人才綁在一起的在地金主，最貼近在場聽眾。</a:t>
            </a:r>
          </a:p>
          <a:p>
            <a:r>
              <a:t>- 📖 維蘇威纜車公司（Vesuvius Funicular）：1880 年 6 月 10 日通車、造價據載約 43.5 萬里拉（lire，當時義大利貨幣）的登山纜車；業主為宣傳它，請丹薩（Luigi Denza）與圖爾科（Peppino Turco）寫了《Funiculì, Funiculà》，樂譜由里柯第（Ricordi）出版、據載一年賣破百萬份；當時＝史上最成功的「主題曲廣告」，也是本片「實利」一欄的招牌案例（呼應本站纜車公司的故事）。</a:t>
            </a:r>
          </a:p>
          <a:p>
            <a:r>
              <a:t>- 收束句「你成就音樂，音樂也成就你」是這份對照表的結論：不論公司規模大小，只要肯出錢，都能對號入座成為某一欄的金主；此頁重點不在音樂多美，而在贊助這筆帳「划得來」。</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54｜行動呼籲：成為下一個梅迪奇</a:t>
            </a:r>
          </a:p>
          <a:p/>
          <a:p>
            <a:r>
              <a:t>【講稿】（停留約 45 秒）你不需要是國王，不需要是鋼鐵大王。梅迪奇可以是一個銀行王朝，也可以是《夜巡》裡合資的一群生意人，甚至是一個相信弟弟的哥哥。你只需要做一件「對等、可持續、共融」的事。也許今天回去，你就可以開始：找一位你欣賞的、對的藝術家，或是揪上你的公會、你的交流會，一起提一個小小的委託創作。梅迪奇當年，也是從一場婚禮的一齣歌劇開始的。</a:t>
            </a:r>
          </a:p>
          <a:p>
            <a:r>
              <a:t>【講義補充】</a:t>
            </a:r>
          </a:p>
          <a:p>
            <a:r>
              <a:t>- 行動清單（今天回去就能起步）：（1）找一位你真心欣賞、方向對的藝術家；（2）或揪上你的公會、跨業交流會、商圈同業，合資提一個小型「委託創作」；（3）先談好你要換到什麼（冠名、首演保留席、品牌露出）與續做的節奏，讓它不是放一次就沒的煙火。</a:t>
            </a:r>
          </a:p>
          <a:p>
            <a:r>
              <a:t>- 三種贊助者原型，對應你不同的量能：一個人／一個家族撐起全部（梅迪奇、卡內基）、一群生意人合資分攤（《夜巡》）、一位相信家人的親人默默供養（梵谷兄弟）——重點從來不是口袋多深，是願不願意當那個出錢又長期陪跑的人。</a:t>
            </a:r>
          </a:p>
          <a:p>
            <a:r>
              <a:t>- 全片記憶點、也是給你自己的驗收標準：對等（藝術家是夥伴、不是來乞討）、可持續（一年固定一檔，比一次性爆買更有複利）、共融（把員工、客戶、社區一起涵蓋進這件事）。</a:t>
            </a:r>
          </a:p>
          <a:p>
            <a:r>
              <a:t>- 📖 梅迪奇家族（Medici）：十五世紀起主宰佛羅倫斯的銀行世家，靠「梅迪奇銀行」放款給教廷與王室起家，再把財富轉成贊助——委託建築、蓄養藝術家、在自家婚禮上砸錢辦最時髦的娛樂。金主不必是國王，銀行世家、布商、商會都能是梅迪奇。</a:t>
            </a:r>
          </a:p>
          <a:p>
            <a:r>
              <a:t>- 📖 《夜巡》（The Night Watch／De Nachtwacht，1642）：林布蘭（Rembrandt van Rijn）為阿姆斯特丹一支民兵連隊畫的巨幅團體肖像。畫中約十八名民兵各自出資、按畫面站位付費，每人約一百荷蘭盾（guilder，據載），合計約一千六百盾——這是一張「大家合資、共同掛名」的委託，正是公會／交流會合資委創的四百年前版本。</a:t>
            </a:r>
          </a:p>
          <a:p>
            <a:r>
              <a:t>- 📖 鋼鐵大王卡內基（Andrew Carnegie）與卡內基音樂廳（Carnegie Hall）：白手起家的鋼鐵鉅子，出資約一百一十萬美元（據 Carnegie Hall）在紐約蓋起這座音樂廳，1891 年 5 月開幕、由俄國作曲家柴可夫斯基（Pyotr Ilyich Tchaikovsky）親自登台指揮。這是「一位大金主蓋一座場館、造福整座城市」的模式；講稿說的「鋼鐵大王」即指他。</a:t>
            </a:r>
          </a:p>
          <a:p>
            <a:r>
              <a:t>- 📖 梵谷兄弟（van Gogh）：史上最著名的「家人即贊助人」案例；真實方向其實與講稿的比喻相反——是身為畫商的弟弟西奧（Theo van Gogh，任職 Goupil、後併入 Boussod Valadon 畫廊）按月寄錢、供給顏料，養著畫家哥哥文森（Vincent），文森生前幾乎全靠這筆家用作畫。贊助不必轟轟烈烈，一份穩定的月供也算數。</a:t>
            </a:r>
          </a:p>
          <a:p>
            <a:r>
              <a:t>- 📖 委託創作（commission，簡稱委創）：出資者付錢請藝術家「為某個場合、量身新創一部作品」，作品因這筆錢而誕生。梅迪奇當年正是「從一場婚禮的一齣歌劇開始」——1600 年瑪麗亞·德·梅迪奇（Maria de' Medici）下嫁法王亨利四世（Henri IV）的婚禮上，於彼提宮（Palazzo Pitti）演出佩里（Jacopo Peri）的《尤莉迪絲》（Euridice），這是現存最早的歌劇；一場婚禮的一筆委託，開啟了延續四百年的藝術形式。</a:t>
            </a:r>
          </a:p>
          <a:p>
            <a:r>
              <a:t>【影片操作】 無。</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55｜全場帶動唱：Funiculì, Funiculà</a:t>
            </a:r>
          </a:p>
          <a:p/>
          <a:p>
            <a:r>
              <a:t>【講稿】（停留約 15–20 分鐘，全場帶動唱）現在，請各位親自當一次「內容的傳播者」——我們一起唱纜車公司那首一百四十年前的廣告歌。別緊張，只要學會兩句。第一句：「Jamme, jamme, 'ncoppa jamme jà!」（亞姆美、亞姆美，恩苦帕・亞姆美・亞！）意思是「走吧走吧，一起上山去」。第二句更簡單：「Funiculì, funiculà!」（福尼庫利、福尼庫拉！）就是「纜車上山、纜車下山」的歡呼。我先唱一次給各位聽；然後我們全場一起來兩次；第三次，請加上拍手。不用唱準，只要唱開心。（帶動唱進行，可反覆多輪、分組合唱、加拍手）……太棒了！各位剛剛唱的，是一支 1880 年的廣告。一個好的贊助內容，一百四十年後，還有一整個場子的人替它免費傳唱——這，就是投資美的複利。也是我今天想送給各位的一句話：你成就音樂，音樂也成就你。</a:t>
            </a:r>
          </a:p>
          <a:p>
            <a:r>
              <a:t>【講義補充】</a:t>
            </a:r>
          </a:p>
          <a:p>
            <a:r>
              <a:t>- 副歌拼讀（保留原註）：Jamme, jamme, 'ncoppa jamme jà!（走吧走吧，一起上山去）／Funiculì, funiculà!（纜車上山、纜車下山）。</a:t>
            </a:r>
          </a:p>
          <a:p>
            <a:r>
              <a:t>- 流程（保留原註）：講師領唱 1 次→全場 2 次→第 3 次加拍手，可再分組合唱。</a:t>
            </a:r>
          </a:p>
          <a:p>
            <a:r>
              <a:t>- 段落定位（保留原註）：這一段即「歌曲教唱 20 分鐘」，與 90 分鐘主體分開計時。</a:t>
            </a:r>
          </a:p>
          <a:p>
            <a:r>
              <a:t>- 收尾金句（保留原註）：你成就音樂，音樂也成就你——投資美，會產生複利。</a:t>
            </a:r>
          </a:p>
          <a:p>
            <a:r>
              <a:t>- 一句話定性這張投影片：各位剛剛全場合唱、還加了拍手的，本質上是一支 1880 年的「置入性廣告」；它替一家早已消失的纜車公司，免費宣傳了一百四十多年——這就是贊助方要聽懂的重點。</a:t>
            </a:r>
          </a:p>
          <a:p>
            <a:r>
              <a:t>- 這首歌不是「純創作」，而是一支為了促銷新開幕的維蘇威火山（Mount Vesuvius）登山纜車而生的行銷內容：作詞作曲於 1880 年，正對應那條纜車在同年 6 月 6 日通車。金主的痛點很現實——纜車蓋好了卻乏人問津，觀光客與那不勒斯人寧可騎驢、騎馬上山，覺得纜車又貴又危險；於是用一首朗朗上口的歌，把「搭纜車上山」包裝成浪漫時髦的事。</a:t>
            </a:r>
          </a:p>
          <a:p>
            <a:r>
              <a:t>- 這也是「贊助內容」的經典 ROI 案例：實體資產（纜車）會折舊、會被天災摧毀、會停業；但當年那筆投在「一首好歌」上的錢，換到的資產一唱就是四個世代，至今全球婚禮、球場、廣告、卡通仍在替它續命——這正是講稿說的「投資美的複利」。</a:t>
            </a:r>
          </a:p>
          <a:p>
            <a:r>
              <a:t>- 呼應第七樣（Funiculì 系列與纜車公司的故事）：纜車本身在 1906、1944 兩度被火山爆發掩埋摧毀、最終停駛走入歷史，公司沒了，歌卻活著；金主買下的「硬體」歸零，買下的「內容」增值——這是給企業家最直白的資產對比。</a:t>
            </a:r>
          </a:p>
          <a:p>
            <a:r>
              <a:t>- 傳唱力的極致證明：這支「廣告歌」流行到連理查·史特勞斯（Richard Strauss）都以為它是那不勒斯民謠，1886 年遊義大利時把旋律寫進自己的交響詩《來自義大利》（Aus Italien）；作曲家丹薩提告並勝訴，史特勞斯得付版稅。一支置入廣告紅到被誤認成「無名氏民謠」，對品牌行銷而言正是滲透最深的境界。</a:t>
            </a:r>
          </a:p>
          <a:p>
            <a:r>
              <a:t>- 銷售數字（據 Wikipedia／Casa Ricordi）：樂譜由里柯第（Casa Ricordi，即本片浪漫站「里柯第×威爾第」的同一家出版巨頭）發行，一年內賣破一百萬份——在沒有電台、唱片的年代，這是驚人的擴散，也讓贊助方的「廣告」自己就是一門賺錢生意。</a:t>
            </a:r>
          </a:p>
          <a:p>
            <a:r>
              <a:t>- 首演場合的軼事：這首歌最早不是在大劇院，而是 1880 年在史塔比亞海堡（Castellammare di Stabia）的奎西薩納飯店（Quisisana Hotel）唱出，同年再搬上那不勒斯的皮耶迪格羅塔歌謠節（Festa di Piedigrotta）——等於在當時最大的「歌曲發表會＋市集」上做首發，行銷節奏拿捏精準。</a:t>
            </a:r>
          </a:p>
          <a:p>
            <a:r>
              <a:t>- 出資與經營這條纜車的「企業方」值得記住：最初由企業家奧布利赫特（Ernesto Emanuele Oblieght）推動、羅馬銀行（Banco di Roma）支持、米蘭的奧利維耶里（Emilio Olivieri）承建；1888 年英國旅行社湯瑪斯·庫克父子公司（Thomas Cook &amp; Son）的小庫克（John Mason Cook）買下經營權，把它納入自家觀光路線——是把「一首歌＋一條纜車＋旅行社通路」串成完整生意的早期範例。</a:t>
            </a:r>
          </a:p>
          <a:p>
            <a:r>
              <a:t>- 📖 Funiculì, funiculà（拿坡里方言）：字面就是「纜車往上、纜車往下」，用纜車上下行的動作當歡呼；當時＝那條維蘇威登山纜車的擬聲式口號，等於今天的品牌 slogan／廣告口白。</a:t>
            </a:r>
          </a:p>
          <a:p>
            <a:r>
              <a:t>- 📖 廣告神曲／jingle（英文，廣告歌）：為推銷特定商品或服務而寫、刻意好記好唱的短曲；當時＝「Funiculì, Funiculà」常被視為史上最早的商業廣告歌之一，商品就是那條纜車。</a:t>
            </a:r>
          </a:p>
          <a:p>
            <a:r>
              <a:t>- 📖 登山纜索鐵路（funicular，纜車）：靠鋼索牽引、兩節車廂一上一下互為配重、行駛陡坡的鐵道；當時＝1880 年新開通、要把遊客載上維蘇威火山口的觀光設施，也是這首歌要推銷的「產品」。</a:t>
            </a:r>
          </a:p>
          <a:p>
            <a:r>
              <a:t>- 📖 維蘇威火山（Mount Vesuvius）：義大利那不勒斯灣旁的活火山，公元 79 年曾埋掉龐貝城；當時＝纜車與這首歌共同的舞台，遊客花錢就是為了上這座火山看火山口。</a:t>
            </a:r>
          </a:p>
          <a:p>
            <a:r>
              <a:t>- 📖 路易吉·丹薩（Luigi Denza，1846–1922）：本曲作曲者，那不勒斯出身的作曲家；當時＝把委託題材寫成傳世旋律的人，日後長居倫敦、任教皇家音樂學院，正是他出面告贏史特勞斯、確立這首「廣告歌」的版權財產權。</a:t>
            </a:r>
          </a:p>
          <a:p>
            <a:r>
              <a:t>- 📖 佩皮諾·圖爾科（Peppino Turco，本名 Giuseppe Turco）：本曲作詞者，那不勒斯記者兼詩人；當時＝據載是他起意（一說半開玩笑）借纜車通車寫歌，等於這支廣告的「文案企劃」。</a:t>
            </a:r>
          </a:p>
          <a:p>
            <a:r>
              <a:t>- 📖 皮耶迪格羅塔歌謠節（Festa di Piedigrotta）：那不勒斯每年 9 月的宗教節慶兼新歌發表盛會，近代拿坡里歌謠多在此打響；當時＝這首歌的「首發平台」，等於當年最大的音樂宣傳檔期。</a:t>
            </a:r>
          </a:p>
          <a:p>
            <a:r>
              <a:t>- 📖 里柯第（Casa Ricordi）：1808 年創立於米蘭的義大利音樂出版龍頭，也出版威爾第（Giuseppe Verdi）等大師作品；當時＝把這首歌印成樂譜賣進千家萬戶、讓「廣告」自負盈虧還大賺的通路商，呼應本片浪漫站「里柯第×威爾第」的出版產業主線。</a:t>
            </a:r>
          </a:p>
          <a:p>
            <a:r>
              <a:t>- 📖 交響詩（tone poem／symphonic poem）：以管弦樂描繪故事、風景或意念、通常單樂章的樂曲；當時＝史特勞斯《來自義大利》就是這種形式，他把誤認為民謠的本曲旋律放了進去。</a:t>
            </a:r>
          </a:p>
          <a:p>
            <a:r>
              <a:t>- 📖 版稅（royalty）：使用他人受著作權保護的作品時，須按約定付給權利人的報酬；當時＝丹薩告贏史特勞斯後所收的，正是這筆錢，證明「一首廣告歌」是能持續生錢的資產。</a:t>
            </a:r>
          </a:p>
          <a:p>
            <a:r>
              <a:t>- 📖 湯瑪斯·庫克父子公司（Thomas Cook &amp; Son）：十九世紀英國最大的旅行社、近代團體旅遊的開創者；當時＝1888 年買下維蘇威纜車經營權、把它包進觀光行程的企業金主，是「贊助方＋通路方」合體的教科書案例。</a:t>
            </a:r>
          </a:p>
          <a:p>
            <a:r>
              <a:t>【影片操作】 以 Pavarotti 版當示範與伴唱底：先放副歌段讓大家聽一次，帶動唱時音量壓低當伴奏。播前：「聽聽歌王怎麼唱，等一下換我們。」播後：「你們剛剛完成了一次一百四十年的內容傳播。」</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56｜Q&amp;A 與延伸聆聽</a:t>
            </a:r>
          </a:p>
          <a:p/>
          <a:p>
            <a:r>
              <a:t>【講稿】（停留約 60 秒）進入提問時間。我先反問各位一個問題當熱身：你的品牌，最像今天哪一位金主？是想當獨自出手的梅迪奇，想打造聖地的拜羅伊特，還是想揪一群人合資的《夜巡》公會？也歡迎把今天聽到的曲子帶回家細聽：巴赫《郭德堡變奏曲》、貝多芬〈歡樂頌〉、丹薩《Funiculì》、佛瑞《帕凡舞曲》、威爾第〈Va, pensiero〉、德布西《月光》。如果有機會旅行，幾座場館值得朝聖：紐約卡內基音樂廳、德國拜羅伊特節慶劇院、東京三得利音樂廳，還有就在台南的奇美博物館。好，現在把時間交給各位。</a:t>
            </a:r>
          </a:p>
          <a:p>
            <a:r>
              <a:t>【講義補充】</a:t>
            </a:r>
          </a:p>
          <a:p>
            <a:r>
              <a:t>- 這頁把全片的贊助者原型收攏成三條可選路徑，讓在座企業「對號入座」：獨資全包（梅迪奇）、蓋一座專屬聖殿（拜羅伊特）、或揪一群人合資冠名（《夜巡》公會）。三種都被四百年史實驗證過，差別只在你想投多深、要幾個人分攤成本。</a:t>
            </a:r>
          </a:p>
          <a:p>
            <a:r>
              <a:t>- 📖 梅迪奇模式（Medici）：文藝復興時期佛羅倫斯（Florence）的銀行世家，以家族財富長期獨力供養藝術家與音樂家，並在開場一站促成了歌劇的誕生；當時＝「一位金主全包一個人才或一間機構」的最集中打法，換到的是家族聲望與城市話語權。</a:t>
            </a:r>
          </a:p>
          <a:p>
            <a:r>
              <a:t>- 📖 拜羅伊特模式（Bayreuth／拜羅伊特節慶劇院 Bayreuth Festspielhaus）：作曲家華格納（Richard Wagner）為自己作品量身打造的專屬歌劇院，位於德國巴伐利亞小鎮拜羅伊特，1876 年 8 月落成、首演全本《尼貝龍指環》。原想靠各地「華格納協會」眾籌，卻募款不足，最後由巴伐利亞國王路德維希二世（Ludwig II）以貸款補足；據載總造價約 42.8 萬馬克、國王借款約 40 萬馬克。當時＝「不投人、直接投一整座場館」的重資產模式。</a:t>
            </a:r>
          </a:p>
          <a:p>
            <a:r>
              <a:t>- 📖 《夜巡》公會模式（The Night Watch）：林布蘭（Rembrandt van Rijn）1642 年為阿姆斯特丹民兵隊（射手公會，schutterij）繪製的巨幅團體肖像，掛在公會宴會廳；全隊約 18 名成員合資，據載每人約付 100 荷蘭盾、合計約 1,600 盾。當時＝「一群人按份出錢、共享冠名與版面」的眾籌打法，最接近今天的贊助聯盟或聯合冠名。</a:t>
            </a:r>
          </a:p>
          <a:p>
            <a:r>
              <a:t>- 📖 卡內基音樂廳（Carnegie Hall）：紐約地標音樂廳，由鋼鐵大亨安德魯．卡內基（Andrew Carnegie）出資興建，1891 年 5 月 5 日開幕（開幕週邀來柴可夫斯基（Tchaikovsky）客席指揮），據載造價約 110 萬美元。冠名即回報——一座頂級場館把出資者的姓氏，永久刻進了世界音樂史。</a:t>
            </a:r>
          </a:p>
          <a:p>
            <a:r>
              <a:t>- 📖 三得利音樂廳（Suntory Hall）：東京赤坂 Ark Hills 園區內的葡萄園式音樂廳，由日本飲料集團三得利（Suntory）興建，1986 年 10 月 12 日開幕，適逢該公司威士忌釀造 60 週年紀念（指揮家卡拉揚（Herbert von Karajan）讚為「聲音的珠寶盒」）。當時＝企業以文化場館做長線品牌投資的教科書級案例。</a:t>
            </a:r>
          </a:p>
          <a:p>
            <a:r>
              <a:t>- 📖 奇美博物館（Chimei Museum）：位於台南都會公園，是奇美實業（Chimei，以 ABS 塑膠原料起家）創辦人許文龍跨越八十年的圓夢之作；2015 年新館開幕、館舍捐給政府後取得 50 年經營權，並擁有全球數量最完整的名琴（史特拉底瓦里 Stradivari 等）收藏。就在台南，是本地企業把獲利轉成永久文化資產的活例。</a:t>
            </a:r>
          </a:p>
          <a:p>
            <a:r>
              <a:t>- 收束一句：四座朝聖場館裡有三座直接冠上出資者的姓名或企業名（卡內基、三得利、奇美），場館因此是所有贊助形式裡最耐久的一種、冠名權就是最長效的品牌權；六首延伸聆聽（巴赫《郭德堡變奏曲》、貝多芬〈歡樂頌〉、丹薩《Funiculì》、佛瑞《帕凡舞曲》、威爾第〈Va, pensiero〉、德布西《月光》）則各自對應片中一位金主，帶回家細聽時不妨想想：是誰出的錢，才讓它得以存在。</a:t>
            </a:r>
          </a:p>
          <a:p>
            <a:r>
              <a:t>【影片操作】 Q&amp;A 期間輕放《月光》當背景墊樂。播前：「讓音樂陪我們聊天。」</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投影片 57｜謝謝：願音樂，成就你的不朽</a:t>
            </a:r>
          </a:p>
          <a:p/>
          <a:p>
            <a:r>
              <a:t>【講稿】（停留約 40 秒）從梅迪奇到你——古往今來，換的其實都是同一件事：出一筆錢投資美，換回錢買不到的東西。願各位記得今天這句話：你成就音樂，音樂也成就你——讓美與商業，互相成就，而不是互相消耗。謝謝各位今天的聆聽。我的聯絡方式在螢幕上，期待有一天，能聽到由你委託、由你成就的那一部新作品。謝謝大家。</a:t>
            </a:r>
          </a:p>
          <a:p>
            <a:r>
              <a:t>【講義補充】</a:t>
            </a:r>
          </a:p>
          <a:p>
            <a:r>
              <a:t>- 收尾金句（保留）：你成就音樂，音樂也成就你；讓美與商業互相成就，而不是互相消耗。</a:t>
            </a:r>
          </a:p>
          <a:p>
            <a:r>
              <a:t>- 全片主軸回收：從梅迪奇（Medici）到今天在座的你，四百年來金主掏的是一筆錢，換回的始終是同一樣——錢買不到的「不朽署名」；贊助者的名字，靠著他出資成就的那部作品，被後人一路記到今天。</a:t>
            </a:r>
          </a:p>
          <a:p>
            <a:r>
              <a:t>- 📖 梅迪奇家族（House of Medici）：十五至十八世紀佛羅倫斯（Florence）的銀行世家，靠梅迪奇銀行（Medici Bank）致富後成為文藝復興「教父級」贊助者，出資對象含達文西（Leonardo da Vinci）、米開朗基羅（Michelangelo）等；音樂上，歌劇的誕生與梅迪奇宮廷密切相關（1600 年佩里（Jacopo Peri）的《尤麗迪絲》（Euridice）在梅迪奇婚禮上演出），其宮廷更供養了鋼琴發明人克里斯托福里（Bartolomeo Cristofori）——今天全世界的鋼琴，源頭是一位金主的家用樂器預算。</a:t>
            </a:r>
          </a:p>
          <a:p>
            <a:r>
              <a:t>- 呼應前面各站的贊助者：埃斯特哈齊親王（Esterházy）供養海頓（Joseph Haydn）近 30 年，換到「交響曲之父」為家族寫下上百部作品；貝多芬（Ludwig van Beethoven）1809 年獲三位維也納貴族合資的終身年金，唯一條件是「留在維也納作曲」；這些贊助者今天被記住，靠的正是他們出錢成就的音樂。</a:t>
            </a:r>
          </a:p>
          <a:p>
            <a:r>
              <a:t>- 📖 委託／委創（commission）：贊助者出錢請作曲家為特定場合或特定人「量身訂做」一部新作品；當時＝一手交錢、一手在樂譜扉頁署上出資者之名，等於買下一份會傳世的冠名權。這正是講師在收尾邀請在座企業家去做的事——成為某部新作的「第一位金主」。</a:t>
            </a:r>
          </a:p>
          <a:p>
            <a:r>
              <a:t>- 📖 題獻（dedication）：作曲家把作品「獻給」某位贊助者，將其名字印在樂譜開頭；當時＝最高規格的公開致謝兼廣告，使贊助者之名與作品綁定、隨作品流傳（貝多芬多部作品即題獻給資助他的親王與大公）。</a:t>
            </a:r>
          </a:p>
          <a:p>
            <a:r>
              <a:t>- 講師資訊與聯絡方式（保留）：投影片保留講師姓名、Email／電話與委託洽詢窗口，方便有意贊助或委創的企業於會後接洽。</a:t>
            </a:r>
          </a:p>
          <a:p>
            <a:r>
              <a:t>【影片操作】 散場時循環輕放《月光》，與開場呼應。播前（散場）：「慢走，把這份月光帶回家。」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yf2rbcrZzDQ"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chQ7cbSUU-s" TargetMode="Externa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uyQsekYvhpk"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xeRwBiu4wfQ" TargetMode="Externa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hyperlink" Target="https://www.youtube.com/watch?v=q8iTTRG-h3w"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vA0wLGb92fs" TargetMode="Externa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hyperlink" Target="https://www.youtube.com/watch?v=8uqPnY5hQDs" TargetMode="Externa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Wkt8CsZR8bY" TargetMode="Externa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RVi6GgQBkwE" TargetMode="Externa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hyperlink" Target="https://www.youtube.com/watch?v=plEnfABwsSQ" TargetMode="Externa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f5d86xl4qHg" TargetMode="Externa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Wkt8CsZR8bY" TargetMode="Externa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pic>
        <p:nvPicPr>
          <p:cNvPr id="2" name="Picture 1" descr="cover-baroque-to-impressionism.jpg"/>
          <p:cNvPicPr>
            <a:picLocks noChangeAspect="1"/>
          </p:cNvPicPr>
          <p:nvPr/>
        </p:nvPicPr>
        <p:blipFill>
          <a:blip r:embed="rId2"/>
          <a:srcRect t="22504" b="22504"/>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241A11">
              <a:alpha val="5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880360"/>
            <a:ext cx="12191695" cy="3977639"/>
          </a:xfrm>
          <a:prstGeom prst="rect">
            <a:avLst/>
          </a:prstGeom>
          <a:solidFill>
            <a:srgbClr val="1A110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19" y="2011680"/>
            <a:ext cx="9997135" cy="3840480"/>
          </a:xfrm>
          <a:prstGeom prst="rect">
            <a:avLst/>
          </a:prstGeom>
          <a:noFill/>
        </p:spPr>
        <p:txBody>
          <a:bodyPr wrap="square" anchor="t" lIns="0" rIns="0" tIns="0" bIns="0">
            <a:noAutofit/>
          </a:bodyPr>
          <a:lstStyle/>
          <a:p>
            <a:pPr algn="l">
              <a:lnSpc>
                <a:spcPct val="115000"/>
              </a:lnSpc>
              <a:spcBef>
                <a:spcPts val="0"/>
              </a:spcBef>
              <a:spcAft>
                <a:spcPts val="1000"/>
              </a:spcAft>
            </a:pPr>
            <a:r>
              <a:rPr sz="1500" b="1">
                <a:solidFill>
                  <a:srgbClr val="F2D7A6"/>
                </a:solidFill>
                <a:latin typeface="Microsoft JhengHei"/>
                <a:ea typeface="Microsoft JhengHei"/>
                <a:cs typeface="Microsoft JhengHei"/>
              </a:rPr>
              <a:t>古今中外，聰明的金主如何用藝術，換到錢買不到的東西</a:t>
            </a:r>
          </a:p>
          <a:p>
            <a:pPr algn="l">
              <a:lnSpc>
                <a:spcPct val="102000"/>
              </a:lnSpc>
              <a:spcBef>
                <a:spcPts val="0"/>
              </a:spcBef>
              <a:spcAft>
                <a:spcPts val="1200"/>
              </a:spcAft>
            </a:pPr>
            <a:r>
              <a:rPr sz="5000" b="1">
                <a:solidFill>
                  <a:srgbClr val="FFFFFF"/>
                </a:solidFill>
                <a:latin typeface="Microsoft JhengHei"/>
                <a:ea typeface="Microsoft JhengHei"/>
                <a:cs typeface="Microsoft JhengHei"/>
              </a:rPr>
              <a:t>音樂與企業：贊助藝術，如何塑造你的地位、形象與品牌</a:t>
            </a:r>
          </a:p>
          <a:p>
            <a:pPr algn="l">
              <a:lnSpc>
                <a:spcPct val="120000"/>
              </a:lnSpc>
              <a:spcBef>
                <a:spcPts val="0"/>
              </a:spcBef>
              <a:spcAft>
                <a:spcPts val="500"/>
              </a:spcAft>
            </a:pPr>
            <a:r>
              <a:rPr sz="1700" b="0">
                <a:solidFill>
                  <a:srgbClr val="EADFC8"/>
                </a:solidFill>
                <a:latin typeface="Microsoft JhengHei"/>
                <a:ea typeface="Microsoft JhengHei"/>
                <a:cs typeface="Microsoft JhengHei"/>
              </a:rPr>
              <a:t>副標：你成就音樂，音樂也成就你</a:t>
            </a:r>
          </a:p>
          <a:p>
            <a:pPr algn="l">
              <a:lnSpc>
                <a:spcPct val="120000"/>
              </a:lnSpc>
              <a:spcBef>
                <a:spcPts val="0"/>
              </a:spcBef>
              <a:spcAft>
                <a:spcPts val="500"/>
              </a:spcAft>
            </a:pPr>
            <a:r>
              <a:rPr sz="1700" b="0">
                <a:solidFill>
                  <a:srgbClr val="EADFC8"/>
                </a:solidFill>
                <a:latin typeface="Microsoft JhengHei"/>
                <a:ea typeface="Microsoft JhengHei"/>
                <a:cs typeface="Microsoft JhengHei"/>
              </a:rPr>
              <a:t>你現在看到的這支廣告、聽到的《月光》，正是 Chanel No.5 那支「史上最貴香水廣告」用的音樂</a:t>
            </a:r>
          </a:p>
        </p:txBody>
      </p:sp>
      <p:sp>
        <p:nvSpPr>
          <p:cNvPr id="6" name="Rounded Rectangle 5"/>
          <p:cNvSpPr/>
          <p:nvPr/>
        </p:nvSpPr>
        <p:spPr>
          <a:xfrm>
            <a:off x="7162495" y="5166360"/>
            <a:ext cx="4480560" cy="1078992"/>
          </a:xfrm>
          <a:prstGeom prst="roundRect">
            <a:avLst>
              <a:gd name="adj" fmla="val 10000"/>
            </a:avLst>
          </a:prstGeom>
          <a:solidFill>
            <a:srgbClr val="3F2A1C"/>
          </a:solidFill>
          <a:ln w="12700">
            <a:solidFill>
              <a:srgbClr val="8A5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63663" y="5422392"/>
            <a:ext cx="566928" cy="566928"/>
          </a:xfrm>
          <a:prstGeom prst="ellipse">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3663" y="5404104"/>
            <a:ext cx="566928" cy="566928"/>
          </a:xfrm>
          <a:prstGeom prst="rect">
            <a:avLst/>
          </a:prstGeom>
          <a:noFill/>
        </p:spPr>
        <p:txBody>
          <a:bodyPr wrap="square" anchor="ctr" lIns="0" rIns="0" tIns="0" bIns="0">
            <a:noAutofit/>
          </a:bodyPr>
          <a:lstStyle/>
          <a:p>
            <a:pPr algn="ctr">
              <a:lnSpc>
                <a:spcPct val="115000"/>
              </a:lnSpc>
              <a:spcBef>
                <a:spcPts val="0"/>
              </a:spcBef>
              <a:spcAft>
                <a:spcPts val="600"/>
              </a:spcAft>
            </a:pPr>
            <a:r>
              <a:rPr sz="1600" b="1">
                <a:solidFill>
                  <a:srgbClr val="FFFFFF"/>
                </a:solidFill>
                <a:latin typeface="Microsoft JhengHei"/>
                <a:ea typeface="Microsoft JhengHei"/>
                <a:cs typeface="Microsoft JhengHei"/>
              </a:rPr>
              <a:t>▶</a:t>
            </a:r>
          </a:p>
        </p:txBody>
      </p:sp>
      <p:sp>
        <p:nvSpPr>
          <p:cNvPr id="9" name="TextBox 8"/>
          <p:cNvSpPr txBox="1"/>
          <p:nvPr/>
        </p:nvSpPr>
        <p:spPr>
          <a:xfrm>
            <a:off x="8131759" y="5276088"/>
            <a:ext cx="3282696" cy="859536"/>
          </a:xfrm>
          <a:prstGeom prst="rect">
            <a:avLst/>
          </a:prstGeom>
          <a:noFill/>
        </p:spPr>
        <p:txBody>
          <a:bodyPr wrap="square" anchor="ctr" lIns="0" rIns="0" tIns="0" bIns="0">
            <a:noAutofit/>
          </a:bodyPr>
          <a:lstStyle/>
          <a:p>
            <a:pPr algn="l">
              <a:lnSpc>
                <a:spcPct val="105000"/>
              </a:lnSpc>
              <a:spcBef>
                <a:spcPts val="0"/>
              </a:spcBef>
              <a:spcAft>
                <a:spcPts val="200"/>
              </a:spcAft>
            </a:pPr>
            <a:r>
              <a:rPr sz="1000" b="1">
                <a:solidFill>
                  <a:srgbClr val="AF8230"/>
                </a:solidFill>
                <a:latin typeface="Microsoft JhengHei"/>
                <a:ea typeface="Microsoft JhengHei"/>
                <a:cs typeface="Microsoft JhengHei"/>
              </a:rPr>
              <a:t>YouTube　</a:t>
            </a:r>
            <a:r>
              <a:rPr sz="1350" b="1">
                <a:solidFill>
                  <a:srgbClr val="F5EBD8"/>
                </a:solidFill>
                <a:latin typeface="Microsoft JhengHei"/>
                <a:ea typeface="Microsoft JhengHei"/>
                <a:cs typeface="Microsoft JhengHei"/>
              </a:rPr>
              <a:t>Chanel No.5《The Film》——Nicole Kidman（Ba…</a:t>
            </a:r>
          </a:p>
          <a:p>
            <a:pPr algn="l">
              <a:lnSpc>
                <a:spcPct val="100000"/>
              </a:lnSpc>
              <a:spcBef>
                <a:spcPts val="0"/>
              </a:spcBef>
              <a:spcAft>
                <a:spcPts val="200"/>
              </a:spcAft>
            </a:pPr>
            <a:r>
              <a:rPr sz="1050" b="0">
                <a:solidFill>
                  <a:srgbClr val="C9B492"/>
                </a:solidFill>
                <a:latin typeface="Microsoft JhengHei"/>
                <a:ea typeface="Microsoft JhengHei"/>
                <a:cs typeface="Microsoft JhengHei"/>
              </a:rPr>
              <a:t>入場播放，讓觀眾「看到」這段《月光》就是史上最貴的香水廣告（不只是單聽音樂）</a:t>
            </a:r>
          </a:p>
          <a:p>
            <a:pPr algn="l">
              <a:lnSpc>
                <a:spcPct val="100000"/>
              </a:lnSpc>
              <a:spcBef>
                <a:spcPts val="0"/>
              </a:spcBef>
              <a:spcAft>
                <a:spcPts val="600"/>
              </a:spcAft>
            </a:pPr>
            <a:r>
              <a:rPr sz="1000" b="0">
                <a:solidFill>
                  <a:srgbClr val="AF8230"/>
                </a:solidFill>
                <a:latin typeface="Microsoft JhengHei"/>
                <a:ea typeface="Microsoft JhengHei"/>
                <a:cs typeface="Microsoft JhengHei"/>
              </a:rPr>
              <a:t>https://www.youtube.com/watch?v=0hcaaKhGL00</a:t>
            </a:r>
          </a:p>
        </p:txBody>
      </p:sp>
      <p:sp>
        <p:nvSpPr>
          <p:cNvPr id="10" name="TextBox 9"/>
          <p:cNvSpPr txBox="1"/>
          <p:nvPr/>
        </p:nvSpPr>
        <p:spPr>
          <a:xfrm>
            <a:off x="731519" y="6126480"/>
            <a:ext cx="7315200" cy="365760"/>
          </a:xfrm>
          <a:prstGeom prst="rect">
            <a:avLst/>
          </a:prstGeom>
          <a:noFill/>
        </p:spPr>
        <p:txBody>
          <a:bodyPr wrap="square" anchor="t" lIns="0" rIns="0" tIns="0" bIns="0">
            <a:noAutofit/>
          </a:bodyPr>
          <a:lstStyle/>
          <a:p>
            <a:pPr algn="l">
              <a:lnSpc>
                <a:spcPct val="115000"/>
              </a:lnSpc>
              <a:spcBef>
                <a:spcPts val="0"/>
              </a:spcBef>
              <a:spcAft>
                <a:spcPts val="600"/>
              </a:spcAft>
            </a:pPr>
            <a:r>
              <a:rPr sz="1200" b="0">
                <a:solidFill>
                  <a:srgbClr val="E8D5B0"/>
                </a:solidFill>
                <a:latin typeface="Microsoft JhengHei"/>
                <a:ea typeface="Microsoft JhengHei"/>
                <a:cs typeface="Microsoft JhengHei"/>
              </a:rPr>
              <a:t>音樂與企業：從巴洛克到印象派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41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46518" y="0"/>
            <a:ext cx="4145176" cy="6858000"/>
          </a:xfrm>
          <a:prstGeom prst="rect">
            <a:avLst/>
          </a:prstGeom>
          <a:solidFill>
            <a:srgbClr val="5E2C22">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743200"/>
            <a:ext cx="82296" cy="9144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468880"/>
            <a:ext cx="8168335" cy="2377440"/>
          </a:xfrm>
          <a:prstGeom prst="rect">
            <a:avLst/>
          </a:prstGeom>
          <a:noFill/>
        </p:spPr>
        <p:txBody>
          <a:bodyPr wrap="square" anchor="t" lIns="0" rIns="0" tIns="0" bIns="0">
            <a:noAutofit/>
          </a:bodyPr>
          <a:lstStyle/>
          <a:p>
            <a:pPr algn="l">
              <a:lnSpc>
                <a:spcPct val="115000"/>
              </a:lnSpc>
              <a:spcBef>
                <a:spcPts val="0"/>
              </a:spcBef>
              <a:spcAft>
                <a:spcPts val="1000"/>
              </a:spcAft>
            </a:pPr>
            <a:r>
              <a:rPr sz="1300" b="1">
                <a:solidFill>
                  <a:srgbClr val="F2D7A6"/>
                </a:solidFill>
                <a:latin typeface="Microsoft JhengHei"/>
                <a:ea typeface="Microsoft JhengHei"/>
                <a:cs typeface="Microsoft JhengHei"/>
              </a:rPr>
              <a:t>MUSIC × BUSINESS</a:t>
            </a:r>
          </a:p>
          <a:p>
            <a:pPr algn="l">
              <a:lnSpc>
                <a:spcPct val="105000"/>
              </a:lnSpc>
              <a:spcBef>
                <a:spcPts val="0"/>
              </a:spcBef>
              <a:spcAft>
                <a:spcPts val="1200"/>
              </a:spcAft>
            </a:pPr>
            <a:r>
              <a:rPr sz="3800" b="1">
                <a:solidFill>
                  <a:srgbClr val="FFFFFF"/>
                </a:solidFill>
                <a:latin typeface="Microsoft JhengHei"/>
                <a:ea typeface="Microsoft JhengHei"/>
                <a:cs typeface="Microsoft JhengHei"/>
              </a:rPr>
              <a:t>開場提問：一首曲子，能值多少？</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今天不談音符，只談一件事：出錢的人，花這筆錢，換到了什麼？</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一位品牌老闆，其實和三百年前出資養音樂的銀行家、親王，做著同一件事</a:t>
            </a:r>
          </a:p>
        </p:txBody>
      </p:sp>
      <p:sp>
        <p:nvSpPr>
          <p:cNvPr id="6" name="TextBox 5"/>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7" name="TextBox 6"/>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核心命題：音樂，是最划算的一筆形象投資</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今天不教你聽音樂，只回答一個問題：為什麼古今中外，最有錢、最有權的人，都搶著出錢贊助音樂？</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因為音樂買得到錢買不到的東西：把「有錢」升級成「有品味、有地位、被人打從心裡尊敬」</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而且划算：它不是花掉就沒的成本，是會增值的資產——地位、聲望、品牌，甚至實實在在的錢</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一句話帶走：你成就音樂，音樂也成就你</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為什麼最頂尖的企業，都贊助藝術？</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社會聲望：擠進金字塔頂端的文化圈，與菁英、政要同框</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文化資本：把財富升級成品味與高度，贏得真正的尊重</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不朽之名：名字刻進文化史，被傳誦數百年</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品牌差異化：做別人做不到、也買不到的事</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影響力與人脈：成為藝文、媒體與權力圈的交會點</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定調：贊助藝術不是慈善，是金字塔頂端最高級的聲望投資</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贊助廠商，到底換到了什麼？（全片地圖）</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接下來我只講一件事：古今中外，出錢的金主換到了什麼。一共七樣——</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一、地位與權力（梅迪奇）</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二、集體曝光（一群生意人合資，也就是你和你的公會）</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三、不朽之名（把名字刻進歷史）</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四、聖地與冠名（一座以你為名的殿堂）</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五、人才與凝聚（養才、聚心）</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六、國家與企業的形象（國力、觀光、品牌）</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七、最硬的一樣：實實在在的錢（一首歌撐起一家百年公司）</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pic>
        <p:nvPicPr>
          <p:cNvPr id="2" name="Picture 1" descr="cover-baroque-to-impressionism.jpg"/>
          <p:cNvPicPr>
            <a:picLocks noChangeAspect="1"/>
          </p:cNvPicPr>
          <p:nvPr/>
        </p:nvPicPr>
        <p:blipFill>
          <a:blip r:embed="rId2"/>
          <a:srcRect l="8175" r="8175"/>
          <a:stretch>
            <a:fillRect/>
          </a:stretch>
        </p:blipFill>
        <p:spPr>
          <a:xfrm>
            <a:off x="6583515" y="0"/>
            <a:ext cx="5608179" cy="6858000"/>
          </a:xfrm>
          <a:prstGeom prst="rect">
            <a:avLst/>
          </a:prstGeom>
        </p:spPr>
      </p:pic>
      <p:sp>
        <p:nvSpPr>
          <p:cNvPr id="3" name="Rectangle 2"/>
          <p:cNvSpPr/>
          <p:nvPr/>
        </p:nvSpPr>
        <p:spPr>
          <a:xfrm>
            <a:off x="6583515" y="0"/>
            <a:ext cx="5608179" cy="6858000"/>
          </a:xfrm>
          <a:prstGeom prst="rect">
            <a:avLst/>
          </a:prstGeom>
          <a:solidFill>
            <a:srgbClr val="241A11">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017" cy="6858000"/>
          </a:xfrm>
          <a:prstGeom prst="rect">
            <a:avLst/>
          </a:prstGeom>
          <a:solidFill>
            <a:srgbClr val="241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1463003" cy="6858000"/>
          </a:xfrm>
          <a:prstGeom prst="rect">
            <a:avLst/>
          </a:prstGeom>
          <a:solidFill>
            <a:srgbClr val="241A1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743200"/>
            <a:ext cx="82296" cy="9144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468880"/>
            <a:ext cx="5181447" cy="2377440"/>
          </a:xfrm>
          <a:prstGeom prst="rect">
            <a:avLst/>
          </a:prstGeom>
          <a:noFill/>
        </p:spPr>
        <p:txBody>
          <a:bodyPr wrap="square" anchor="t" lIns="0" rIns="0" tIns="0" bIns="0">
            <a:noAutofit/>
          </a:bodyPr>
          <a:lstStyle/>
          <a:p>
            <a:pPr algn="l">
              <a:lnSpc>
                <a:spcPct val="115000"/>
              </a:lnSpc>
              <a:spcBef>
                <a:spcPts val="0"/>
              </a:spcBef>
              <a:spcAft>
                <a:spcPts val="1000"/>
              </a:spcAft>
            </a:pPr>
            <a:r>
              <a:rPr sz="1300" b="1">
                <a:solidFill>
                  <a:srgbClr val="F2D7A6"/>
                </a:solidFill>
                <a:latin typeface="Microsoft JhengHei"/>
                <a:ea typeface="Microsoft JhengHei"/>
                <a:cs typeface="Microsoft JhengHei"/>
              </a:rPr>
              <a:t>MUSIC × BUSINESS</a:t>
            </a:r>
          </a:p>
          <a:p>
            <a:pPr algn="l">
              <a:lnSpc>
                <a:spcPct val="105000"/>
              </a:lnSpc>
              <a:spcBef>
                <a:spcPts val="0"/>
              </a:spcBef>
              <a:spcAft>
                <a:spcPts val="1200"/>
              </a:spcAft>
            </a:pPr>
            <a:r>
              <a:rPr sz="3800" b="1">
                <a:solidFill>
                  <a:srgbClr val="FFFFFF"/>
                </a:solidFill>
                <a:latin typeface="Microsoft JhengHei"/>
                <a:ea typeface="Microsoft JhengHei"/>
                <a:cs typeface="Microsoft JhengHei"/>
              </a:rPr>
              <a:t>第一樣：地位與權力</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出錢贊助藝術，最古老、也最直接的回報——把「有錢」變成「有地位、有權力」</a:t>
            </a:r>
          </a:p>
        </p:txBody>
      </p:sp>
      <p:sp>
        <p:nvSpPr>
          <p:cNvPr id="8" name="TextBox 7"/>
          <p:cNvSpPr txBox="1"/>
          <p:nvPr/>
        </p:nvSpPr>
        <p:spPr>
          <a:xfrm>
            <a:off x="6583515" y="6382512"/>
            <a:ext cx="5379579" cy="384048"/>
          </a:xfrm>
          <a:prstGeom prst="rect">
            <a:avLst/>
          </a:prstGeom>
          <a:noFill/>
        </p:spPr>
        <p:txBody>
          <a:bodyPr wrap="square" anchor="b" lIns="0" rIns="0" tIns="0" bIns="0">
            <a:noAutofit/>
          </a:bodyPr>
          <a:lstStyle/>
          <a:p>
            <a:pPr algn="ctr">
              <a:lnSpc>
                <a:spcPct val="105000"/>
              </a:lnSpc>
              <a:spcBef>
                <a:spcPts val="0"/>
              </a:spcBef>
              <a:spcAft>
                <a:spcPts val="600"/>
              </a:spcAft>
            </a:pPr>
            <a:r>
              <a:rPr sz="1000" b="0">
                <a:solidFill>
                  <a:srgbClr val="E8D5B0"/>
                </a:solidFill>
                <a:latin typeface="Microsoft JhengHei"/>
                <a:ea typeface="Microsoft JhengHei"/>
                <a:cs typeface="Microsoft JhengHei"/>
              </a:rPr>
              <a:t>巴洛克宮廷內景——贊助者用藝術與排場，把財富換成地位</a:t>
            </a:r>
          </a:p>
        </p:txBody>
      </p:sp>
      <p:sp>
        <p:nvSpPr>
          <p:cNvPr id="9" name="TextBox 8"/>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10" name="TextBox 9"/>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梅迪奇①：銀行家的痛點——錢多，卻缺地位</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梅迪奇（Medici）＝文藝復興佛羅倫斯的「銀行王朝」：靠放款起家，連教宗、國王都是他們的客戶</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痛點：放貸在當時是不光彩的行業——教會白紙黑字說，收利息是一種罪（usury）</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所以他們的處境是：錢，多到花不完；地位跟名聲，卻買不到</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這個痛點，各位今天的企業家一定懂——有錢，不等於被尊重</a:t>
            </a:r>
          </a:p>
        </p:txBody>
      </p:sp>
      <p:sp>
        <p:nvSpPr>
          <p:cNvPr id="5" name="Rectangle 4"/>
          <p:cNvSpPr/>
          <p:nvPr/>
        </p:nvSpPr>
        <p:spPr>
          <a:xfrm>
            <a:off x="7754015" y="1499616"/>
            <a:ext cx="2947304"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dici-giovanni-dibicci.jpg"/>
          <p:cNvPicPr>
            <a:picLocks noChangeAspect="1"/>
          </p:cNvPicPr>
          <p:nvPr/>
        </p:nvPicPr>
        <p:blipFill>
          <a:blip r:embed="rId2"/>
          <a:stretch>
            <a:fillRect/>
          </a:stretch>
        </p:blipFill>
        <p:spPr>
          <a:xfrm>
            <a:off x="7808879" y="1554480"/>
            <a:ext cx="2837576"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喬凡尼·迪·比奇·德·梅迪奇——梅迪奇銀行創辦人（Cristofano dell'Altissimo 繪，烏菲茲美術館）</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梅迪奇②：用藝術，把錢變成權力</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解法：把賺來的錢大手筆砸進藝術——把十來歲的米開朗基羅接進家裡栽培、出錢資助波提切利畫下傳世名作</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波提切利《東方三博士的朝拜》裡，藏著一整排梅迪奇家族的臉：出錢贊助，順便把自己畫進不朽的名畫</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回報大到嚇人：這個「放款的家族」，後來出了兩位羅馬教宗、實質統治佛羅倫斯，成了左右歐洲的權力核心</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一句話：他們用藝術「洗格調」，把純粹的財富，洗成了統治歐洲的正當性</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記住這個名字：全場最後，我會請你「成為下一個梅迪奇」</a:t>
            </a:r>
          </a:p>
        </p:txBody>
      </p:sp>
      <p:sp>
        <p:nvSpPr>
          <p:cNvPr id="5" name="Rectangle 4"/>
          <p:cNvSpPr/>
          <p:nvPr/>
        </p:nvSpPr>
        <p:spPr>
          <a:xfrm>
            <a:off x="6917063" y="1499616"/>
            <a:ext cx="4621208"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dici-botticelli-adoration.jpg"/>
          <p:cNvPicPr>
            <a:picLocks noChangeAspect="1"/>
          </p:cNvPicPr>
          <p:nvPr/>
        </p:nvPicPr>
        <p:blipFill>
          <a:blip r:embed="rId2"/>
          <a:stretch>
            <a:fillRect/>
          </a:stretch>
        </p:blipFill>
        <p:spPr>
          <a:xfrm>
            <a:off x="6971927" y="1554480"/>
            <a:ext cx="4511480"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波提切利《東方三博士的朝拜》（約1475，烏菲茲美術館）——畫中人物多為梅迪奇家族成員</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梅迪奇③：把女兒嫁成王后，把錢變成血緣</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藝術洗出格調之後，梅迪奇更進一步：用「聯姻」把家族嫁進歐洲最高的王室</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凱瑟琳·德·梅迪奇（Catherine de' Medici）1533 年嫁給後來的法王亨利二世，成為法國王后</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六十多年後，瑪麗·德·梅迪奇（Marie de' Medici）1600 年再嫁法王亨利四世，又一位法國王后、日後還替幼子攝政</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一個放款起家、沒有貴族血統的家族，靠藝術與聯姻，把佛羅倫斯的錢換成了法蘭西王室的血緣與影響力</a:t>
            </a:r>
          </a:p>
        </p:txBody>
      </p:sp>
      <p:sp>
        <p:nvSpPr>
          <p:cNvPr id="5" name="Rectangle 4"/>
          <p:cNvSpPr/>
          <p:nvPr/>
        </p:nvSpPr>
        <p:spPr>
          <a:xfrm>
            <a:off x="7747127" y="1499616"/>
            <a:ext cx="2961081"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dici-catherine-clouet.jpg"/>
          <p:cNvPicPr>
            <a:picLocks noChangeAspect="1"/>
          </p:cNvPicPr>
          <p:nvPr/>
        </p:nvPicPr>
        <p:blipFill>
          <a:blip r:embed="rId2"/>
          <a:stretch>
            <a:fillRect/>
          </a:stretch>
        </p:blipFill>
        <p:spPr>
          <a:xfrm>
            <a:off x="7801991" y="1554480"/>
            <a:ext cx="2851353"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凱瑟琳·德·梅迪奇（法國王后），弗朗索瓦·克盧埃繪（Walters Art Museum）</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梅迪奇④：一場王室婚禮，催生了「歌劇」</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1600 年瑪麗·德·梅迪奇嫁給亨利四世的婚禮，梅迪奇端出了當時最時髦的新玩意——後世稱為「歌劇」的全新藝術</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這場婚禮上演的《尤麗狄切》（Euridice），由作曲家佩里（Jacopo Peri）作曲、親自登台，於佛羅倫斯皮蒂宮首演</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它被視為現存最早的一部歌劇——換句話說，「歌劇」這門藝術，是被一筆王室婚禮的贊助預算催生出來的</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金主要的從來不是「藝術突破」，而是一場全歐矚目的政治聯姻大秀；藝術突破，是順帶的副產品</a:t>
            </a:r>
          </a:p>
        </p:txBody>
      </p:sp>
      <p:sp>
        <p:nvSpPr>
          <p:cNvPr id="5" name="Rectangle 4"/>
          <p:cNvSpPr/>
          <p:nvPr/>
        </p:nvSpPr>
        <p:spPr>
          <a:xfrm>
            <a:off x="7795031" y="1499616"/>
            <a:ext cx="2865272"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era-peri-arion.jpg"/>
          <p:cNvPicPr>
            <a:picLocks noChangeAspect="1"/>
          </p:cNvPicPr>
          <p:nvPr/>
        </p:nvPicPr>
        <p:blipFill>
          <a:blip r:embed="rId2"/>
          <a:stretch>
            <a:fillRect/>
          </a:stretch>
        </p:blipFill>
        <p:spPr>
          <a:xfrm>
            <a:off x="7849895" y="1554480"/>
            <a:ext cx="2755544"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雅各布·佩里（Jacopo Peri）飾阿里翁（1589，Buontalenti 設計）——《尤麗狄切》作曲家</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藝術，是頂端最高級的「社交貨幣」</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贊助藝術，讓你名正言順地與菁英、政要、名流站在同一個場子裡</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一場音樂會、一次贊助，換來的是別的錢買不到的人脈與話題</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你談的不再是報價與折扣，而是品味、格調與共同的價值</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對做生意的人來說，這是最高效的一種「進圈子」</a:t>
            </a:r>
          </a:p>
        </p:txBody>
      </p:sp>
      <p:sp>
        <p:nvSpPr>
          <p:cNvPr id="5" name="Rectangle 4"/>
          <p:cNvSpPr/>
          <p:nvPr/>
        </p:nvSpPr>
        <p:spPr>
          <a:xfrm>
            <a:off x="7685371" y="1499616"/>
            <a:ext cx="3084591"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dici-lorenzo-vasari.jpg"/>
          <p:cNvPicPr>
            <a:picLocks noChangeAspect="1"/>
          </p:cNvPicPr>
          <p:nvPr/>
        </p:nvPicPr>
        <p:blipFill>
          <a:blip r:embed="rId2"/>
          <a:stretch>
            <a:fillRect/>
          </a:stretch>
        </p:blipFill>
        <p:spPr>
          <a:xfrm>
            <a:off x="7740235" y="1554480"/>
            <a:ext cx="2974863"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羅倫佐·德·梅迪奇（「偉大的羅倫佐」），瓦薩里繪（烏菲茲美術館）——把梅迪奇宅邸經營成全歐最頂級沙龍</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pic>
        <p:nvPicPr>
          <p:cNvPr id="2" name="Picture 1" descr="rembrandt-selfportrait.jpg"/>
          <p:cNvPicPr>
            <a:picLocks noChangeAspect="1"/>
          </p:cNvPicPr>
          <p:nvPr/>
        </p:nvPicPr>
        <p:blipFill>
          <a:blip r:embed="rId2"/>
          <a:srcRect l="708" r="708"/>
          <a:stretch>
            <a:fillRect/>
          </a:stretch>
        </p:blipFill>
        <p:spPr>
          <a:xfrm>
            <a:off x="6583515" y="0"/>
            <a:ext cx="5608179" cy="6858000"/>
          </a:xfrm>
          <a:prstGeom prst="rect">
            <a:avLst/>
          </a:prstGeom>
        </p:spPr>
      </p:pic>
      <p:sp>
        <p:nvSpPr>
          <p:cNvPr id="3" name="Rectangle 2"/>
          <p:cNvSpPr/>
          <p:nvPr/>
        </p:nvSpPr>
        <p:spPr>
          <a:xfrm>
            <a:off x="6583515" y="0"/>
            <a:ext cx="5608179" cy="6858000"/>
          </a:xfrm>
          <a:prstGeom prst="rect">
            <a:avLst/>
          </a:prstGeom>
          <a:solidFill>
            <a:srgbClr val="241A11">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017" cy="6858000"/>
          </a:xfrm>
          <a:prstGeom prst="rect">
            <a:avLst/>
          </a:prstGeom>
          <a:solidFill>
            <a:srgbClr val="241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1463003" cy="6858000"/>
          </a:xfrm>
          <a:prstGeom prst="rect">
            <a:avLst/>
          </a:prstGeom>
          <a:solidFill>
            <a:srgbClr val="241A1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743200"/>
            <a:ext cx="82296" cy="9144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468880"/>
            <a:ext cx="5181447" cy="2377440"/>
          </a:xfrm>
          <a:prstGeom prst="rect">
            <a:avLst/>
          </a:prstGeom>
          <a:noFill/>
        </p:spPr>
        <p:txBody>
          <a:bodyPr wrap="square" anchor="t" lIns="0" rIns="0" tIns="0" bIns="0">
            <a:noAutofit/>
          </a:bodyPr>
          <a:lstStyle/>
          <a:p>
            <a:pPr algn="l">
              <a:lnSpc>
                <a:spcPct val="115000"/>
              </a:lnSpc>
              <a:spcBef>
                <a:spcPts val="0"/>
              </a:spcBef>
              <a:spcAft>
                <a:spcPts val="1000"/>
              </a:spcAft>
            </a:pPr>
            <a:r>
              <a:rPr sz="1300" b="1">
                <a:solidFill>
                  <a:srgbClr val="F2D7A6"/>
                </a:solidFill>
                <a:latin typeface="Microsoft JhengHei"/>
                <a:ea typeface="Microsoft JhengHei"/>
                <a:cs typeface="Microsoft JhengHei"/>
              </a:rPr>
              <a:t>MUSIC × BUSINESS</a:t>
            </a:r>
          </a:p>
          <a:p>
            <a:pPr algn="l">
              <a:lnSpc>
                <a:spcPct val="105000"/>
              </a:lnSpc>
              <a:spcBef>
                <a:spcPts val="0"/>
              </a:spcBef>
              <a:spcAft>
                <a:spcPts val="1200"/>
              </a:spcAft>
            </a:pPr>
            <a:r>
              <a:rPr sz="3800" b="1">
                <a:solidFill>
                  <a:srgbClr val="FFFFFF"/>
                </a:solidFill>
                <a:latin typeface="Microsoft JhengHei"/>
                <a:ea typeface="Microsoft JhengHei"/>
                <a:cs typeface="Microsoft JhengHei"/>
              </a:rPr>
              <a:t>第二樣：集體曝光（你不必是豪門）</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你不必是梅迪奇。一群像各位這樣的生意人、一個公會，合資也能買到看得見的曝光</a:t>
            </a:r>
          </a:p>
        </p:txBody>
      </p:sp>
      <p:sp>
        <p:nvSpPr>
          <p:cNvPr id="8" name="TextBox 7"/>
          <p:cNvSpPr txBox="1"/>
          <p:nvPr/>
        </p:nvSpPr>
        <p:spPr>
          <a:xfrm>
            <a:off x="6583515" y="6382512"/>
            <a:ext cx="5379579" cy="384048"/>
          </a:xfrm>
          <a:prstGeom prst="rect">
            <a:avLst/>
          </a:prstGeom>
          <a:noFill/>
        </p:spPr>
        <p:txBody>
          <a:bodyPr wrap="square" anchor="b" lIns="0" rIns="0" tIns="0" bIns="0">
            <a:noAutofit/>
          </a:bodyPr>
          <a:lstStyle/>
          <a:p>
            <a:pPr algn="ctr">
              <a:lnSpc>
                <a:spcPct val="105000"/>
              </a:lnSpc>
              <a:spcBef>
                <a:spcPts val="0"/>
              </a:spcBef>
              <a:spcAft>
                <a:spcPts val="600"/>
              </a:spcAft>
            </a:pPr>
            <a:r>
              <a:rPr sz="1000" b="0">
                <a:solidFill>
                  <a:srgbClr val="E8D5B0"/>
                </a:solidFill>
                <a:latin typeface="Microsoft JhengHei"/>
                <a:ea typeface="Microsoft JhengHei"/>
                <a:cs typeface="Microsoft JhengHei"/>
              </a:rPr>
              <a:t>林布蘭·范·萊因 自畫像（Kenwood House）——下一張《夜巡》的作者</a:t>
            </a:r>
          </a:p>
        </p:txBody>
      </p:sp>
      <p:sp>
        <p:nvSpPr>
          <p:cNvPr id="9" name="TextBox 8"/>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10" name="TextBox 9"/>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林布蘭《夜巡》：合資買曝光，出錢越多版位越大</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付錢的不是國王、不是教會——是阿姆斯特丹一個「民兵公會」，16 位生意人合資，平均每人約 100 盾（guilder，當時荷蘭的貨幣）</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規則直接又公平：出錢越多，你在畫面上的位置越顯眼——最早、最透明的「贊助版位」</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四百年後，這 16 個普通生意人的臉，還掛在鎮館之寶上，每年幾百萬人專程來看</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誰贊助得多，誰的 logo 大、誰站 C 位——這道理，四百年沒變</a:t>
            </a:r>
          </a:p>
        </p:txBody>
      </p:sp>
      <p:sp>
        <p:nvSpPr>
          <p:cNvPr id="5" name="Rectangle 4"/>
          <p:cNvSpPr/>
          <p:nvPr/>
        </p:nvSpPr>
        <p:spPr>
          <a:xfrm>
            <a:off x="6868656" y="1499616"/>
            <a:ext cx="4718023"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7426008070616053410.jpg"/>
          <p:cNvPicPr>
            <a:picLocks noChangeAspect="1"/>
          </p:cNvPicPr>
          <p:nvPr/>
        </p:nvPicPr>
        <p:blipFill>
          <a:blip r:embed="rId2"/>
          <a:stretch>
            <a:fillRect/>
          </a:stretch>
        </p:blipFill>
        <p:spPr>
          <a:xfrm>
            <a:off x="6923520" y="1554480"/>
            <a:ext cx="4608295"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林布蘭《夜巡》（1642），阿姆斯特丹國家博物館——16 位民兵合資委製的團體像</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這就是你們的公會：集體贊助的現代啟示</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火槍手民兵公會，說穿了就是一群有錢生意人組成的社團——跟今天的跨業交流會、公會一模一樣</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一個人出不起的贊助，一群人合資就出得起；曝光與名聲，按出資比例分</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你不必獨自當梅迪奇——揪一群人，就能一起當金主</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想想看：如果各位的公會，合資贊助一場音樂會、一件作品，會被誰看見？</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41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46518" y="0"/>
            <a:ext cx="4145176" cy="6858000"/>
          </a:xfrm>
          <a:prstGeom prst="rect">
            <a:avLst/>
          </a:prstGeom>
          <a:solidFill>
            <a:srgbClr val="5E2C22">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743200"/>
            <a:ext cx="82296" cy="9144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468880"/>
            <a:ext cx="8168335" cy="2377440"/>
          </a:xfrm>
          <a:prstGeom prst="rect">
            <a:avLst/>
          </a:prstGeom>
          <a:noFill/>
        </p:spPr>
        <p:txBody>
          <a:bodyPr wrap="square" anchor="t" lIns="0" rIns="0" tIns="0" bIns="0">
            <a:noAutofit/>
          </a:bodyPr>
          <a:lstStyle/>
          <a:p>
            <a:pPr algn="l">
              <a:lnSpc>
                <a:spcPct val="115000"/>
              </a:lnSpc>
              <a:spcBef>
                <a:spcPts val="0"/>
              </a:spcBef>
              <a:spcAft>
                <a:spcPts val="1000"/>
              </a:spcAft>
            </a:pPr>
            <a:r>
              <a:rPr sz="1300" b="1">
                <a:solidFill>
                  <a:srgbClr val="F2D7A6"/>
                </a:solidFill>
                <a:latin typeface="Microsoft JhengHei"/>
                <a:ea typeface="Microsoft JhengHei"/>
                <a:cs typeface="Microsoft JhengHei"/>
              </a:rPr>
              <a:t>MUSIC × BUSINESS</a:t>
            </a:r>
          </a:p>
          <a:p>
            <a:pPr algn="l">
              <a:lnSpc>
                <a:spcPct val="105000"/>
              </a:lnSpc>
              <a:spcBef>
                <a:spcPts val="0"/>
              </a:spcBef>
              <a:spcAft>
                <a:spcPts val="1200"/>
              </a:spcAft>
            </a:pPr>
            <a:r>
              <a:rPr sz="3800" b="1">
                <a:solidFill>
                  <a:srgbClr val="FFFFFF"/>
                </a:solidFill>
                <a:latin typeface="Microsoft JhengHei"/>
                <a:ea typeface="Microsoft JhengHei"/>
                <a:cs typeface="Microsoft JhengHei"/>
              </a:rPr>
              <a:t>第三樣：不朽之名</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錢會花完，名聲會過去；但把名字綁進一部傳世的作品，你就買到了「不朽」</a:t>
            </a:r>
          </a:p>
        </p:txBody>
      </p:sp>
      <p:sp>
        <p:nvSpPr>
          <p:cNvPr id="6" name="TextBox 5"/>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7" name="TextBox 6"/>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貝多芬與三位金主：花錢買下一個名字</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1809 年，維也納三位貴族——金斯基（Kinsky）、洛布科維茨（Lobkowitz）、魯道夫大公（Archduke Rudolph）——聯手每年掏一筆終身年金，長期包養一位作曲家，條件只有一個：「留在維也納」</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他們花錢，買到的是「名字」：兩百年後，全世界談那部《第九號交響曲》，就會談到當年是誰出的錢</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這不是施捨、不是慈善，是一筆綁定式的長期投資</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給你的一句話：贊助要簽長約、要綁定、要白紙黑字</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貝多芬《第九號交響曲》終樂章〈歡樂頌〉合唱精華——BBC Proms 2015（CBSO／Andr…</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主打聆聽②，一筆贊助養出的兩百年品牌　｜　建議 00:00–04:16</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三位金主的細帳：一紙終身合約，各買到什麼</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這是一場「留才防挖角」的競標：1808 年拿破崙之弟開年薪挖角貝多芬去卡塞爾，維也納三位貴族聯手用「終身年金」把人綁在本地</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三家分攤年 4,000 弗洛林：金斯基出最多（1,800）、魯道夫大公（1,500）、洛布科維茨（700）——風險與冠名的光環，三家一起分</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各自買到「名字」：魯道夫大公→《皇帝》協奏曲、《大公三重奏》、《莊嚴彌撒》都題獻給他；洛布科維茨→《英雄》交響曲在他府邸首演並題獻</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長約也擋不住意外：1811 通膨令年金縮水、金斯基 1812 墜馬身亡、洛布科維茨破產——最後靠魯道夫提高份額扛住，貝多芬還打官司才保住</a:t>
            </a:r>
          </a:p>
        </p:txBody>
      </p:sp>
      <p:sp>
        <p:nvSpPr>
          <p:cNvPr id="5" name="Rectangle 4"/>
          <p:cNvSpPr/>
          <p:nvPr/>
        </p:nvSpPr>
        <p:spPr>
          <a:xfrm>
            <a:off x="7760508" y="1499616"/>
            <a:ext cx="2934319"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eethoven-archduke-rudolph.jpg"/>
          <p:cNvPicPr>
            <a:picLocks noChangeAspect="1"/>
          </p:cNvPicPr>
          <p:nvPr/>
        </p:nvPicPr>
        <p:blipFill>
          <a:blip r:embed="rId2"/>
          <a:stretch>
            <a:fillRect/>
          </a:stretch>
        </p:blipFill>
        <p:spPr>
          <a:xfrm>
            <a:off x="7815372" y="1554480"/>
            <a:ext cx="2824591"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魯道夫大公（Archduke Rudolph，Lampi 繪）——貝多芬唯一的作曲學生兼最大金主，《皇帝》《大公》《莊嚴彌撒》都題獻給他</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這筆贊助的「兩百年複利」</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第九號的〈歡樂頌 Ode to Joy〉，1985 年成為歐盟盟歌——一段旋律，代表一整個歐洲</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在日本，年底幾萬人合唱「第九」是全民儀式；大阪的「萬人第九」，到今天仍由企業冠名贊助</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三位貴族兩百年前付的那筆錢，到今天還在替他們的名字「配息」</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這就是贊助最驚人的地方：買的不是一次曝光，是一個世紀、甚至兩個世紀的品牌</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郭德堡變奏曲：失眠伯爵的一筆私人委託</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一位失眠的俄國公使凱瑟林克伯爵（Count Keyserlingk）出錢，向巴赫訂了一組助眠的鍵盤曲——極致的客製化</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付錢的人買到了「名字」：曲子是巴赫寫的，兩百多年來全世界卻叫它「郭德堡」（伯爵身邊那位樂師的名字）</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給企業領導者：這首「為靜心而生」的音樂，規律、清澈——很適合在高壓中沉澱思緒、專注決策，也用來紓壓</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一筆私人訂單，換來三百年的流傳——今天的主打聆聽①</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巴赫《郭德堡變奏曲》開頭詠嘆調（Aria）——Netherlands Bach Society（A…</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主打聆聽①，「為領導者靜心而生的音樂」　｜　建議 00:00–03:00</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郭德堡是誰？出錢的是伯爵，留名的卻是樂師</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出錢的金主是凱瑟林克伯爵（Count Keyserlingk）——俄國駐薩克森的公使、長年失眠；相傳他委託巴赫寫一組助眠的鍵盤曲</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但這部曲子卻以「郭德堡」為名——那是伯爵府裡一位約十四歲的年輕鍵盤手、巴赫的學生，夜裡彈給伯爵聽</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於是最妙的一幕發生了：出錢的伯爵沒留名，反倒是他身邊的家臣樂師，因這部作品被全世界記了兩百多年</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（這段委託故事出自福克爾 1802 年的巴赫傳、屬「相傳」；首版扉頁其實沒有任何題獻）</a:t>
            </a:r>
          </a:p>
        </p:txBody>
      </p:sp>
      <p:sp>
        <p:nvSpPr>
          <p:cNvPr id="5" name="Rectangle 4"/>
          <p:cNvSpPr/>
          <p:nvPr/>
        </p:nvSpPr>
        <p:spPr>
          <a:xfrm>
            <a:off x="7677873" y="1499616"/>
            <a:ext cx="3099587"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oldberg-keyserlingk.jpg"/>
          <p:cNvPicPr>
            <a:picLocks noChangeAspect="1"/>
          </p:cNvPicPr>
          <p:nvPr/>
        </p:nvPicPr>
        <p:blipFill>
          <a:blip r:embed="rId2"/>
          <a:stretch>
            <a:fillRect/>
          </a:stretch>
        </p:blipFill>
        <p:spPr>
          <a:xfrm>
            <a:off x="7732737" y="1554480"/>
            <a:ext cx="2989859"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凱瑟林克伯爵（Count Keyserlingk，1753 Hagelgans 繪）——出錢委託的金主，名字反而沒留在曲名上</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郭德堡的另一課：金主真正的價值，是替你打通關節</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凱瑟林克伯爵給巴赫的，不只是一筆訂單——他更用自己的人脈，替巴赫打通了關節</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巴赫求「宮廷作曲家」這個頭銜求了好幾年、屢屢碰壁；正是靠這位伯爵從中施力，1736 年才終於到手</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一紙王室認證的頭銜，讓巴赫的身價與話語權整個不一樣——這是單筆委託費買不到的</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給企業家的一課：頂級金主最稀缺的價值，往往不是那筆錢，而是他願意替你背書、引薦、打通門路</a:t>
            </a:r>
          </a:p>
        </p:txBody>
      </p:sp>
      <p:sp>
        <p:nvSpPr>
          <p:cNvPr id="5" name="Rectangle 4"/>
          <p:cNvSpPr/>
          <p:nvPr/>
        </p:nvSpPr>
        <p:spPr>
          <a:xfrm>
            <a:off x="7865745" y="1499616"/>
            <a:ext cx="2723844"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oldberg-title-page.jpg"/>
          <p:cNvPicPr>
            <a:picLocks noChangeAspect="1"/>
          </p:cNvPicPr>
          <p:nvPr/>
        </p:nvPicPr>
        <p:blipFill>
          <a:blip r:embed="rId2"/>
          <a:stretch>
            <a:fillRect/>
          </a:stretch>
        </p:blipFill>
        <p:spPr>
          <a:xfrm>
            <a:off x="7920609" y="1554480"/>
            <a:ext cx="2614116"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《郭德堡變奏曲》1741 年初版扉頁——這位金主替巴赫換到的，遠不只一部作品</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葛雷夫勒女伯爵：出錢的贊助者，被藝術寫成傳奇</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佛瑞還在掙扎時，葛雷夫勒女伯爵（Comtesse Greffulhe）把他引進巴黎最高的社交圈，讓他當上自己沙龍的音樂總監</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她是巴黎社交圈的「女王」，贊助底氣來自夫家——當時法國最富有的銀行世家之一</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佛瑞感激地稱她是自己的「巴伐利亞國王」——就是那位砸錢供養華格納的路德維希二世</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她的影響力全方位：把華格納引進法國、當狄亞吉列夫俄羅斯芭蕾的金主，甚至資助居禮夫人的鐳研究</a:t>
            </a:r>
          </a:p>
        </p:txBody>
      </p:sp>
      <p:sp>
        <p:nvSpPr>
          <p:cNvPr id="5" name="Rectangle 4"/>
          <p:cNvSpPr/>
          <p:nvPr/>
        </p:nvSpPr>
        <p:spPr>
          <a:xfrm>
            <a:off x="8085975" y="1499616"/>
            <a:ext cx="2283383"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reffulhe-portrait.jpg"/>
          <p:cNvPicPr>
            <a:picLocks noChangeAspect="1"/>
          </p:cNvPicPr>
          <p:nvPr/>
        </p:nvPicPr>
        <p:blipFill>
          <a:blip r:embed="rId2"/>
          <a:stretch>
            <a:fillRect/>
          </a:stretch>
        </p:blipFill>
        <p:spPr>
          <a:xfrm>
            <a:off x="8140839" y="1554480"/>
            <a:ext cx="2173655"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葛雷夫勒女伯爵（Comtesse Greffulhe，Otto Wegener 1899 攝）——巴黎沙龍「女王」，普魯斯特筆下蓋爾芒特公爵夫人的原型</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佛瑞與女伯爵：贊助者，因藝術而不朽</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葛雷夫勒女伯爵（Comtesse Greffulhe）在佛瑞（Fauré）還沒沒無聞時，把他引進巴黎最高的社交圈</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佛瑞最美的《帕凡舞曲》（Pavane）就是為她的沙龍而寫、題獻給她</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她出資、給機會；作品（還有把她寫進小說的普魯斯特）讓她永遠被記得</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這就是贊助最美的回報：出錢的人，因為藝術而名留青史</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佛瑞《帕凡舞曲 Pavane, Op.50》——法國國家管弦樂團（Orchestre Nation…</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贊助者不朽段，沙龍優雅意象　｜　建議 00:00–02:00</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普魯斯特讓她第二次不朽：小說裡的公爵夫人</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出錢的贊助者能有多不朽？佛瑞用一首《帕凡》題獻她，大文豪普魯斯特再用一整部小說封存她</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普魯斯特以女伯爵為藍本，寫出《追憶似水年華》裡的「蓋爾芒特公爵夫人」——她成了文學史上的經典人物</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她也不只出錢：1891 年她在布洛涅森林湖中小島辦夜宴，親自替《帕凡》加上「看不見的合唱團」與舞者——金主也能是共同創作者</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錢會花完、莊園會易主；但被作曲家題獻、被小說封存的名字，永遠搶不走——這就是「因藝術而不朽」</a:t>
            </a:r>
          </a:p>
        </p:txBody>
      </p:sp>
      <p:sp>
        <p:nvSpPr>
          <p:cNvPr id="5" name="Rectangle 4"/>
          <p:cNvSpPr/>
          <p:nvPr/>
        </p:nvSpPr>
        <p:spPr>
          <a:xfrm>
            <a:off x="7666913" y="1499616"/>
            <a:ext cx="3121509"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oust-portrait.jpg"/>
          <p:cNvPicPr>
            <a:picLocks noChangeAspect="1"/>
          </p:cNvPicPr>
          <p:nvPr/>
        </p:nvPicPr>
        <p:blipFill>
          <a:blip r:embed="rId2"/>
          <a:stretch>
            <a:fillRect/>
          </a:stretch>
        </p:blipFill>
        <p:spPr>
          <a:xfrm>
            <a:off x="7721777" y="1554480"/>
            <a:ext cx="3011781"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馬塞爾·普魯斯特（Otto Wegener 約1895 攝）——以葛雷夫勒女伯爵為原型，寫出《追憶似水年華》的蓋爾芒特公爵夫人</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梵谷與西奧：一個人的長期贊助，養出一位大師</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梵谷（Van Gogh）生前幾乎賣不掉畫，靠弟弟西奧（Theo）——一位巴黎畫商——從 1882 起按月匯款養著</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西奧自己說：「我把給他的錢，視為他工作的報酬」——不是施捨，是對等</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一個人的長期、穩定贊助，養出了一位定義時代的大師</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意涵：贊助不必是豪門手筆。梅迪奇，也可以只是一個相信家人的普通人</a:t>
            </a:r>
          </a:p>
        </p:txBody>
      </p:sp>
      <p:sp>
        <p:nvSpPr>
          <p:cNvPr id="5" name="Rectangle 4"/>
          <p:cNvSpPr/>
          <p:nvPr/>
        </p:nvSpPr>
        <p:spPr>
          <a:xfrm>
            <a:off x="6848856" y="1533738"/>
            <a:ext cx="4757623" cy="3790522"/>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5737717578321103871.jpg"/>
          <p:cNvPicPr>
            <a:picLocks noChangeAspect="1"/>
          </p:cNvPicPr>
          <p:nvPr/>
        </p:nvPicPr>
        <p:blipFill>
          <a:blip r:embed="rId2"/>
          <a:stretch>
            <a:fillRect/>
          </a:stretch>
        </p:blipFill>
        <p:spPr>
          <a:xfrm>
            <a:off x="6903720" y="1588602"/>
            <a:ext cx="4647895" cy="3680794"/>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梵谷《星夜》（1889），紐約現代藝術博物館——由弟弟西奧長期按月資助養出的傑作</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41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46518" y="0"/>
            <a:ext cx="4145176" cy="6858000"/>
          </a:xfrm>
          <a:prstGeom prst="rect">
            <a:avLst/>
          </a:prstGeom>
          <a:solidFill>
            <a:srgbClr val="5E2C22">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743200"/>
            <a:ext cx="82296" cy="9144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468880"/>
            <a:ext cx="8168335" cy="2377440"/>
          </a:xfrm>
          <a:prstGeom prst="rect">
            <a:avLst/>
          </a:prstGeom>
          <a:noFill/>
        </p:spPr>
        <p:txBody>
          <a:bodyPr wrap="square" anchor="t" lIns="0" rIns="0" tIns="0" bIns="0">
            <a:noAutofit/>
          </a:bodyPr>
          <a:lstStyle/>
          <a:p>
            <a:pPr algn="l">
              <a:lnSpc>
                <a:spcPct val="115000"/>
              </a:lnSpc>
              <a:spcBef>
                <a:spcPts val="0"/>
              </a:spcBef>
              <a:spcAft>
                <a:spcPts val="1000"/>
              </a:spcAft>
            </a:pPr>
            <a:r>
              <a:rPr sz="1300" b="1">
                <a:solidFill>
                  <a:srgbClr val="F2D7A6"/>
                </a:solidFill>
                <a:latin typeface="Microsoft JhengHei"/>
                <a:ea typeface="Microsoft JhengHei"/>
                <a:cs typeface="Microsoft JhengHei"/>
              </a:rPr>
              <a:t>MUSIC × BUSINESS</a:t>
            </a:r>
          </a:p>
          <a:p>
            <a:pPr algn="l">
              <a:lnSpc>
                <a:spcPct val="105000"/>
              </a:lnSpc>
              <a:spcBef>
                <a:spcPts val="0"/>
              </a:spcBef>
              <a:spcAft>
                <a:spcPts val="1200"/>
              </a:spcAft>
            </a:pPr>
            <a:r>
              <a:rPr sz="3800" b="1">
                <a:solidFill>
                  <a:srgbClr val="FFFFFF"/>
                </a:solidFill>
                <a:latin typeface="Microsoft JhengHei"/>
                <a:ea typeface="Microsoft JhengHei"/>
                <a:cs typeface="Microsoft JhengHei"/>
              </a:rPr>
              <a:t>第四樣：聖地與冠名</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出資蓋一座殿堂，把名字刻進城市的天際線——一座會自己增值、幾十年後還在替你說話的活招牌</a:t>
            </a:r>
          </a:p>
        </p:txBody>
      </p:sp>
      <p:sp>
        <p:nvSpPr>
          <p:cNvPr id="6" name="TextBox 5"/>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7" name="TextBox 6"/>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拜羅伊特：一位國王，砸錢蓋一座「聖地」</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1864 年，巴伐利亞國王路德維希二世（Ludwig II）成了華格納（Wagner）近乎無上限的「天使投資人」</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出資自建拜羅伊特節慶劇院（Bayreuth Festspielhaus）：連隱藏式下沉樂池都為作品量身打造</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1876 首屆音樂節，全歐洲名流朝聖——把一座沒沒無聞的小鎮，變成樂迷心中的「麥加」</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回報：一座至今仍是「聖地」的品牌（對應提案第 3 點）</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華格納〈女武神的騎行 Ride of the Valkyries〉——Metropolitan O…</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一座「聖地」蓋出來的震撼力　｜　建議 00:00–03:00</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卡內基音樂廳：賣鋼鐵的錢，換一座以你為名的殿堂</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1891 年，紐約卡內基音樂廳（Carnegie Hall）落成，出資的是鋼鐵大王卡內基（Andrew Carnegie）</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開幕那一夜，登台的是大作曲家柴可夫斯基——氣派一次到位</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一百多年後，「卡內基」這三個字，等於全世界音樂家最想站上的頂級殿堂</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賣鋼鐵賺來的錢，換來一座以你為名、永遠替你說話的地標</a:t>
            </a:r>
          </a:p>
        </p:txBody>
      </p:sp>
      <p:pic>
        <p:nvPicPr>
          <p:cNvPr id="5" name="Picture 4" descr="q8iTTRG-h3w.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柴可夫斯基《慶典加冕進行曲（Marche Solennelle）》——The Orchestra …</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冠名場館段，一座殿堂的開幕之聲</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三得利音樂廳：威士忌企業的「音之寶石盒」</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1986 年，日本三得利（Suntory）——一家做威士忌的企業——在東京蓋了三得利音樂廳</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指揮大師卡拉揚（Herbert von Karajan）譽為「音之寶石盒」</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一家酒商，靠一座音樂廳，把品牌和「頂級文化」永久綁在一起</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這就是亞洲企業版的卡內基：用一座殿堂，替品牌鍍上文化的金身</a:t>
            </a:r>
          </a:p>
        </p:txBody>
      </p:sp>
      <p:sp>
        <p:nvSpPr>
          <p:cNvPr id="5" name="Rectangle 4"/>
          <p:cNvSpPr/>
          <p:nvPr/>
        </p:nvSpPr>
        <p:spPr>
          <a:xfrm>
            <a:off x="6848856" y="1825224"/>
            <a:ext cx="4757623" cy="3207550"/>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untory-hall.jpg"/>
          <p:cNvPicPr>
            <a:picLocks noChangeAspect="1"/>
          </p:cNvPicPr>
          <p:nvPr/>
        </p:nvPicPr>
        <p:blipFill>
          <a:blip r:embed="rId2"/>
          <a:stretch>
            <a:fillRect/>
          </a:stretch>
        </p:blipFill>
        <p:spPr>
          <a:xfrm>
            <a:off x="6903720" y="1880088"/>
            <a:ext cx="4647895" cy="3097822"/>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東京三得利音樂廳——卡拉揚譽為「音之寶石盒」（攝影：Wikimedia Commons，CC BY-SA）</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迪士尼音樂廳：一筆捐款，一座城市地標</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洛杉磯迪士尼音樂廳（Walt Disney Concert Hall，2003）：迪士尼遺孀莉莉安（Lillian Disney）1987 年捐 5,000 萬美元起建</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由建築大師蓋瑞（Frank Gehry）設計，成了洛杉磯的城市地標與觀光名片</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這個「冠名場館」模式，一路傳到今天各大藝文中心、球場</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共同點：一座殿堂＝把名字刻進城市天際線與文化史，一筆會增值的資產</a:t>
            </a:r>
          </a:p>
        </p:txBody>
      </p:sp>
      <p:sp>
        <p:nvSpPr>
          <p:cNvPr id="5" name="Rectangle 4"/>
          <p:cNvSpPr/>
          <p:nvPr/>
        </p:nvSpPr>
        <p:spPr>
          <a:xfrm>
            <a:off x="6848856" y="2255155"/>
            <a:ext cx="4757623" cy="2347689"/>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sney-concert-hall.jpg"/>
          <p:cNvPicPr>
            <a:picLocks noChangeAspect="1"/>
          </p:cNvPicPr>
          <p:nvPr/>
        </p:nvPicPr>
        <p:blipFill>
          <a:blip r:embed="rId2"/>
          <a:stretch>
            <a:fillRect/>
          </a:stretch>
        </p:blipFill>
        <p:spPr>
          <a:xfrm>
            <a:off x="6903720" y="2310019"/>
            <a:ext cx="4647895" cy="2237961"/>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洛杉磯華特迪士尼音樂廳（蓋瑞設計，2003）——一筆捐款換來的城市地標（攝影 J.J. Harrison，CC BY-SA）</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pic>
        <p:nvPicPr>
          <p:cNvPr id="2" name="Picture 1" descr="esterhaza-haydn.jpg"/>
          <p:cNvPicPr>
            <a:picLocks noChangeAspect="1"/>
          </p:cNvPicPr>
          <p:nvPr/>
        </p:nvPicPr>
        <p:blipFill>
          <a:blip r:embed="rId2"/>
          <a:srcRect t="1628" b="1628"/>
          <a:stretch>
            <a:fillRect/>
          </a:stretch>
        </p:blipFill>
        <p:spPr>
          <a:xfrm>
            <a:off x="6583515" y="0"/>
            <a:ext cx="5608179" cy="6858000"/>
          </a:xfrm>
          <a:prstGeom prst="rect">
            <a:avLst/>
          </a:prstGeom>
        </p:spPr>
      </p:pic>
      <p:sp>
        <p:nvSpPr>
          <p:cNvPr id="3" name="Rectangle 2"/>
          <p:cNvSpPr/>
          <p:nvPr/>
        </p:nvSpPr>
        <p:spPr>
          <a:xfrm>
            <a:off x="6583515" y="0"/>
            <a:ext cx="5608179" cy="6858000"/>
          </a:xfrm>
          <a:prstGeom prst="rect">
            <a:avLst/>
          </a:prstGeom>
          <a:solidFill>
            <a:srgbClr val="241A11">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017" cy="6858000"/>
          </a:xfrm>
          <a:prstGeom prst="rect">
            <a:avLst/>
          </a:prstGeom>
          <a:solidFill>
            <a:srgbClr val="241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1463003" cy="6858000"/>
          </a:xfrm>
          <a:prstGeom prst="rect">
            <a:avLst/>
          </a:prstGeom>
          <a:solidFill>
            <a:srgbClr val="241A1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743200"/>
            <a:ext cx="82296" cy="9144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468880"/>
            <a:ext cx="5181447" cy="2377440"/>
          </a:xfrm>
          <a:prstGeom prst="rect">
            <a:avLst/>
          </a:prstGeom>
          <a:noFill/>
        </p:spPr>
        <p:txBody>
          <a:bodyPr wrap="square" anchor="t" lIns="0" rIns="0" tIns="0" bIns="0">
            <a:noAutofit/>
          </a:bodyPr>
          <a:lstStyle/>
          <a:p>
            <a:pPr algn="l">
              <a:lnSpc>
                <a:spcPct val="115000"/>
              </a:lnSpc>
              <a:spcBef>
                <a:spcPts val="0"/>
              </a:spcBef>
              <a:spcAft>
                <a:spcPts val="1000"/>
              </a:spcAft>
            </a:pPr>
            <a:r>
              <a:rPr sz="1300" b="1">
                <a:solidFill>
                  <a:srgbClr val="F2D7A6"/>
                </a:solidFill>
                <a:latin typeface="Microsoft JhengHei"/>
                <a:ea typeface="Microsoft JhengHei"/>
                <a:cs typeface="Microsoft JhengHei"/>
              </a:rPr>
              <a:t>MUSIC × BUSINESS</a:t>
            </a:r>
          </a:p>
          <a:p>
            <a:pPr algn="l">
              <a:lnSpc>
                <a:spcPct val="105000"/>
              </a:lnSpc>
              <a:spcBef>
                <a:spcPts val="0"/>
              </a:spcBef>
              <a:spcAft>
                <a:spcPts val="1200"/>
              </a:spcAft>
            </a:pPr>
            <a:r>
              <a:rPr sz="3800" b="1">
                <a:solidFill>
                  <a:srgbClr val="FFFFFF"/>
                </a:solidFill>
                <a:latin typeface="Microsoft JhengHei"/>
                <a:ea typeface="Microsoft JhengHei"/>
                <a:cs typeface="Microsoft JhengHei"/>
              </a:rPr>
              <a:t>第五樣：人才與凝聚</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長期養一支團隊、蓋一座舞台——換到的是人才、是研發，還有整個組織的向心力</a:t>
            </a:r>
          </a:p>
        </p:txBody>
      </p:sp>
      <p:sp>
        <p:nvSpPr>
          <p:cNvPr id="8" name="TextBox 7"/>
          <p:cNvSpPr txBox="1"/>
          <p:nvPr/>
        </p:nvSpPr>
        <p:spPr>
          <a:xfrm>
            <a:off x="6583515" y="6382512"/>
            <a:ext cx="5379579" cy="384048"/>
          </a:xfrm>
          <a:prstGeom prst="rect">
            <a:avLst/>
          </a:prstGeom>
          <a:noFill/>
        </p:spPr>
        <p:txBody>
          <a:bodyPr wrap="square" anchor="b" lIns="0" rIns="0" tIns="0" bIns="0">
            <a:noAutofit/>
          </a:bodyPr>
          <a:lstStyle/>
          <a:p>
            <a:pPr algn="ctr">
              <a:lnSpc>
                <a:spcPct val="105000"/>
              </a:lnSpc>
              <a:spcBef>
                <a:spcPts val="0"/>
              </a:spcBef>
              <a:spcAft>
                <a:spcPts val="600"/>
              </a:spcAft>
            </a:pPr>
            <a:r>
              <a:rPr sz="1000" b="0">
                <a:solidFill>
                  <a:srgbClr val="E8D5B0"/>
                </a:solidFill>
                <a:latin typeface="Microsoft JhengHei"/>
                <a:ea typeface="Microsoft JhengHei"/>
                <a:cs typeface="Microsoft JhengHei"/>
              </a:rPr>
              <a:t>埃斯特哈薩宮（「匈牙利的凡爾賽」）——親王自建的私人文化基地</a:t>
            </a:r>
          </a:p>
        </p:txBody>
      </p:sp>
      <p:sp>
        <p:nvSpPr>
          <p:cNvPr id="9" name="TextBox 8"/>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10" name="TextBox 9"/>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埃斯特哈齊親王：花錢養一座「私人研發中心」</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埃斯特哈齊（Esterházy）親王＝把「養音樂」當長期投資的貴族企業家：蓋了「匈牙利的凡爾賽」莊園，歌劇院、劇場、音樂廳一應俱全</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等於自建一座私人研發中心＋門面工程：撐排場、招待貴賓、凝聚聲望</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親王愛玩冷門樂器巴里頓琴（baryton），樂團就得為它量身打造上百首曲子——金主的品味，決定研發方向</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回報：埃斯特哈齊這個姓氏，兩百多年後仍被記得（對應提案第 1 點：長期穩定資助＋場館養創新）</a:t>
            </a:r>
          </a:p>
        </p:txBody>
      </p:sp>
      <p:sp>
        <p:nvSpPr>
          <p:cNvPr id="5" name="Rectangle 4"/>
          <p:cNvSpPr/>
          <p:nvPr/>
        </p:nvSpPr>
        <p:spPr>
          <a:xfrm>
            <a:off x="7689797" y="1499616"/>
            <a:ext cx="3075740"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aydn-portrait.jpg"/>
          <p:cNvPicPr>
            <a:picLocks noChangeAspect="1"/>
          </p:cNvPicPr>
          <p:nvPr/>
        </p:nvPicPr>
        <p:blipFill>
          <a:blip r:embed="rId2"/>
          <a:stretch>
            <a:fillRect/>
          </a:stretch>
        </p:blipFill>
        <p:spPr>
          <a:xfrm>
            <a:off x="7744661" y="1554480"/>
            <a:ext cx="2966012"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約瑟夫·海頓——埃斯特哈齊親王的宮廷樂長，替家族量身寫了一輩子的曲子</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41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46518" y="0"/>
            <a:ext cx="4145176" cy="6858000"/>
          </a:xfrm>
          <a:prstGeom prst="rect">
            <a:avLst/>
          </a:prstGeom>
          <a:solidFill>
            <a:srgbClr val="5E2C22">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743200"/>
            <a:ext cx="82296" cy="9144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468880"/>
            <a:ext cx="8168335" cy="2377440"/>
          </a:xfrm>
          <a:prstGeom prst="rect">
            <a:avLst/>
          </a:prstGeom>
          <a:noFill/>
        </p:spPr>
        <p:txBody>
          <a:bodyPr wrap="square" anchor="t" lIns="0" rIns="0" tIns="0" bIns="0">
            <a:noAutofit/>
          </a:bodyPr>
          <a:lstStyle/>
          <a:p>
            <a:pPr algn="l">
              <a:lnSpc>
                <a:spcPct val="115000"/>
              </a:lnSpc>
              <a:spcBef>
                <a:spcPts val="0"/>
              </a:spcBef>
              <a:spcAft>
                <a:spcPts val="1000"/>
              </a:spcAft>
            </a:pPr>
            <a:r>
              <a:rPr sz="1300" b="1">
                <a:solidFill>
                  <a:srgbClr val="F2D7A6"/>
                </a:solidFill>
                <a:latin typeface="Microsoft JhengHei"/>
                <a:ea typeface="Microsoft JhengHei"/>
                <a:cs typeface="Microsoft JhengHei"/>
              </a:rPr>
              <a:t>MUSIC × BUSINESS</a:t>
            </a:r>
          </a:p>
          <a:p>
            <a:pPr algn="l">
              <a:lnSpc>
                <a:spcPct val="105000"/>
              </a:lnSpc>
              <a:spcBef>
                <a:spcPts val="0"/>
              </a:spcBef>
              <a:spcAft>
                <a:spcPts val="1200"/>
              </a:spcAft>
            </a:pPr>
            <a:r>
              <a:rPr sz="3800" b="1">
                <a:solidFill>
                  <a:srgbClr val="FFFFFF"/>
                </a:solidFill>
                <a:latin typeface="Microsoft JhengHei"/>
                <a:ea typeface="Microsoft JhengHei"/>
                <a:cs typeface="Microsoft JhengHei"/>
              </a:rPr>
              <a:t>第六樣：國家與企業的形象</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音樂能替一個國家、一家企業，寫下難以複製的「氣質」——國力、觀光財、品牌形象</a:t>
            </a:r>
          </a:p>
        </p:txBody>
      </p:sp>
      <p:sp>
        <p:nvSpPr>
          <p:cNvPr id="6" name="TextBox 5"/>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7" name="TextBox 6"/>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大衛《拿破崙加冕》：國家花錢，買一張形象</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1804 年，拿破崙（Napoléon）下令委託畫家大衛（Jacques-Louis David）畫下加冕大典——一件國家級的形象工程</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甲方改稿改得理直氣壯：缺席的母親被畫進最尊貴的包廂；教皇被要求從「旁觀」改成「舉手祝福」</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報酬：大衛自估十萬法郎，最後實收六萬五——強勢甲方，兩百年前就這樣</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出錢的拿破崙，買到的是一整個帝國的「國家形象」，永遠掛在羅浮宮</a:t>
            </a:r>
          </a:p>
        </p:txBody>
      </p:sp>
      <p:sp>
        <p:nvSpPr>
          <p:cNvPr id="5" name="Rectangle 4"/>
          <p:cNvSpPr/>
          <p:nvPr/>
        </p:nvSpPr>
        <p:spPr>
          <a:xfrm>
            <a:off x="6848856" y="1912590"/>
            <a:ext cx="4757623" cy="303281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7204301384456275685.jpg"/>
          <p:cNvPicPr>
            <a:picLocks noChangeAspect="1"/>
          </p:cNvPicPr>
          <p:nvPr/>
        </p:nvPicPr>
        <p:blipFill>
          <a:blip r:embed="rId2"/>
          <a:stretch>
            <a:fillRect/>
          </a:stretch>
        </p:blipFill>
        <p:spPr>
          <a:xfrm>
            <a:off x="6903720" y="1967454"/>
            <a:ext cx="4647895" cy="2923090"/>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大衛《拿破崙加冕》（1805–1807），羅浮宮——國家出資訂製的形象工程</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德拉克洛瓦《自由引導人民》：國家花三千法郎，買一份認同</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1830 年七月革命後，法國政府以 3,000 法郎買下德拉克洛瓦（Delacroix）的《自由引導人民》</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政治訊息太強，一度被收起；直到 1874 年才正式進羅浮宮</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1978–1995 印上法國 100 法郎紙鈔——藝術變成全國人天天在用的國家識別</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政府買畫、企業贊助，買的都是同一樣東西：認同</a:t>
            </a:r>
          </a:p>
        </p:txBody>
      </p:sp>
      <p:sp>
        <p:nvSpPr>
          <p:cNvPr id="5" name="Rectangle 4"/>
          <p:cNvSpPr/>
          <p:nvPr/>
        </p:nvSpPr>
        <p:spPr>
          <a:xfrm>
            <a:off x="6848856" y="1509531"/>
            <a:ext cx="4757623" cy="3838937"/>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8947683932002900733.jpg"/>
          <p:cNvPicPr>
            <a:picLocks noChangeAspect="1"/>
          </p:cNvPicPr>
          <p:nvPr/>
        </p:nvPicPr>
        <p:blipFill>
          <a:blip r:embed="rId2"/>
          <a:stretch>
            <a:fillRect/>
          </a:stretch>
        </p:blipFill>
        <p:spPr>
          <a:xfrm>
            <a:off x="6903720" y="1564395"/>
            <a:ext cx="4647895" cy="372920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德拉克洛瓦《自由引導人民》（1830），羅浮宮——曾印上法國百元紙鈔的國家識別</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威爾第：用一首歌，凝聚一個國家（音樂＝國力）</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十九世紀的義大利四分五裂、國勢衰弱；威爾第（Verdi）的歌劇讓全民因音樂而振奮</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《那布果 Nabucco》裡的〈Va, pensiero〉（希伯來奴隸大合唱）成了統一運動（Risorgimento）的非官方國歌</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民眾高喊「Viva VERDI」——表面是「威爾第萬歲」，其實是「義大利國王萬歲」的政治暗號</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一段旋律，凝聚了一個還沒統一的國家——這就是音樂的國力</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威爾第〈Va, pensiero〉——皇家歌劇院合唱團（Royal Opera Chorus，倫敦…</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國力段代表曲　｜　建議 00:00–03:00</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普契尼：作曲家替國家寫下觀光財（音樂＝國家形象）</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普契尼（Puccini）的《蝴蝶夫人》讓日本長崎哥拉巴園成了「蝴蝶夫人之家」，一年近 200 萬訪客</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《托斯卡》把羅馬的地標寫成歌劇朝聖點——一個地方的觀光財，常是作曲家替它寫出來的</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音樂替一座城市寫下難以複製的氣質，然後這股氣質能一直收門票、一直帶客人</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對品牌來說也一樣：對的音樂，能替你寫下一張讓人想靠近的名片</a:t>
            </a:r>
          </a:p>
        </p:txBody>
      </p:sp>
      <p:pic>
        <p:nvPicPr>
          <p:cNvPr id="5" name="Picture 4" descr="8uqPnY5hQDs.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普契尼〈今夜無人入睡 Nessun dorma〉——Luciano Pavarotti（官方 VE…</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國家形象段代表曲，普契尼歌劇的感染力</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德布西＋Chanel：法國浪漫，成了精品廣告的配方</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想到法國，你會想到浪漫——這股印象，很大一部分是德布西（Debussy）用《月光》《海》《牧神的午後》一筆一筆寫出來的</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一個國家的「氣質」，可以由作曲家寫成；而氣質，就是最值錢的觀光與品牌資產</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一百多年後，這股氣質被精品直接借去：Chanel No.5《The Film》（2004，Baz Luhrmann 導、Nicole Kidman 主演）就用德布西《月光》當配樂</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那支廣告造價約 3,300 萬美元，是「史上最貴的香水廣告」——賣的不是香水成分，是德布西替法國寫下的那種高雅</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德布西《月光 Clair de Lune》——Khatia Buniatishvili（也是 Ch…</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國家/品牌形象段，聽德布西替法國寫下的「浪漫名片」，也是 Chanel 借去的那股高雅　｜　建議 00:00–02…</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英國航空借〈花之二重唱〉，把機位變成精品（音樂＝企業品牌）</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頂級品牌很懂：借一段古典音樂，就能替冷冰冰的產品鍍上「格調」，把功能變成身分認同</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英國航空（British Airways）1989 年的經典廣告《Face》，用的是德利伯（Léo Delibes）歌劇《拉克美》裡的〈花之二重唱〉</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一段原本冷門的詠嘆調，被英航一用就是三十五年、2019 年百週年還重新編曲——等於把選曲變成一筆會增值的品牌資產</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同樣的手法到處都是：Stella Artois 用威爾第、De Beers 用 Jenkins、飛雅特用羅西尼——古典音樂，是最省力的「格調外掛」</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英國航空〈花之二重唱〉廣告（British Airways Flower Duet, Delibe…</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企業品牌段，聽這段被英航用了 35 年的旋律，感受「借古典樂鍍格調」</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奇美：許文龍，台灣的梅迪奇（音樂＝企業品牌）</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奇美（Chimei）許文龍做的是石化、電子——如果沒做接下來這件事，大家對奇美的印象，可能只是硬邦邦的塑膠與面板</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他收藏了世界數量最多的名琴，蓋了奇美博物館——用藝術，把整家企業的形象往上升一級</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這是台灣自己的梅迪奇：你不必在歐洲、不必是貴族，台灣的企業家一樣做得到</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最貼近各位的示範——就在台南</a:t>
            </a:r>
          </a:p>
        </p:txBody>
      </p:sp>
      <p:pic>
        <p:nvPicPr>
          <p:cNvPr id="5" name="Picture 4" descr="plEnfABwsS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奇美博物館「製琴聖殿·名琴競演」提琴音樂饗宴——奇美博物館官方（已驗證；若有馬友友專屬影片可替換）</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企業品牌段，台灣本地「梅迪奇」用名琴的實證</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奇美的高招：把價值連城的名琴，免費借出去</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奇美最高明的一步：把史特拉底瓦里（Stradivari，史上最頂級的名琴品牌）等名琴，免費借給頂尖音樂家</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從台灣之光曾宇謙，到國際大師馬友友（Yo-Yo Ma）——名家在世界舞台上拉的琴，掛著「奇美」的名字</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一把琴出借，換來的是全球舞台上、源源不絕的品牌曝光與好感</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這就是「以藝術養品牌」最聰明的槓桿：不必自己上台，讓大師替你發光</a:t>
            </a:r>
          </a:p>
        </p:txBody>
      </p:sp>
      <p:sp>
        <p:nvSpPr>
          <p:cNvPr id="5" name="Rectangle 4"/>
          <p:cNvSpPr/>
          <p:nvPr/>
        </p:nvSpPr>
        <p:spPr>
          <a:xfrm>
            <a:off x="8502662" y="1499616"/>
            <a:ext cx="1450009"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radivari-violin.jpg"/>
          <p:cNvPicPr>
            <a:picLocks noChangeAspect="1"/>
          </p:cNvPicPr>
          <p:nvPr/>
        </p:nvPicPr>
        <p:blipFill>
          <a:blip r:embed="rId2"/>
          <a:stretch>
            <a:fillRect/>
          </a:stretch>
        </p:blipFill>
        <p:spPr>
          <a:xfrm>
            <a:off x="8557526" y="1554480"/>
            <a:ext cx="1340281"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史特拉底瓦里名琴（示意）——奇美收藏逾 1,370 把提琴，免費借給頂尖演奏家</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台灣的贊助廠商：不只奇美</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台灣早有一批企業在當「現代梅迪奇」——奇美只是最亮眼的一個</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台積電文教基金會長年支持藝文與音樂教育；富邦藝術基金會（1997 成立）深耕藝術推廣</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最有感的數字：國泰金控贊助雲門舞集的免費戶外公演，辦了近 30 年、累積逾 265 萬人次進場</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意涵：這不是遙遠的歐洲故事，而是台灣企業正在做、你也做得到的事</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41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46518" y="0"/>
            <a:ext cx="4145176" cy="6858000"/>
          </a:xfrm>
          <a:prstGeom prst="rect">
            <a:avLst/>
          </a:prstGeom>
          <a:solidFill>
            <a:srgbClr val="5E2C22">
              <a:alpha val="2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743200"/>
            <a:ext cx="82296" cy="9144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468880"/>
            <a:ext cx="8168335" cy="2377440"/>
          </a:xfrm>
          <a:prstGeom prst="rect">
            <a:avLst/>
          </a:prstGeom>
          <a:noFill/>
        </p:spPr>
        <p:txBody>
          <a:bodyPr wrap="square" anchor="t" lIns="0" rIns="0" tIns="0" bIns="0">
            <a:noAutofit/>
          </a:bodyPr>
          <a:lstStyle/>
          <a:p>
            <a:pPr algn="l">
              <a:lnSpc>
                <a:spcPct val="115000"/>
              </a:lnSpc>
              <a:spcBef>
                <a:spcPts val="0"/>
              </a:spcBef>
              <a:spcAft>
                <a:spcPts val="1000"/>
              </a:spcAft>
            </a:pPr>
            <a:r>
              <a:rPr sz="1300" b="1">
                <a:solidFill>
                  <a:srgbClr val="F2D7A6"/>
                </a:solidFill>
                <a:latin typeface="Microsoft JhengHei"/>
                <a:ea typeface="Microsoft JhengHei"/>
                <a:cs typeface="Microsoft JhengHei"/>
              </a:rPr>
              <a:t>MUSIC × BUSINESS</a:t>
            </a:r>
          </a:p>
          <a:p>
            <a:pPr algn="l">
              <a:lnSpc>
                <a:spcPct val="105000"/>
              </a:lnSpc>
              <a:spcBef>
                <a:spcPts val="0"/>
              </a:spcBef>
              <a:spcAft>
                <a:spcPts val="1200"/>
              </a:spcAft>
            </a:pPr>
            <a:r>
              <a:rPr sz="3800" b="1">
                <a:solidFill>
                  <a:srgbClr val="FFFFFF"/>
                </a:solidFill>
                <a:latin typeface="Microsoft JhengHei"/>
                <a:ea typeface="Microsoft JhengHei"/>
                <a:cs typeface="Microsoft JhengHei"/>
              </a:rPr>
              <a:t>第七樣，最硬的回報：實實在在的錢</a:t>
            </a:r>
          </a:p>
          <a:p>
            <a:pPr algn="l">
              <a:lnSpc>
                <a:spcPct val="125000"/>
              </a:lnSpc>
              <a:spcBef>
                <a:spcPts val="0"/>
              </a:spcBef>
              <a:spcAft>
                <a:spcPts val="600"/>
              </a:spcAft>
            </a:pPr>
            <a:r>
              <a:rPr sz="1650" b="0">
                <a:solidFill>
                  <a:srgbClr val="E8DCC0"/>
                </a:solidFill>
                <a:latin typeface="Microsoft JhengHei"/>
                <a:ea typeface="Microsoft JhengHei"/>
                <a:cs typeface="Microsoft JhengHei"/>
              </a:rPr>
              <a:t>前面講的都是形象與名聲；最後這個故事，是白花花的鈔票——一首歌，撐起一家百年公司</a:t>
            </a:r>
          </a:p>
        </p:txBody>
      </p:sp>
      <p:sp>
        <p:nvSpPr>
          <p:cNvPr id="6" name="TextBox 5"/>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7" name="TextBox 6"/>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Funiculì：纜車公司花錢委創，一首宣傳歌</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1880 年維蘇威火山纜車開通，卻碰上「大家怕火山、不敢坐」——一個經典的新產品滯銷難題</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纜車公司的解方：花錢委託作曲家丹薩（Denza）寫一首宣傳歌《Funiculì, Funiculà》（「纜車上山、纜車下山」）</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這是被許多人稱為「史上最早的廣告歌」之一——一開始就是為了賣一項產品而寫</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出錢的是誰？纜車公司。他們要的不是藝術，是把「怕」變成「想去」</a:t>
            </a:r>
          </a:p>
        </p:txBody>
      </p:sp>
      <p:sp>
        <p:nvSpPr>
          <p:cNvPr id="5" name="Rectangle 4"/>
          <p:cNvSpPr/>
          <p:nvPr/>
        </p:nvSpPr>
        <p:spPr>
          <a:xfrm>
            <a:off x="6848856" y="1570752"/>
            <a:ext cx="4757623" cy="3716494"/>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esuvius-funicular.jpg"/>
          <p:cNvPicPr>
            <a:picLocks noChangeAspect="1"/>
          </p:cNvPicPr>
          <p:nvPr/>
        </p:nvPicPr>
        <p:blipFill>
          <a:blip r:embed="rId2"/>
          <a:stretch>
            <a:fillRect/>
          </a:stretch>
        </p:blipFill>
        <p:spPr>
          <a:xfrm>
            <a:off x="6903720" y="1625616"/>
            <a:ext cx="4647895" cy="3606766"/>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1880 年通車的維蘇威火山纜車（歷史照片）——一首委創宣傳歌的舞台</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一首歌，把客人唱上山</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效果炸裂：樂譜一年賣破百萬份，歌聲傳遍全歐洲，「去拿坡里坐纜車」變成整個歐洲的旅遊想像</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一首三分鐘的歌，把大家的「怕」，唱成了「想去」</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名氣兌現成生意：1888 旅行社龍頭湯瑪斯·庫克（Thomas Cook）把纜車編進國際行程，運量一路倍增</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這條成長曲線的起點，就是纜車公司當年花錢委託的那一首歌</a:t>
            </a:r>
          </a:p>
        </p:txBody>
      </p:sp>
      <p:sp>
        <p:nvSpPr>
          <p:cNvPr id="5" name="Rectangle 4"/>
          <p:cNvSpPr/>
          <p:nvPr/>
        </p:nvSpPr>
        <p:spPr>
          <a:xfrm>
            <a:off x="6848856" y="1621989"/>
            <a:ext cx="4757623" cy="3614020"/>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esuvius-funicular-cook-era.jpg"/>
          <p:cNvPicPr>
            <a:picLocks noChangeAspect="1"/>
          </p:cNvPicPr>
          <p:nvPr/>
        </p:nvPicPr>
        <p:blipFill>
          <a:blip r:embed="rId2"/>
          <a:stretch>
            <a:fillRect/>
          </a:stretch>
        </p:blipFill>
        <p:spPr>
          <a:xfrm>
            <a:off x="6903720" y="1676853"/>
            <a:ext cx="4647895" cy="3504292"/>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湯瑪斯·庫克時代的維蘇威纜車——一首歌把整個歐洲的旅客唱上山</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維蘇威纜車：打不倒的百年行銷資產</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1906 火山大噴發全毀 → 1909 就重建復駛；1911 山崩 → 1912 又開——因為那首歌帶來的名氣與客源，讓每次重建都算得過來</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硬體會被天災淘汰；那首 1880 年的委創歌，到今天還在全世界替維蘇威、替拿坡里「免費帶客」</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給企業家的啟示：產品有生命週期，一次到位的贊助內容，卻是跨世紀資產</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一次委創，回報以百年計——這就是「投資美」最極致的複利</a:t>
            </a:r>
          </a:p>
        </p:txBody>
      </p:sp>
      <p:sp>
        <p:nvSpPr>
          <p:cNvPr id="5" name="Rectangle 4"/>
          <p:cNvSpPr/>
          <p:nvPr/>
        </p:nvSpPr>
        <p:spPr>
          <a:xfrm>
            <a:off x="7065367" y="1499616"/>
            <a:ext cx="4324599" cy="3858768"/>
          </a:xfrm>
          <a:prstGeom prst="rect">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7936467805617700914.jpg"/>
          <p:cNvPicPr>
            <a:picLocks noChangeAspect="1"/>
          </p:cNvPicPr>
          <p:nvPr/>
        </p:nvPicPr>
        <p:blipFill>
          <a:blip r:embed="rId2"/>
          <a:stretch>
            <a:fillRect/>
          </a:stretch>
        </p:blipFill>
        <p:spPr>
          <a:xfrm>
            <a:off x="7120231" y="1554480"/>
            <a:ext cx="4214871" cy="3749039"/>
          </a:xfrm>
          <a:prstGeom prst="rect">
            <a:avLst/>
          </a:prstGeom>
        </p:spPr>
      </p:pic>
      <p:sp>
        <p:nvSpPr>
          <p:cNvPr id="7" name="TextBox 6"/>
          <p:cNvSpPr txBox="1"/>
          <p:nvPr/>
        </p:nvSpPr>
        <p:spPr>
          <a:xfrm>
            <a:off x="6903720" y="5349240"/>
            <a:ext cx="464789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1906 年維蘇威火山大噴發——硬體全毀，那首委創歌卻至今還在帶客</a:t>
            </a:r>
          </a:p>
        </p:txBody>
      </p:sp>
      <p:sp>
        <p:nvSpPr>
          <p:cNvPr id="8" name="TextBox 7"/>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9" name="TextBox 8"/>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企業的回報：贊助藝術，買到錢買不到的東西</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品牌聲望與差異化 ← 像卡內基與拜羅伊特：把名字刻進文化史、打造非朝聖不可的聖地</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客戶關係與高端形象 ← 像英國航空、奇美：用藝術替品牌鍍格調，深化高價值客群</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人才吸引與員工凝聚 ← 像埃斯特哈齊：長期養才＋場館養創新，凝聚內部認同</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可量化的溢價 ← 藝文投資換成品牌溢價與實利（奇美形象、普契尼觀光客、纜車百年運量）</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記憶金句：不是成本，是會增值的長期資產（稅務優惠依文化藝術相關法規評估，建議洽會計師）</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企業家最適合聽的音樂</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郭德堡變奏曲：規律、清澈——高壓中沉澱思緒、專注決策，也用來紓壓（今天的主打①）</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貝多芬〈歡樂頌〉：凝聚人心、鼓舞士氣——尾牙、開工、團隊誓師的最佳配樂（主打②）</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Funiculì, Funiculà：輕快好上口——炒熱氣氛、帶動全場（今天的壓軸帶動唱）</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德布西《月光》：沉靜——獨處、沉澱、招待的背景音</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用音樂管理情緒與場合，是領導者最低成本的軟實力</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給企業的五點提案（一）</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第 1 點 像埃斯特哈齊：長期穩定資助 ＋ 用場館養創新（給藝術家一個能安心研發的家）</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第 2 點 像佛瑞的女伯爵：找一位對的藝術家，深度綁定、長期陪他成名</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給企業的五點提案（二）</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第 3 點 像拜羅伊特、卡內基：把場館／音樂節做成 iconic 品牌、把名字冠上去</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第 4 點 像纜車公司：委託一支「屬於你品牌」的作品／主題曲，讓它替你長期帶客</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給企業的五點提案（三）</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第 5 點 像梅迪奇與《夜巡》公會：一個人、或一群人合資，當金主，換取聲望與差異化</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三個記憶點：對等、可持續、共融——不是施捨，是對等合作；不是一次曝光，是可持續關係；不是高高在上，是共融</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sp>
        <p:nvSpPr>
          <p:cNvPr id="2" name="Rectangle 1"/>
          <p:cNvSpPr/>
          <p:nvPr/>
        </p:nvSpPr>
        <p:spPr>
          <a:xfrm>
            <a:off x="640080" y="603504"/>
            <a:ext cx="68580" cy="54864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9082735" cy="822960"/>
          </a:xfrm>
          <a:prstGeom prst="rect">
            <a:avLst/>
          </a:prstGeom>
          <a:noFill/>
        </p:spPr>
        <p:txBody>
          <a:bodyPr wrap="square" anchor="t" lIns="0" rIns="0" tIns="0" bIns="0">
            <a:noAutofit/>
          </a:bodyPr>
          <a:lstStyle/>
          <a:p>
            <a:pPr algn="l">
              <a:lnSpc>
                <a:spcPct val="115000"/>
              </a:lnSpc>
              <a:spcBef>
                <a:spcPts val="0"/>
              </a:spcBef>
              <a:spcAft>
                <a:spcPts val="400"/>
              </a:spcAft>
            </a:pPr>
            <a:r>
              <a:rPr sz="1250" b="1">
                <a:solidFill>
                  <a:srgbClr val="F2D7A6"/>
                </a:solidFill>
                <a:latin typeface="Microsoft JhengHei"/>
                <a:ea typeface="Microsoft JhengHei"/>
                <a:cs typeface="Microsoft JhengHei"/>
              </a:rPr>
              <a:t>樂譜 · SCORE</a:t>
            </a:r>
          </a:p>
          <a:p>
            <a:pPr algn="l">
              <a:lnSpc>
                <a:spcPct val="105000"/>
              </a:lnSpc>
              <a:spcBef>
                <a:spcPts val="0"/>
              </a:spcBef>
              <a:spcAft>
                <a:spcPts val="600"/>
              </a:spcAft>
            </a:pPr>
            <a:r>
              <a:rPr sz="2600" b="1">
                <a:solidFill>
                  <a:srgbClr val="FFFFFF"/>
                </a:solidFill>
                <a:latin typeface="Microsoft JhengHei"/>
                <a:ea typeface="Microsoft JhengHei"/>
                <a:cs typeface="Microsoft JhengHei"/>
              </a:rPr>
              <a:t>當代委創（樂譜頁）：今天輪到你當金主</a:t>
            </a:r>
          </a:p>
        </p:txBody>
      </p:sp>
      <p:sp>
        <p:nvSpPr>
          <p:cNvPr id="4" name="Rounded Rectangle 3"/>
          <p:cNvSpPr/>
          <p:nvPr/>
        </p:nvSpPr>
        <p:spPr>
          <a:xfrm>
            <a:off x="640080" y="1828800"/>
            <a:ext cx="10911535" cy="4023360"/>
          </a:xfrm>
          <a:prstGeom prst="roundRect">
            <a:avLst>
              <a:gd name="adj" fmla="val 2000"/>
            </a:avLst>
          </a:prstGeom>
          <a:solidFill>
            <a:srgbClr val="FFFFFF"/>
          </a:solidFill>
          <a:ln>
            <a:noFill/>
          </a:ln>
          <a:effectLst>
            <a:outerShdw blurRad="114300" dist="63500" dir="5400000" rotWithShape="0">
              <a:srgbClr val="2A1C10">
                <a:alpha val="3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ore-modern-placeholder.png"/>
          <p:cNvPicPr>
            <a:picLocks noChangeAspect="1"/>
          </p:cNvPicPr>
          <p:nvPr/>
        </p:nvPicPr>
        <p:blipFill>
          <a:blip r:embed="rId2"/>
          <a:stretch>
            <a:fillRect/>
          </a:stretch>
        </p:blipFill>
        <p:spPr>
          <a:xfrm>
            <a:off x="3560662" y="2057400"/>
            <a:ext cx="5070369" cy="3566160"/>
          </a:xfrm>
          <a:prstGeom prst="rect">
            <a:avLst/>
          </a:prstGeom>
        </p:spPr>
      </p:pic>
      <p:sp>
        <p:nvSpPr>
          <p:cNvPr id="6" name="TextBox 5"/>
          <p:cNvSpPr txBox="1"/>
          <p:nvPr/>
        </p:nvSpPr>
        <p:spPr>
          <a:xfrm>
            <a:off x="731519" y="6016752"/>
            <a:ext cx="10728655" cy="640080"/>
          </a:xfrm>
          <a:prstGeom prst="rect">
            <a:avLst/>
          </a:prstGeom>
          <a:noFill/>
        </p:spPr>
        <p:txBody>
          <a:bodyPr wrap="square" anchor="t" lIns="0" rIns="0" tIns="0" bIns="0">
            <a:noAutofit/>
          </a:bodyPr>
          <a:lstStyle/>
          <a:p>
            <a:pPr algn="l">
              <a:lnSpc>
                <a:spcPct val="120000"/>
              </a:lnSpc>
              <a:spcBef>
                <a:spcPts val="0"/>
              </a:spcBef>
              <a:spcAft>
                <a:spcPts val="600"/>
              </a:spcAft>
            </a:pPr>
            <a:r>
              <a:rPr sz="1300" b="0">
                <a:solidFill>
                  <a:srgbClr val="E8DCC0"/>
                </a:solidFill>
                <a:latin typeface="Microsoft JhengHei"/>
                <a:ea typeface="Microsoft JhengHei"/>
                <a:cs typeface="Microsoft JhengHei"/>
              </a:rPr>
              <a:t>從梅迪奇到你的品牌：委託一部新作品，就是把名字寫進未來的文化史　｜　現場示意：當代鋼琴新作片段</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C9B492"/>
                </a:solidFill>
                <a:latin typeface="Microsoft JhengHei"/>
                <a:ea typeface="Microsoft JhengHei"/>
                <a:cs typeface="Microsoft JhengHei"/>
              </a:rPr>
              <a:t>音樂與企業</a:t>
            </a:r>
            <a:r>
              <a:rPr sz="1050" b="0">
                <a:solidFill>
                  <a:srgbClr val="C9B492"/>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B09468"/>
                </a:solidFill>
                <a:latin typeface="Microsoft JhengHei"/>
                <a:ea typeface="Microsoft JhengHei"/>
                <a:cs typeface="Microsoft JhengHe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重點回顧：贊助，換到七樣東西</a:t>
            </a:r>
          </a:p>
        </p:txBody>
      </p:sp>
      <p:sp>
        <p:nvSpPr>
          <p:cNvPr id="4" name="TextBox 3"/>
          <p:cNvSpPr txBox="1"/>
          <p:nvPr/>
        </p:nvSpPr>
        <p:spPr>
          <a:xfrm>
            <a:off x="640080" y="1554480"/>
            <a:ext cx="9082735" cy="4754880"/>
          </a:xfrm>
          <a:prstGeom prst="rect">
            <a:avLst/>
          </a:prstGeom>
          <a:noFill/>
        </p:spPr>
        <p:txBody>
          <a:bodyPr wrap="square" anchor="t" lIns="0" rIns="0" tIns="0" bIns="0">
            <a:noAutofit/>
          </a:bodyPr>
          <a:lstStyle/>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地位與權力（梅迪奇：藝術、聯姻、催生歌劇）／集體曝光（夜巡·你們公會）／不朽之名（貝多芬三貴族·佛瑞·郭德堡·梵谷）</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聖地與冠名（拜羅伊特·卡內基·三得利·迪士尼）／人才與凝聚（埃斯特哈齊）</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國家與品牌形象（拿破崙·威爾第·普契尼·德布西×Chanel·英航·奇美）／最硬的實利（Funiculì 纜車）</a:t>
            </a:r>
          </a:p>
          <a:p>
            <a:pPr algn="l">
              <a:lnSpc>
                <a:spcPct val="122000"/>
              </a:lnSpc>
              <a:spcBef>
                <a:spcPts val="0"/>
              </a:spcBef>
              <a:spcAft>
                <a:spcPts val="1400"/>
              </a:spcAft>
            </a:pPr>
            <a:r>
              <a:rPr sz="1100" b="1">
                <a:solidFill>
                  <a:srgbClr val="AF8230"/>
                </a:solidFill>
                <a:latin typeface="Microsoft JhengHei"/>
                <a:ea typeface="Microsoft JhengHei"/>
                <a:cs typeface="Microsoft JhengHei"/>
              </a:rPr>
              <a:t>●  </a:t>
            </a:r>
            <a:r>
              <a:rPr sz="2000" b="0">
                <a:solidFill>
                  <a:srgbClr val="2B2016"/>
                </a:solidFill>
                <a:latin typeface="Microsoft JhengHei"/>
                <a:ea typeface="Microsoft JhengHei"/>
                <a:cs typeface="Microsoft JhengHei"/>
              </a:rPr>
              <a:t>不論你的公司多大、多小，你都當得起這個金主——帶走這句話：你成就音樂，音樂也成就你</a:t>
            </a:r>
          </a:p>
        </p:txBody>
      </p:sp>
      <p:sp>
        <p:nvSpPr>
          <p:cNvPr id="5" name="TextBox 4"/>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6" name="TextBox 5"/>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03504"/>
            <a:ext cx="68580" cy="457200"/>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9082735" cy="640080"/>
          </a:xfrm>
          <a:prstGeom prst="rect">
            <a:avLst/>
          </a:prstGeom>
          <a:noFill/>
        </p:spPr>
        <p:txBody>
          <a:bodyPr wrap="square" anchor="t" lIns="0" rIns="0" tIns="0" bIns="0">
            <a:noAutofit/>
          </a:bodyPr>
          <a:lstStyle/>
          <a:p>
            <a:pPr algn="l">
              <a:lnSpc>
                <a:spcPct val="105000"/>
              </a:lnSpc>
              <a:spcBef>
                <a:spcPts val="0"/>
              </a:spcBef>
              <a:spcAft>
                <a:spcPts val="600"/>
              </a:spcAft>
            </a:pPr>
            <a:r>
              <a:rPr sz="2500" b="1">
                <a:solidFill>
                  <a:srgbClr val="2B2016"/>
                </a:solidFill>
                <a:latin typeface="Microsoft JhengHei"/>
                <a:ea typeface="Microsoft JhengHei"/>
                <a:cs typeface="Microsoft JhengHei"/>
              </a:rPr>
              <a:t>行動呼籲：成為下一個梅迪奇</a:t>
            </a:r>
          </a:p>
        </p:txBody>
      </p:sp>
      <p:sp>
        <p:nvSpPr>
          <p:cNvPr id="4" name="TextBox 3"/>
          <p:cNvSpPr txBox="1"/>
          <p:nvPr/>
        </p:nvSpPr>
        <p:spPr>
          <a:xfrm>
            <a:off x="877824" y="1078992"/>
            <a:ext cx="9082735" cy="310896"/>
          </a:xfrm>
          <a:prstGeom prst="rect">
            <a:avLst/>
          </a:prstGeom>
          <a:noFill/>
        </p:spPr>
        <p:txBody>
          <a:bodyPr wrap="square" anchor="t" lIns="0" rIns="0" tIns="0" bIns="0">
            <a:noAutofit/>
          </a:bodyPr>
          <a:lstStyle/>
          <a:p>
            <a:pPr algn="l">
              <a:lnSpc>
                <a:spcPct val="115000"/>
              </a:lnSpc>
              <a:spcBef>
                <a:spcPts val="0"/>
              </a:spcBef>
              <a:spcAft>
                <a:spcPts val="600"/>
              </a:spcAft>
            </a:pPr>
            <a:r>
              <a:rPr sz="1350" b="0">
                <a:solidFill>
                  <a:srgbClr val="6E5A40"/>
                </a:solidFill>
                <a:latin typeface="Microsoft JhengHei"/>
                <a:ea typeface="Microsoft JhengHei"/>
                <a:cs typeface="Microsoft JhengHei"/>
              </a:rPr>
              <a:t>你不必是國王、不必是鋼鐵大王——梅迪奇也可以是一個人，或一群合資的生意人</a:t>
            </a:r>
          </a:p>
        </p:txBody>
      </p:sp>
      <p:pic>
        <p:nvPicPr>
          <p:cNvPr id="5" name="Picture 4" descr="medici-cosimo-pontormo.jpg"/>
          <p:cNvPicPr>
            <a:picLocks noChangeAspect="1"/>
          </p:cNvPicPr>
          <p:nvPr/>
        </p:nvPicPr>
        <p:blipFill>
          <a:blip r:embed="rId2"/>
          <a:stretch>
            <a:fillRect/>
          </a:stretch>
        </p:blipFill>
        <p:spPr>
          <a:xfrm>
            <a:off x="4536384" y="1444752"/>
            <a:ext cx="3118926" cy="4206240"/>
          </a:xfrm>
          <a:prstGeom prst="rect">
            <a:avLst/>
          </a:prstGeom>
          <a:effectLst>
            <a:outerShdw blurRad="114300" dist="63500" dir="5400000" rotWithShape="0">
              <a:srgbClr val="2A1C10">
                <a:alpha val="34000"/>
              </a:srgbClr>
            </a:outerShdw>
          </a:effectLst>
        </p:spPr>
      </p:pic>
      <p:sp>
        <p:nvSpPr>
          <p:cNvPr id="6" name="TextBox 5"/>
          <p:cNvSpPr txBox="1"/>
          <p:nvPr/>
        </p:nvSpPr>
        <p:spPr>
          <a:xfrm>
            <a:off x="640080" y="5696712"/>
            <a:ext cx="10911535" cy="329184"/>
          </a:xfrm>
          <a:prstGeom prst="rect">
            <a:avLst/>
          </a:prstGeom>
          <a:noFill/>
        </p:spPr>
        <p:txBody>
          <a:bodyPr wrap="square" anchor="t" lIns="0" rIns="0" tIns="0" bIns="0">
            <a:noAutofit/>
          </a:bodyPr>
          <a:lstStyle/>
          <a:p>
            <a:pPr algn="ctr">
              <a:lnSpc>
                <a:spcPct val="110000"/>
              </a:lnSpc>
              <a:spcBef>
                <a:spcPts val="0"/>
              </a:spcBef>
              <a:spcAft>
                <a:spcPts val="600"/>
              </a:spcAft>
            </a:pPr>
            <a:r>
              <a:rPr sz="1050" b="0">
                <a:solidFill>
                  <a:srgbClr val="6E5A40"/>
                </a:solidFill>
                <a:latin typeface="Microsoft JhengHei"/>
                <a:ea typeface="Microsoft JhengHei"/>
                <a:cs typeface="Microsoft JhengHei"/>
              </a:rPr>
              <a:t>老柯西莫·德·梅迪奇（Pontormo 繪）——第一位「梅迪奇」；下一個，可以是你</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全場帶動唱：Funiculì, Funiculà</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現在換各位親自當一次「內容的傳播者」——一起唱纜車公司那首一百四十年前的廣告歌</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跟我唱副歌：「Jamme, jamme, 'ncoppa jamme jà!」（亞姆美、亞姆美，恩苦帕・亞姆美・亞！）＝「走吧走吧，一起上山去」</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「Funiculì, funiculà!」（福尼庫利、福尼庫拉！）＝「纜車上山、纜車下山」的歡呼</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唱法：講師領唱一次 → 全場跟唱兩次 → 第三次加拍手。不用唱準，只要唱開心</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（伴唱／示範）Pavarotti《Funiculì, Funiculà》——官方音源（Offici…</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壓軸帶動唱伴唱底、講師領唱示範</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621792"/>
            <a:ext cx="68580" cy="566928"/>
          </a:xfrm>
          <a:prstGeom prst="rect">
            <a:avLst/>
          </a:prstGeom>
          <a:solidFill>
            <a:srgbClr val="AF8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77824" y="566928"/>
            <a:ext cx="10399471" cy="914400"/>
          </a:xfrm>
          <a:prstGeom prst="rect">
            <a:avLst/>
          </a:prstGeom>
          <a:noFill/>
        </p:spPr>
        <p:txBody>
          <a:bodyPr wrap="square" anchor="t" lIns="0" rIns="0" tIns="0" bIns="0">
            <a:noAutofit/>
          </a:bodyPr>
          <a:lstStyle/>
          <a:p>
            <a:pPr algn="l">
              <a:lnSpc>
                <a:spcPct val="104000"/>
              </a:lnSpc>
              <a:spcBef>
                <a:spcPts val="0"/>
              </a:spcBef>
              <a:spcAft>
                <a:spcPts val="600"/>
              </a:spcAft>
            </a:pPr>
            <a:r>
              <a:rPr sz="2900" b="1">
                <a:solidFill>
                  <a:srgbClr val="2B2016"/>
                </a:solidFill>
                <a:latin typeface="Microsoft JhengHei"/>
                <a:ea typeface="Microsoft JhengHei"/>
                <a:cs typeface="Microsoft JhengHei"/>
              </a:rPr>
              <a:t>Q&amp;A 與延伸聆聽</a:t>
            </a:r>
          </a:p>
        </p:txBody>
      </p:sp>
      <p:sp>
        <p:nvSpPr>
          <p:cNvPr id="4" name="TextBox 3"/>
          <p:cNvSpPr txBox="1"/>
          <p:nvPr/>
        </p:nvSpPr>
        <p:spPr>
          <a:xfrm>
            <a:off x="640080" y="1554480"/>
            <a:ext cx="5760720" cy="4754880"/>
          </a:xfrm>
          <a:prstGeom prst="rect">
            <a:avLst/>
          </a:prstGeom>
          <a:noFill/>
        </p:spPr>
        <p:txBody>
          <a:bodyPr wrap="square" anchor="t" lIns="0" rIns="0" tIns="0" bIns="0">
            <a:noAutofit/>
          </a:bodyPr>
          <a:lstStyle/>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歡迎提問：你的品牌，最像今天哪一位金主？想當梅迪奇、拜羅伊特，還是揪一群人合資的《夜巡》公會？</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延伸聆聽：巴赫《郭德堡變奏曲》、貝多芬〈歡樂頌〉、丹薩《Funiculì, Funiculà》、佛瑞《帕凡舞曲》、威爾第〈Va, pensiero〉、德布西《月光》</a:t>
            </a:r>
          </a:p>
          <a:p>
            <a:pPr algn="l">
              <a:lnSpc>
                <a:spcPct val="122000"/>
              </a:lnSpc>
              <a:spcBef>
                <a:spcPts val="0"/>
              </a:spcBef>
              <a:spcAft>
                <a:spcPts val="1000"/>
              </a:spcAft>
            </a:pPr>
            <a:r>
              <a:rPr sz="1100" b="1">
                <a:solidFill>
                  <a:srgbClr val="AF8230"/>
                </a:solidFill>
                <a:latin typeface="Microsoft JhengHei"/>
                <a:ea typeface="Microsoft JhengHei"/>
                <a:cs typeface="Microsoft JhengHei"/>
              </a:rPr>
              <a:t>●  </a:t>
            </a:r>
            <a:r>
              <a:rPr sz="1800" b="0">
                <a:solidFill>
                  <a:srgbClr val="2B2016"/>
                </a:solidFill>
                <a:latin typeface="Microsoft JhengHei"/>
                <a:ea typeface="Microsoft JhengHei"/>
                <a:cs typeface="Microsoft JhengHei"/>
              </a:rPr>
              <a:t>值得朝聖的場館：卡內基音樂廳、拜羅伊特節慶劇院、東京三得利音樂廳、台南奇美博物館</a:t>
            </a:r>
          </a:p>
        </p:txBody>
      </p:sp>
      <p:pic>
        <p:nvPicPr>
          <p:cNvPr id="5" name="Picture 4" descr="yf2rbcrZzDQ.jpg">
            <a:hlinkClick r:id="rId3"/>
          </p:cNvPr>
          <p:cNvPicPr>
            <a:picLocks noChangeAspect="1"/>
          </p:cNvPicPr>
          <p:nvPr/>
        </p:nvPicPr>
        <p:blipFill>
          <a:blip r:embed="rId2"/>
          <a:stretch>
            <a:fillRect/>
          </a:stretch>
        </p:blipFill>
        <p:spPr>
          <a:xfrm>
            <a:off x="6903720" y="1691639"/>
            <a:ext cx="4647895" cy="2614441"/>
          </a:xfrm>
          <a:prstGeom prst="rect">
            <a:avLst/>
          </a:prstGeom>
          <a:effectLst>
            <a:outerShdw blurRad="114300" dist="63500" dir="5400000" rotWithShape="0">
              <a:srgbClr val="2A1C10">
                <a:alpha val="34000"/>
              </a:srgbClr>
            </a:outerShdw>
          </a:effectLst>
        </p:spPr>
      </p:pic>
      <p:sp>
        <p:nvSpPr>
          <p:cNvPr id="6" name="TextBox 5"/>
          <p:cNvSpPr txBox="1"/>
          <p:nvPr/>
        </p:nvSpPr>
        <p:spPr>
          <a:xfrm>
            <a:off x="6903720" y="4370089"/>
            <a:ext cx="4647895" cy="457200"/>
          </a:xfrm>
          <a:prstGeom prst="rect">
            <a:avLst/>
          </a:prstGeom>
          <a:noFill/>
        </p:spPr>
        <p:txBody>
          <a:bodyPr wrap="square" anchor="t" lIns="0" rIns="0" tIns="0" bIns="0">
            <a:noAutofit/>
          </a:bodyPr>
          <a:lstStyle/>
          <a:p>
            <a:pPr algn="l">
              <a:lnSpc>
                <a:spcPct val="105000"/>
              </a:lnSpc>
              <a:spcBef>
                <a:spcPts val="0"/>
              </a:spcBef>
              <a:spcAft>
                <a:spcPts val="600"/>
              </a:spcAft>
            </a:pPr>
            <a:r>
              <a:rPr sz="1000" b="1">
                <a:solidFill>
                  <a:srgbClr val="AF8230"/>
                </a:solidFill>
                <a:latin typeface="Microsoft JhengHei"/>
                <a:ea typeface="Microsoft JhengHei"/>
                <a:cs typeface="Microsoft JhengHei"/>
              </a:rPr>
              <a:t>▶ YouTube　</a:t>
            </a:r>
            <a:r>
              <a:rPr sz="1200" b="1">
                <a:solidFill>
                  <a:srgbClr val="2B2016"/>
                </a:solidFill>
                <a:latin typeface="Microsoft JhengHei"/>
                <a:ea typeface="Microsoft JhengHei"/>
                <a:cs typeface="Microsoft JhengHei"/>
              </a:rPr>
              <a:t>德布西《月光 Clair de Lune》——Khatia Buniatishvili（散場墊樂）</a:t>
            </a:r>
          </a:p>
          <a:p>
            <a:pPr algn="l">
              <a:lnSpc>
                <a:spcPct val="100000"/>
              </a:lnSpc>
              <a:spcBef>
                <a:spcPts val="0"/>
              </a:spcBef>
              <a:spcAft>
                <a:spcPts val="600"/>
              </a:spcAft>
            </a:pPr>
            <a:r>
              <a:rPr sz="1000" b="0">
                <a:solidFill>
                  <a:srgbClr val="6E5A40"/>
                </a:solidFill>
                <a:latin typeface="Microsoft JhengHei"/>
                <a:ea typeface="Microsoft JhengHei"/>
                <a:cs typeface="Microsoft JhengHei"/>
              </a:rPr>
              <a:t>Q&amp;A 與散場時輕放，呼應開場　｜　建議 00:00–05:00</a:t>
            </a:r>
          </a:p>
        </p:txBody>
      </p:sp>
      <p:sp>
        <p:nvSpPr>
          <p:cNvPr id="7" name="TextBox 6"/>
          <p:cNvSpPr txBox="1"/>
          <p:nvPr/>
        </p:nvSpPr>
        <p:spPr>
          <a:xfrm>
            <a:off x="8168335" y="256032"/>
            <a:ext cx="3657600" cy="274320"/>
          </a:xfrm>
          <a:prstGeom prst="rect">
            <a:avLst/>
          </a:prstGeom>
          <a:noFill/>
        </p:spPr>
        <p:txBody>
          <a:bodyPr wrap="square" anchor="t" lIns="0" rIns="0" tIns="0" bIns="0">
            <a:noAutofit/>
          </a:bodyPr>
          <a:lstStyle/>
          <a:p>
            <a:pPr algn="r">
              <a:lnSpc>
                <a:spcPct val="115000"/>
              </a:lnSpc>
              <a:spcBef>
                <a:spcPts val="0"/>
              </a:spcBef>
              <a:spcAft>
                <a:spcPts val="600"/>
              </a:spcAft>
            </a:pPr>
            <a:r>
              <a:rPr sz="1050" b="1">
                <a:solidFill>
                  <a:srgbClr val="A99878"/>
                </a:solidFill>
                <a:latin typeface="Microsoft JhengHei"/>
                <a:ea typeface="Microsoft JhengHei"/>
                <a:cs typeface="Microsoft JhengHei"/>
              </a:rPr>
              <a:t>音樂與企業</a:t>
            </a:r>
            <a:r>
              <a:rPr sz="1050" b="0">
                <a:solidFill>
                  <a:srgbClr val="A99878"/>
                </a:solidFill>
                <a:latin typeface="Microsoft JhengHei"/>
                <a:ea typeface="Microsoft JhengHei"/>
                <a:cs typeface="Microsoft JhengHei"/>
              </a:rPr>
              <a:t>　·　從巴洛克到印象派</a:t>
            </a:r>
          </a:p>
        </p:txBody>
      </p:sp>
      <p:sp>
        <p:nvSpPr>
          <p:cNvPr id="8" name="TextBox 7"/>
          <p:cNvSpPr txBox="1"/>
          <p:nvPr/>
        </p:nvSpPr>
        <p:spPr>
          <a:xfrm>
            <a:off x="11185855" y="6437376"/>
            <a:ext cx="731520" cy="274320"/>
          </a:xfrm>
          <a:prstGeom prst="rect">
            <a:avLst/>
          </a:prstGeom>
          <a:noFill/>
        </p:spPr>
        <p:txBody>
          <a:bodyPr wrap="square" anchor="t" lIns="0" rIns="0" tIns="0" bIns="0">
            <a:noAutofit/>
          </a:bodyPr>
          <a:lstStyle/>
          <a:p>
            <a:pPr algn="r">
              <a:lnSpc>
                <a:spcPct val="115000"/>
              </a:lnSpc>
              <a:spcBef>
                <a:spcPts val="0"/>
              </a:spcBef>
              <a:spcAft>
                <a:spcPts val="600"/>
              </a:spcAft>
            </a:pPr>
            <a:r>
              <a:rPr sz="1100" b="1">
                <a:solidFill>
                  <a:srgbClr val="C3B49A"/>
                </a:solidFill>
                <a:latin typeface="Microsoft JhengHei"/>
                <a:ea typeface="Microsoft JhengHei"/>
                <a:cs typeface="Microsoft JhengHe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41A11"/>
        </a:solidFill>
        <a:effectLst/>
      </p:bgPr>
    </p:bg>
    <p:spTree>
      <p:nvGrpSpPr>
        <p:cNvPr id="1" name=""/>
        <p:cNvGrpSpPr/>
        <p:nvPr/>
      </p:nvGrpSpPr>
      <p:grpSpPr/>
      <p:pic>
        <p:nvPicPr>
          <p:cNvPr id="2" name="Picture 1" descr="495757717695521549.jpg"/>
          <p:cNvPicPr>
            <a:picLocks noChangeAspect="1"/>
          </p:cNvPicPr>
          <p:nvPr/>
        </p:nvPicPr>
        <p:blipFill>
          <a:blip r:embed="rId2"/>
          <a:srcRect t="3" b="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A1109">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19" y="2286000"/>
            <a:ext cx="10180015" cy="2743200"/>
          </a:xfrm>
          <a:prstGeom prst="rect">
            <a:avLst/>
          </a:prstGeom>
          <a:noFill/>
        </p:spPr>
        <p:txBody>
          <a:bodyPr wrap="square" anchor="ctr" lIns="0" rIns="0" tIns="0" bIns="0">
            <a:noAutofit/>
          </a:bodyPr>
          <a:lstStyle/>
          <a:p>
            <a:pPr algn="l">
              <a:lnSpc>
                <a:spcPct val="105000"/>
              </a:lnSpc>
              <a:spcBef>
                <a:spcPts val="0"/>
              </a:spcBef>
              <a:spcAft>
                <a:spcPts val="1400"/>
              </a:spcAft>
            </a:pPr>
            <a:r>
              <a:rPr sz="4400" b="1">
                <a:solidFill>
                  <a:srgbClr val="FFFFFF"/>
                </a:solidFill>
                <a:latin typeface="Microsoft JhengHei"/>
                <a:ea typeface="Microsoft JhengHei"/>
                <a:cs typeface="Microsoft JhengHei"/>
              </a:rPr>
              <a:t>謝謝：願音樂，成就你的不朽</a:t>
            </a:r>
          </a:p>
          <a:p>
            <a:pPr algn="l">
              <a:lnSpc>
                <a:spcPct val="125000"/>
              </a:lnSpc>
              <a:spcBef>
                <a:spcPts val="0"/>
              </a:spcBef>
              <a:spcAft>
                <a:spcPts val="600"/>
              </a:spcAft>
            </a:pPr>
            <a:r>
              <a:rPr sz="1700" b="0">
                <a:solidFill>
                  <a:srgbClr val="EADFC8"/>
                </a:solidFill>
                <a:latin typeface="Microsoft JhengHei"/>
                <a:ea typeface="Microsoft JhengHei"/>
                <a:cs typeface="Microsoft JhengHei"/>
              </a:rPr>
              <a:t>從梅迪奇到你——古往今來，換的都是同一件事：出錢投資美，換到錢買不到的東西</a:t>
            </a:r>
          </a:p>
          <a:p>
            <a:pPr algn="l">
              <a:lnSpc>
                <a:spcPct val="125000"/>
              </a:lnSpc>
              <a:spcBef>
                <a:spcPts val="0"/>
              </a:spcBef>
              <a:spcAft>
                <a:spcPts val="600"/>
              </a:spcAft>
            </a:pPr>
            <a:r>
              <a:rPr sz="1700" b="0">
                <a:solidFill>
                  <a:srgbClr val="EADFC8"/>
                </a:solidFill>
                <a:latin typeface="Microsoft JhengHei"/>
                <a:ea typeface="Microsoft JhengHei"/>
                <a:cs typeface="Microsoft JhengHei"/>
              </a:rPr>
              <a:t>你成就音樂，音樂也成就你——讓美與商業，互相成就</a:t>
            </a:r>
          </a:p>
          <a:p>
            <a:pPr algn="l">
              <a:lnSpc>
                <a:spcPct val="125000"/>
              </a:lnSpc>
              <a:spcBef>
                <a:spcPts val="0"/>
              </a:spcBef>
              <a:spcAft>
                <a:spcPts val="600"/>
              </a:spcAft>
            </a:pPr>
            <a:r>
              <a:rPr sz="1700" b="0">
                <a:solidFill>
                  <a:srgbClr val="EADFC8"/>
                </a:solidFill>
                <a:latin typeface="Microsoft JhengHei"/>
                <a:ea typeface="Microsoft JhengHei"/>
                <a:cs typeface="Microsoft JhengHei"/>
              </a:rPr>
              <a:t>謝謝聆聽｜講師資訊與聯絡方式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